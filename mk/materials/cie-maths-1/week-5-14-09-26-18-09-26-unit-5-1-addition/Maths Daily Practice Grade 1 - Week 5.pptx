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6" roundtripDataSignature="AMtx7mjd7+0PWxtZDsclEkWXlqXp+ujc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8"/>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8"/>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8"/>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8"/>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8"/>
          <p:cNvGrpSpPr/>
          <p:nvPr/>
        </p:nvGrpSpPr>
        <p:grpSpPr>
          <a:xfrm>
            <a:off x="255200" y="592"/>
            <a:ext cx="2250363" cy="1044300"/>
            <a:chOff x="255200" y="592"/>
            <a:chExt cx="2250363" cy="1044300"/>
          </a:xfrm>
        </p:grpSpPr>
        <p:sp>
          <p:nvSpPr>
            <p:cNvPr id="15" name="Google Shape;15;p8"/>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8"/>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8"/>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8"/>
          <p:cNvGrpSpPr/>
          <p:nvPr/>
        </p:nvGrpSpPr>
        <p:grpSpPr>
          <a:xfrm>
            <a:off x="905395" y="592"/>
            <a:ext cx="2250363" cy="1044300"/>
            <a:chOff x="905395" y="592"/>
            <a:chExt cx="2250363" cy="1044300"/>
          </a:xfrm>
        </p:grpSpPr>
        <p:sp>
          <p:nvSpPr>
            <p:cNvPr id="19" name="Google Shape;19;p8"/>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8"/>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8"/>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8"/>
          <p:cNvGrpSpPr/>
          <p:nvPr/>
        </p:nvGrpSpPr>
        <p:grpSpPr>
          <a:xfrm>
            <a:off x="7057468" y="5088"/>
            <a:ext cx="1851281" cy="752108"/>
            <a:chOff x="6917201" y="0"/>
            <a:chExt cx="2227776" cy="863400"/>
          </a:xfrm>
        </p:grpSpPr>
        <p:sp>
          <p:nvSpPr>
            <p:cNvPr id="23" name="Google Shape;23;p8"/>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8"/>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8"/>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8"/>
          <p:cNvGrpSpPr/>
          <p:nvPr/>
        </p:nvGrpSpPr>
        <p:grpSpPr>
          <a:xfrm>
            <a:off x="6553032" y="4217852"/>
            <a:ext cx="2389067" cy="925737"/>
            <a:chOff x="6917201" y="0"/>
            <a:chExt cx="2227776" cy="863400"/>
          </a:xfrm>
        </p:grpSpPr>
        <p:sp>
          <p:nvSpPr>
            <p:cNvPr id="27" name="Google Shape;27;p8"/>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8"/>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8"/>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8"/>
          <p:cNvGrpSpPr/>
          <p:nvPr/>
        </p:nvGrpSpPr>
        <p:grpSpPr>
          <a:xfrm>
            <a:off x="199149" y="4055652"/>
            <a:ext cx="2795413" cy="1083308"/>
            <a:chOff x="6917201" y="0"/>
            <a:chExt cx="2227776" cy="863400"/>
          </a:xfrm>
        </p:grpSpPr>
        <p:sp>
          <p:nvSpPr>
            <p:cNvPr id="31" name="Google Shape;31;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8"/>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8"/>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9"/>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10"/>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0"/>
          <p:cNvGrpSpPr/>
          <p:nvPr/>
        </p:nvGrpSpPr>
        <p:grpSpPr>
          <a:xfrm>
            <a:off x="5594191" y="3961115"/>
            <a:ext cx="2910144" cy="1182340"/>
            <a:chOff x="6917201" y="0"/>
            <a:chExt cx="2227776" cy="863400"/>
          </a:xfrm>
        </p:grpSpPr>
        <p:sp>
          <p:nvSpPr>
            <p:cNvPr id="47" name="Google Shape;47;p10"/>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0"/>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0"/>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0"/>
          <p:cNvGrpSpPr/>
          <p:nvPr/>
        </p:nvGrpSpPr>
        <p:grpSpPr>
          <a:xfrm>
            <a:off x="199149" y="2"/>
            <a:ext cx="2795413" cy="1083308"/>
            <a:chOff x="6917201" y="0"/>
            <a:chExt cx="2227776" cy="863400"/>
          </a:xfrm>
        </p:grpSpPr>
        <p:sp>
          <p:nvSpPr>
            <p:cNvPr id="51" name="Google Shape;51;p10"/>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0"/>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0"/>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10"/>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1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11"/>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11"/>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12"/>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2"/>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2"/>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1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3"/>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3"/>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13"/>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14"/>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4"/>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14"/>
          <p:cNvGrpSpPr/>
          <p:nvPr/>
        </p:nvGrpSpPr>
        <p:grpSpPr>
          <a:xfrm>
            <a:off x="255991" y="-118"/>
            <a:ext cx="2251347" cy="1043408"/>
            <a:chOff x="3961956" y="4383950"/>
            <a:chExt cx="1160548" cy="548700"/>
          </a:xfrm>
        </p:grpSpPr>
        <p:sp>
          <p:nvSpPr>
            <p:cNvPr id="81" name="Google Shape;81;p14"/>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4"/>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4"/>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14"/>
          <p:cNvGrpSpPr/>
          <p:nvPr/>
        </p:nvGrpSpPr>
        <p:grpSpPr>
          <a:xfrm>
            <a:off x="34934" y="4522125"/>
            <a:ext cx="1593305" cy="617072"/>
            <a:chOff x="6917201" y="0"/>
            <a:chExt cx="2227776" cy="863400"/>
          </a:xfrm>
        </p:grpSpPr>
        <p:sp>
          <p:nvSpPr>
            <p:cNvPr id="86" name="Google Shape;86;p14"/>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4"/>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4"/>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14"/>
          <p:cNvGrpSpPr/>
          <p:nvPr/>
        </p:nvGrpSpPr>
        <p:grpSpPr>
          <a:xfrm>
            <a:off x="5886353" y="1243"/>
            <a:ext cx="3257454" cy="1261514"/>
            <a:chOff x="6917201" y="0"/>
            <a:chExt cx="2227776" cy="863400"/>
          </a:xfrm>
        </p:grpSpPr>
        <p:sp>
          <p:nvSpPr>
            <p:cNvPr id="90" name="Google Shape;90;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14"/>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1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5"/>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15"/>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15"/>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6"/>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6"/>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6"/>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7"/>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17"/>
          <p:cNvGrpSpPr/>
          <p:nvPr/>
        </p:nvGrpSpPr>
        <p:grpSpPr>
          <a:xfrm>
            <a:off x="5959222" y="4119576"/>
            <a:ext cx="2520951" cy="1024165"/>
            <a:chOff x="6917201" y="0"/>
            <a:chExt cx="2227776" cy="863400"/>
          </a:xfrm>
        </p:grpSpPr>
        <p:sp>
          <p:nvSpPr>
            <p:cNvPr id="112" name="Google Shape;112;p17"/>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17"/>
          <p:cNvGrpSpPr/>
          <p:nvPr/>
        </p:nvGrpSpPr>
        <p:grpSpPr>
          <a:xfrm>
            <a:off x="199149" y="2"/>
            <a:ext cx="2795413" cy="1083308"/>
            <a:chOff x="6917201" y="0"/>
            <a:chExt cx="2227776" cy="863400"/>
          </a:xfrm>
        </p:grpSpPr>
        <p:sp>
          <p:nvSpPr>
            <p:cNvPr id="116" name="Google Shape;116;p17"/>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7"/>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17"/>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17"/>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7"/>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www.youtube.com/watch?v=N6bIJm7SvUg" TargetMode="External"/><Relationship Id="rId5"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www.youtube.com/watch?v=Mvm0y1Qr_JQ" TargetMode="External"/><Relationship Id="rId5"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ordwall.net/resource/81332580/numeracy-skills/number-line-addition"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www.youtube.com/watch?v=AWA7epLiO7k" TargetMode="External"/><Relationship Id="rId5"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91353" y="856283"/>
            <a:ext cx="5361300" cy="1448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GB"/>
              <a:t>Maths Daily Practice</a:t>
            </a:r>
            <a:endParaRPr/>
          </a:p>
          <a:p>
            <a:pPr indent="0" lvl="0" marL="0" rtl="0" algn="ctr">
              <a:lnSpc>
                <a:spcPct val="100000"/>
              </a:lnSpc>
              <a:spcBef>
                <a:spcPts val="0"/>
              </a:spcBef>
              <a:spcAft>
                <a:spcPts val="0"/>
              </a:spcAft>
              <a:buSzPts val="3800"/>
              <a:buNone/>
            </a:pPr>
            <a:r>
              <a:rPr lang="en-GB">
                <a:solidFill>
                  <a:srgbClr val="000000"/>
                </a:solidFill>
              </a:rPr>
              <a:t>Grade 1 - Week 5</a:t>
            </a:r>
            <a:r>
              <a:rPr lang="en-GB"/>
              <a:t> </a:t>
            </a:r>
            <a:endParaRPr/>
          </a:p>
        </p:txBody>
      </p:sp>
      <p:sp>
        <p:nvSpPr>
          <p:cNvPr id="129" name="Google Shape;129;p1"/>
          <p:cNvSpPr txBox="1"/>
          <p:nvPr>
            <p:ph idx="1" type="subTitle"/>
          </p:nvPr>
        </p:nvSpPr>
        <p:spPr>
          <a:xfrm>
            <a:off x="920525" y="2410625"/>
            <a:ext cx="7076700" cy="1525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88"/>
              <a:buNone/>
            </a:pPr>
            <a:r>
              <a:rPr lang="en-GB" sz="2100"/>
              <a:t>Complete this work in a notebook at home. This is not mandatory homework.</a:t>
            </a:r>
            <a:endParaRPr sz="2100"/>
          </a:p>
          <a:p>
            <a:pPr indent="0" lvl="0" marL="0" rtl="0" algn="ctr">
              <a:lnSpc>
                <a:spcPct val="100000"/>
              </a:lnSpc>
              <a:spcBef>
                <a:spcPts val="0"/>
              </a:spcBef>
              <a:spcAft>
                <a:spcPts val="0"/>
              </a:spcAft>
              <a:buSzPts val="688"/>
              <a:buNone/>
            </a:pPr>
            <a:r>
              <a:rPr lang="en-GB" sz="2100"/>
              <a:t>Therefore, it does not need bringing into school. This is optional practice to support the learning taking place in school.</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1</a:t>
            </a:r>
            <a:endParaRPr/>
          </a:p>
          <a:p>
            <a:pPr indent="0" lvl="0" marL="0" rtl="0" algn="l">
              <a:lnSpc>
                <a:spcPct val="100000"/>
              </a:lnSpc>
              <a:spcBef>
                <a:spcPts val="0"/>
              </a:spcBef>
              <a:spcAft>
                <a:spcPts val="0"/>
              </a:spcAft>
              <a:buSzPct val="111111"/>
              <a:buNone/>
            </a:pPr>
            <a:r>
              <a:rPr lang="en-GB"/>
              <a:t>Number Bonds of 20</a:t>
            </a:r>
            <a:endParaRPr/>
          </a:p>
        </p:txBody>
      </p:sp>
      <p:sp>
        <p:nvSpPr>
          <p:cNvPr id="135" name="Google Shape;135;p2"/>
          <p:cNvSpPr txBox="1"/>
          <p:nvPr>
            <p:ph idx="1" type="body"/>
          </p:nvPr>
        </p:nvSpPr>
        <p:spPr>
          <a:xfrm>
            <a:off x="301325" y="1438400"/>
            <a:ext cx="41574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GB" sz="1600"/>
              <a:t>Complete the part-whole models by writing the correct numbers in the spaces. </a:t>
            </a:r>
            <a:endParaRPr sz="1800"/>
          </a:p>
        </p:txBody>
      </p:sp>
      <p:pic>
        <p:nvPicPr>
          <p:cNvPr id="136" name="Google Shape;136;p2"/>
          <p:cNvPicPr preferRelativeResize="0"/>
          <p:nvPr/>
        </p:nvPicPr>
        <p:blipFill>
          <a:blip r:embed="rId3">
            <a:alphaModFix/>
          </a:blip>
          <a:stretch>
            <a:fillRect/>
          </a:stretch>
        </p:blipFill>
        <p:spPr>
          <a:xfrm>
            <a:off x="4700501" y="209325"/>
            <a:ext cx="4232825" cy="4729925"/>
          </a:xfrm>
          <a:prstGeom prst="rect">
            <a:avLst/>
          </a:prstGeom>
          <a:noFill/>
          <a:ln>
            <a:noFill/>
          </a:ln>
        </p:spPr>
      </p:pic>
      <p:pic>
        <p:nvPicPr>
          <p:cNvPr descr="NUMBER BONDS TO 20 QUIZ | Miss Ellis #numberbondsto20 #numberbondsto20quiz &#10;&#10;Play this Number Bonds to 20 QUIZ to test if you know all of the different number bonds to 20. You can use the 10 frames on the screen to help you work out the missing number bond to 20.&#10;&#10;Join in with this number bonds to 20 quiz by using a number fan or by writing the number down on a whiteboard.&#10;&#10;💙 NUMBER BONDS TO 20 RHYMES, click on the link below: https://youtu.be/cP5oArJ2cIs?si=su3m4fvG6xKc_5LN&#10;&#10;To watch a playlist full of educational videos please click on the link below: https://youtube.com/playlist?list=PL-yJujglakF-w2t2gO6AbkZEtndSfhhc8&#10;&#10;📚Did you know Miss Ellis has a channel dedicated to stories and poems called Love2Read with Miss Ellis?📚 &#10;Check it out by clicking on the link below:&#10;https://www.youtube.com/channel/UCCMM_LX0g4nXt0XxT0QxN3g&#10;&#10;If you enjoy Love2Learnwith Miss Ellis, you can show your support by buying her a coffee ☕️💕 https://www.buymeacoffee.com/missellis&#10;&#10;💜 Thanks for visiting! If you want your children to smile and learn, remember to SUBSCRIBE to Love2Learn with Miss Ellis and you will keep updated with all my new videos. 💜" id="137" name="Google Shape;137;p2" title="NUMBER BONDS TO 20 QUIZ | Miss Ellis #numberbondsto20">
            <a:hlinkClick r:id="rId4"/>
          </p:cNvPr>
          <p:cNvPicPr preferRelativeResize="0"/>
          <p:nvPr/>
        </p:nvPicPr>
        <p:blipFill>
          <a:blip r:embed="rId5">
            <a:alphaModFix/>
          </a:blip>
          <a:stretch>
            <a:fillRect/>
          </a:stretch>
        </p:blipFill>
        <p:spPr>
          <a:xfrm>
            <a:off x="301325" y="2344525"/>
            <a:ext cx="4352000" cy="244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2</a:t>
            </a:r>
            <a:endParaRPr/>
          </a:p>
          <a:p>
            <a:pPr indent="0" lvl="0" marL="0" rtl="0" algn="l">
              <a:lnSpc>
                <a:spcPct val="100000"/>
              </a:lnSpc>
              <a:spcBef>
                <a:spcPts val="0"/>
              </a:spcBef>
              <a:spcAft>
                <a:spcPts val="0"/>
              </a:spcAft>
              <a:buSzPct val="111111"/>
              <a:buNone/>
            </a:pPr>
            <a:r>
              <a:rPr lang="en-GB"/>
              <a:t>Missing Number</a:t>
            </a:r>
            <a:endParaRPr/>
          </a:p>
          <a:p>
            <a:pPr indent="0" lvl="0" marL="0" rtl="0" algn="l">
              <a:lnSpc>
                <a:spcPct val="100000"/>
              </a:lnSpc>
              <a:spcBef>
                <a:spcPts val="0"/>
              </a:spcBef>
              <a:spcAft>
                <a:spcPts val="0"/>
              </a:spcAft>
              <a:buSzPct val="111111"/>
              <a:buNone/>
            </a:pPr>
            <a:r>
              <a:rPr lang="en-GB"/>
              <a:t>Addition</a:t>
            </a:r>
            <a:endParaRPr/>
          </a:p>
        </p:txBody>
      </p:sp>
      <p:pic>
        <p:nvPicPr>
          <p:cNvPr id="143" name="Google Shape;143;p3"/>
          <p:cNvPicPr preferRelativeResize="0"/>
          <p:nvPr/>
        </p:nvPicPr>
        <p:blipFill>
          <a:blip r:embed="rId3">
            <a:alphaModFix/>
          </a:blip>
          <a:stretch>
            <a:fillRect/>
          </a:stretch>
        </p:blipFill>
        <p:spPr>
          <a:xfrm>
            <a:off x="4075550" y="174825"/>
            <a:ext cx="4841700" cy="4739668"/>
          </a:xfrm>
          <a:prstGeom prst="rect">
            <a:avLst/>
          </a:prstGeom>
          <a:noFill/>
          <a:ln>
            <a:noFill/>
          </a:ln>
        </p:spPr>
      </p:pic>
      <p:pic>
        <p:nvPicPr>
          <p:cNvPr descr="This movie introduces the concept of finding a missing part. Using both addition and subtraction are discussed, as well as drawing pictures to match a story problem.&#10;&#10;TEACHERS! Check out my TPT store for accompanying resources: https://www.teacherspayteachers.com/Product/1st-Grade-1OAB4-Differentiated-Missing-Addend-Activity-Part-Part-Whole-1770487&#10;&#10;TEACHERS! For accompanying resources, check out my TPT store here! &#10;https://www.teacherspayteachers.com/Store/Teaching-Without-Frills&#10;&#10;Do you enjoy my free videos and want to say &quot;thanks!&quot;? Become a patron to show your support and help create more resources in the future! https://www.patreon.com/TeachingWithoutFrills" id="144" name="Google Shape;144;p3" title="Missing Addends: Finding a Missing Part for Kids">
            <a:hlinkClick r:id="rId4"/>
          </p:cNvPr>
          <p:cNvPicPr preferRelativeResize="0"/>
          <p:nvPr/>
        </p:nvPicPr>
        <p:blipFill>
          <a:blip r:embed="rId5">
            <a:alphaModFix/>
          </a:blip>
          <a:stretch>
            <a:fillRect/>
          </a:stretch>
        </p:blipFill>
        <p:spPr>
          <a:xfrm>
            <a:off x="301325" y="2721325"/>
            <a:ext cx="3774225" cy="212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3</a:t>
            </a:r>
            <a:endParaRPr/>
          </a:p>
          <a:p>
            <a:pPr indent="0" lvl="0" marL="0" rtl="0" algn="l">
              <a:lnSpc>
                <a:spcPct val="100000"/>
              </a:lnSpc>
              <a:spcBef>
                <a:spcPts val="0"/>
              </a:spcBef>
              <a:spcAft>
                <a:spcPts val="0"/>
              </a:spcAft>
              <a:buSzPct val="111111"/>
              <a:buNone/>
            </a:pPr>
            <a:r>
              <a:rPr lang="en-GB"/>
              <a:t>Column Addition &amp;</a:t>
            </a:r>
            <a:br>
              <a:rPr lang="en-GB"/>
            </a:br>
            <a:r>
              <a:rPr lang="en-GB"/>
              <a:t>Spelling</a:t>
            </a:r>
            <a:endParaRPr/>
          </a:p>
        </p:txBody>
      </p:sp>
      <p:pic>
        <p:nvPicPr>
          <p:cNvPr id="150" name="Google Shape;150;p4"/>
          <p:cNvPicPr preferRelativeResize="0"/>
          <p:nvPr/>
        </p:nvPicPr>
        <p:blipFill>
          <a:blip r:embed="rId3">
            <a:alphaModFix/>
          </a:blip>
          <a:stretch>
            <a:fillRect/>
          </a:stretch>
        </p:blipFill>
        <p:spPr>
          <a:xfrm>
            <a:off x="5318229" y="209350"/>
            <a:ext cx="3607200" cy="47053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4</a:t>
            </a:r>
            <a:endParaRPr/>
          </a:p>
          <a:p>
            <a:pPr indent="0" lvl="0" marL="0" rtl="0" algn="l">
              <a:lnSpc>
                <a:spcPct val="100000"/>
              </a:lnSpc>
              <a:spcBef>
                <a:spcPts val="0"/>
              </a:spcBef>
              <a:spcAft>
                <a:spcPts val="0"/>
              </a:spcAft>
              <a:buSzPct val="111111"/>
              <a:buNone/>
            </a:pPr>
            <a:r>
              <a:rPr lang="en-GB"/>
              <a:t>Addition on a number line - Quiz</a:t>
            </a:r>
            <a:endParaRPr/>
          </a:p>
        </p:txBody>
      </p:sp>
      <p:sp>
        <p:nvSpPr>
          <p:cNvPr id="156" name="Google Shape;156;p5"/>
          <p:cNvSpPr txBox="1"/>
          <p:nvPr>
            <p:ph idx="1" type="body"/>
          </p:nvPr>
        </p:nvSpPr>
        <p:spPr>
          <a:xfrm>
            <a:off x="301325" y="1438400"/>
            <a:ext cx="3691500" cy="54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300"/>
              <a:buNone/>
            </a:pPr>
            <a:r>
              <a:rPr lang="en-GB" sz="1900" u="sng">
                <a:solidFill>
                  <a:schemeClr val="hlink"/>
                </a:solidFill>
                <a:latin typeface="Arial"/>
                <a:ea typeface="Arial"/>
                <a:cs typeface="Arial"/>
                <a:sym typeface="Arial"/>
                <a:hlinkClick r:id="rId3"/>
              </a:rPr>
              <a:t>Number Line Addition - Gameshow quiz</a:t>
            </a:r>
            <a:r>
              <a:rPr lang="en-GB" sz="1900">
                <a:solidFill>
                  <a:srgbClr val="000000"/>
                </a:solidFill>
                <a:latin typeface="Arial"/>
                <a:ea typeface="Arial"/>
                <a:cs typeface="Arial"/>
                <a:sym typeface="Arial"/>
              </a:rPr>
              <a:t> </a:t>
            </a:r>
            <a:endParaRPr sz="3500"/>
          </a:p>
        </p:txBody>
      </p:sp>
      <p:pic>
        <p:nvPicPr>
          <p:cNvPr id="157" name="Google Shape;157;p5"/>
          <p:cNvPicPr preferRelativeResize="0"/>
          <p:nvPr/>
        </p:nvPicPr>
        <p:blipFill>
          <a:blip r:embed="rId4">
            <a:alphaModFix/>
          </a:blip>
          <a:stretch>
            <a:fillRect/>
          </a:stretch>
        </p:blipFill>
        <p:spPr>
          <a:xfrm>
            <a:off x="3730975" y="1883550"/>
            <a:ext cx="4846376" cy="277837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5</a:t>
            </a:r>
            <a:endParaRPr/>
          </a:p>
          <a:p>
            <a:pPr indent="0" lvl="0" marL="0" rtl="0" algn="l">
              <a:lnSpc>
                <a:spcPct val="100000"/>
              </a:lnSpc>
              <a:spcBef>
                <a:spcPts val="0"/>
              </a:spcBef>
              <a:spcAft>
                <a:spcPts val="0"/>
              </a:spcAft>
              <a:buSzPct val="111111"/>
              <a:buNone/>
            </a:pPr>
            <a:r>
              <a:rPr lang="en-GB"/>
              <a:t>2-</a:t>
            </a:r>
            <a:r>
              <a:rPr lang="en-GB"/>
              <a:t>Digit</a:t>
            </a:r>
            <a:r>
              <a:rPr lang="en-GB"/>
              <a:t> Column Addition</a:t>
            </a:r>
            <a:endParaRPr/>
          </a:p>
        </p:txBody>
      </p:sp>
      <p:pic>
        <p:nvPicPr>
          <p:cNvPr id="163" name="Google Shape;163;p6"/>
          <p:cNvPicPr preferRelativeResize="0"/>
          <p:nvPr/>
        </p:nvPicPr>
        <p:blipFill>
          <a:blip r:embed="rId3">
            <a:alphaModFix/>
          </a:blip>
          <a:stretch>
            <a:fillRect/>
          </a:stretch>
        </p:blipFill>
        <p:spPr>
          <a:xfrm>
            <a:off x="5321846" y="209325"/>
            <a:ext cx="3613850" cy="4746350"/>
          </a:xfrm>
          <a:prstGeom prst="rect">
            <a:avLst/>
          </a:prstGeom>
          <a:noFill/>
          <a:ln>
            <a:noFill/>
          </a:ln>
        </p:spPr>
      </p:pic>
      <p:pic>
        <p:nvPicPr>
          <p:cNvPr descr="CREDITS&#10;Animation &amp; Design: Corne Hartveld&#10;Narration: Tatum Rijper&#10;Script: Sasha-LeeHeekes&#10;             Tatum Rijper&#10;&#10;#counting #maths #kindergarten #addition #mathematics #education #master #numbers #kidsvideo #kidslearning #kids  #standard  #placevalue &#10;&#10;SUPPORT US ON PATREON&#10;https://www.patreon.com/fuseschool&#10;&#10;SUBSCRIBE to the FuseSchool Kids YouTube channel for many more educational videos. Our teachers and animators come together to make fun &amp; easy-to-understand videos in Maths &amp; Science.&#10;&#10;VISIT us at www.fuseschool.org, where all of our videos are carefully organised into topics and specific orders, and to see what else we have on offer. Comment, like and share with other learners. You can both ask and answer questions, and teachers will get back to you.&#10;&#10;These videos can be used in a flipped classroom model or as a revision aid. &#10;&#10;Instagram: https://www.instagram.com/fuseschool/&#10;Facebook: https://www.facebook.com/fuseschool/&#10;Twitter: https://twitter.com/fuseSchool&#10;&#10;Access a deeper Learning Experience in the FuseSchool platform and app: www.fuseschool.org&#10;Follow us: http://www.youtube.com/fuseschool&#10;Befriend us: http://www.facebook.com/fuseschool&#10;&#10;If you are interested in using our video, please contact us: info@fuseschool.org" id="164" name="Google Shape;164;p6" title="Addition | Column Method | Numbers | Y2 Maths | FuseSchool Kids">
            <a:hlinkClick r:id="rId4"/>
          </p:cNvPr>
          <p:cNvPicPr preferRelativeResize="0"/>
          <p:nvPr/>
        </p:nvPicPr>
        <p:blipFill>
          <a:blip r:embed="rId5">
            <a:alphaModFix/>
          </a:blip>
          <a:stretch>
            <a:fillRect/>
          </a:stretch>
        </p:blipFill>
        <p:spPr>
          <a:xfrm>
            <a:off x="301325" y="2013675"/>
            <a:ext cx="4933900" cy="2775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