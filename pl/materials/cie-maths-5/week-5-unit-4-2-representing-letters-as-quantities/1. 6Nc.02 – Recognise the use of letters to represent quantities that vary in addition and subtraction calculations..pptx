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4" r:id="rId3"/>
    <p:sldId id="258" r:id="rId4"/>
    <p:sldId id="259" r:id="rId5"/>
    <p:sldId id="260" r:id="rId6"/>
    <p:sldId id="261" r:id="rId7"/>
    <p:sldId id="262" r:id="rId8"/>
    <p:sldId id="275" r:id="rId9"/>
    <p:sldId id="263" r:id="rId10"/>
    <p:sldId id="272" r:id="rId11"/>
    <p:sldId id="273" r:id="rId12"/>
    <p:sldId id="264" r:id="rId13"/>
    <p:sldId id="265" r:id="rId14"/>
    <p:sldId id="266" r:id="rId15"/>
    <p:sldId id="267" r:id="rId16"/>
    <p:sldId id="268" r:id="rId17"/>
    <p:sldId id="269" r:id="rId18"/>
    <p:sldId id="271"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3534D84-77BE-4001-9AFB-0539CB9D3115}"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85736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534D84-77BE-4001-9AFB-0539CB9D3115}"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98181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34D84-77BE-4001-9AFB-0539CB9D3115}"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812332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534D84-77BE-4001-9AFB-0539CB9D3115}"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091069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534D84-77BE-4001-9AFB-0539CB9D3115}"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3078445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534D84-77BE-4001-9AFB-0539CB9D3115}"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2385542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534D84-77BE-4001-9AFB-0539CB9D3115}"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1056768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534D84-77BE-4001-9AFB-0539CB9D3115}"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819260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534D84-77BE-4001-9AFB-0539CB9D3115}"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2098301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534D84-77BE-4001-9AFB-0539CB9D3115}"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4232489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534D84-77BE-4001-9AFB-0539CB9D3115}"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B4908-E94C-4A31-B380-2B0A0880112C}" type="slidenum">
              <a:rPr lang="en-US" smtClean="0"/>
              <a:t>‹#›</a:t>
            </a:fld>
            <a:endParaRPr lang="en-US"/>
          </a:p>
        </p:txBody>
      </p:sp>
    </p:spTree>
    <p:extLst>
      <p:ext uri="{BB962C8B-B14F-4D97-AF65-F5344CB8AC3E}">
        <p14:creationId xmlns:p14="http://schemas.microsoft.com/office/powerpoint/2010/main" val="279658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534D84-77BE-4001-9AFB-0539CB9D3115}" type="datetimeFigureOut">
              <a:rPr lang="en-US" smtClean="0"/>
              <a:t>9/16/2026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8B4908-E94C-4A31-B380-2B0A0880112C}" type="slidenum">
              <a:rPr lang="en-US" smtClean="0"/>
              <a:t>‹#›</a:t>
            </a:fld>
            <a:endParaRPr lang="en-US"/>
          </a:p>
        </p:txBody>
      </p:sp>
    </p:spTree>
    <p:extLst>
      <p:ext uri="{BB962C8B-B14F-4D97-AF65-F5344CB8AC3E}">
        <p14:creationId xmlns:p14="http://schemas.microsoft.com/office/powerpoint/2010/main" val="4898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7.png"/><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3.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microsoft.com/office/2007/relationships/hdphoto" Target="../media/hdphoto8.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65230" y="-98475"/>
            <a:ext cx="5462954" cy="1667095"/>
          </a:xfrm>
        </p:spPr>
        <p:txBody>
          <a:bodyPr>
            <a:normAutofit/>
          </a:bodyPr>
          <a:lstStyle/>
          <a:p>
            <a:r>
              <a:rPr lang="en-US" sz="8000" dirty="0" err="1">
                <a:latin typeface="Comic Sans MS" panose="030F0702030302020204" pitchFamily="66" charset="0"/>
              </a:rPr>
              <a:t>Maths</a:t>
            </a:r>
            <a:r>
              <a:rPr lang="en-US" sz="8000" dirty="0">
                <a:latin typeface="Comic Sans MS" panose="030F0702030302020204" pitchFamily="66" charset="0"/>
              </a:rPr>
              <a:t> </a:t>
            </a:r>
          </a:p>
        </p:txBody>
      </p:sp>
      <p:sp>
        <p:nvSpPr>
          <p:cNvPr id="3" name="Subtitle 2"/>
          <p:cNvSpPr>
            <a:spLocks noGrp="1"/>
          </p:cNvSpPr>
          <p:nvPr>
            <p:ph type="subTitle" idx="1"/>
          </p:nvPr>
        </p:nvSpPr>
        <p:spPr>
          <a:xfrm>
            <a:off x="174172" y="1909814"/>
            <a:ext cx="12017828" cy="4061472"/>
          </a:xfrm>
        </p:spPr>
        <p:txBody>
          <a:bodyPr>
            <a:normAutofit lnSpcReduction="10000"/>
          </a:bodyPr>
          <a:lstStyle/>
          <a:p>
            <a:pPr algn="l"/>
            <a:r>
              <a:rPr lang="en-US" sz="4400" b="1" dirty="0">
                <a:latin typeface="Comic Sans MS" panose="030F0702030302020204" pitchFamily="66" charset="0"/>
              </a:rPr>
              <a:t>17.09.2026</a:t>
            </a:r>
          </a:p>
          <a:p>
            <a:pPr algn="l"/>
            <a:endParaRPr lang="en-US" sz="4400" b="1" dirty="0">
              <a:latin typeface="Comic Sans MS" panose="030F0702030302020204" pitchFamily="66" charset="0"/>
            </a:endParaRPr>
          </a:p>
          <a:p>
            <a:pPr algn="l"/>
            <a:r>
              <a:rPr lang="en-US" sz="4400" b="1" dirty="0">
                <a:latin typeface="Comic Sans MS" panose="030F0702030302020204" pitchFamily="66" charset="0"/>
              </a:rPr>
              <a:t>WALT:</a:t>
            </a:r>
          </a:p>
          <a:p>
            <a:pPr algn="l"/>
            <a:r>
              <a:rPr lang="en-US" sz="4400" b="1" dirty="0">
                <a:latin typeface="Comic Sans MS" panose="030F0702030302020204" pitchFamily="66" charset="0"/>
              </a:rPr>
              <a:t>6Nc.02 – </a:t>
            </a:r>
            <a:r>
              <a:rPr lang="en-US" sz="4400" dirty="0">
                <a:latin typeface="Comic Sans MS" panose="030F0702030302020204" pitchFamily="66" charset="0"/>
              </a:rPr>
              <a:t>Recognise the use of letters to represent quantities that vary in addition and subtraction calculations.</a:t>
            </a:r>
          </a:p>
        </p:txBody>
      </p:sp>
      <p:sp>
        <p:nvSpPr>
          <p:cNvPr id="5" name="TextBox 4"/>
          <p:cNvSpPr txBox="1"/>
          <p:nvPr/>
        </p:nvSpPr>
        <p:spPr>
          <a:xfrm>
            <a:off x="9135292" y="552174"/>
            <a:ext cx="2756262" cy="523220"/>
          </a:xfrm>
          <a:prstGeom prst="rect">
            <a:avLst/>
          </a:prstGeom>
          <a:noFill/>
        </p:spPr>
        <p:txBody>
          <a:bodyPr wrap="square" rtlCol="0">
            <a:spAutoFit/>
          </a:bodyPr>
          <a:lstStyle/>
          <a:p>
            <a:r>
              <a:rPr lang="en-US" sz="1400" b="1" dirty="0">
                <a:solidFill>
                  <a:srgbClr val="FF0000"/>
                </a:solidFill>
                <a:latin typeface="Comic Sans MS" panose="030F0702030302020204" pitchFamily="66" charset="0"/>
              </a:rPr>
              <a:t>Unit 4 – Addition and Subtraction</a:t>
            </a:r>
          </a:p>
        </p:txBody>
      </p:sp>
    </p:spTree>
    <p:extLst>
      <p:ext uri="{BB962C8B-B14F-4D97-AF65-F5344CB8AC3E}">
        <p14:creationId xmlns:p14="http://schemas.microsoft.com/office/powerpoint/2010/main" val="3780023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65230" y="-98475"/>
            <a:ext cx="5462954" cy="1667095"/>
          </a:xfrm>
        </p:spPr>
        <p:txBody>
          <a:bodyPr>
            <a:normAutofit/>
          </a:bodyPr>
          <a:lstStyle/>
          <a:p>
            <a:r>
              <a:rPr lang="en-US" sz="8000" dirty="0" err="1">
                <a:latin typeface="Comic Sans MS" panose="030F0702030302020204" pitchFamily="66" charset="0"/>
              </a:rPr>
              <a:t>Maths</a:t>
            </a:r>
            <a:r>
              <a:rPr lang="en-US" sz="8000" dirty="0">
                <a:latin typeface="Comic Sans MS" panose="030F0702030302020204" pitchFamily="66" charset="0"/>
              </a:rPr>
              <a:t> </a:t>
            </a:r>
          </a:p>
        </p:txBody>
      </p:sp>
      <p:sp>
        <p:nvSpPr>
          <p:cNvPr id="5" name="TextBox 4"/>
          <p:cNvSpPr txBox="1"/>
          <p:nvPr/>
        </p:nvSpPr>
        <p:spPr>
          <a:xfrm>
            <a:off x="9135292" y="552174"/>
            <a:ext cx="2756262" cy="523220"/>
          </a:xfrm>
          <a:prstGeom prst="rect">
            <a:avLst/>
          </a:prstGeom>
          <a:noFill/>
        </p:spPr>
        <p:txBody>
          <a:bodyPr wrap="square" rtlCol="0">
            <a:spAutoFit/>
          </a:bodyPr>
          <a:lstStyle/>
          <a:p>
            <a:r>
              <a:rPr lang="en-US" sz="1400" b="1" dirty="0">
                <a:solidFill>
                  <a:srgbClr val="FF0000"/>
                </a:solidFill>
                <a:latin typeface="Comic Sans MS" panose="030F0702030302020204" pitchFamily="66" charset="0"/>
              </a:rPr>
              <a:t>Unit 4 – Addition and Subtraction</a:t>
            </a:r>
          </a:p>
        </p:txBody>
      </p:sp>
      <p:sp>
        <p:nvSpPr>
          <p:cNvPr id="6" name="Subtitle 5">
            <a:extLst>
              <a:ext uri="{FF2B5EF4-FFF2-40B4-BE49-F238E27FC236}">
                <a16:creationId xmlns:a16="http://schemas.microsoft.com/office/drawing/2014/main" id="{4F324B51-FA1E-4EEA-BCE6-9721F5A1B808}"/>
              </a:ext>
            </a:extLst>
          </p:cNvPr>
          <p:cNvSpPr>
            <a:spLocks noGrp="1"/>
          </p:cNvSpPr>
          <p:nvPr>
            <p:ph type="subTitle" idx="1"/>
          </p:nvPr>
        </p:nvSpPr>
        <p:spPr/>
        <p:txBody>
          <a:bodyPr/>
          <a:lstStyle/>
          <a:p>
            <a:endParaRPr lang="en-US"/>
          </a:p>
        </p:txBody>
      </p:sp>
      <p:sp>
        <p:nvSpPr>
          <p:cNvPr id="7" name="Content Placeholder 2">
            <a:extLst>
              <a:ext uri="{FF2B5EF4-FFF2-40B4-BE49-F238E27FC236}">
                <a16:creationId xmlns:a16="http://schemas.microsoft.com/office/drawing/2014/main" id="{D5BCDAF2-55A7-41F6-95C2-E67CCF3111B7}"/>
              </a:ext>
            </a:extLst>
          </p:cNvPr>
          <p:cNvSpPr txBox="1">
            <a:spLocks/>
          </p:cNvSpPr>
          <p:nvPr/>
        </p:nvSpPr>
        <p:spPr>
          <a:xfrm>
            <a:off x="736600" y="2264687"/>
            <a:ext cx="10515600" cy="435133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800" b="1" dirty="0" err="1">
                <a:latin typeface="Comic Sans MS" panose="030F0702030302020204" pitchFamily="66" charset="0"/>
              </a:rPr>
              <a:t>Maths</a:t>
            </a:r>
            <a:r>
              <a:rPr lang="en-US" sz="4800" b="1" dirty="0">
                <a:latin typeface="Comic Sans MS" panose="030F0702030302020204" pitchFamily="66" charset="0"/>
              </a:rPr>
              <a:t> - </a:t>
            </a:r>
            <a:r>
              <a:rPr lang="en-US" sz="4400" b="1" dirty="0">
                <a:latin typeface="Comic Sans MS" panose="030F0702030302020204" pitchFamily="66" charset="0"/>
              </a:rPr>
              <a:t>Workbook – Pages 50 – 54</a:t>
            </a:r>
          </a:p>
          <a:p>
            <a:endParaRPr lang="en-US" sz="4400" b="1" dirty="0">
              <a:latin typeface="Comic Sans MS" panose="030F0702030302020204" pitchFamily="66" charset="0"/>
            </a:endParaRPr>
          </a:p>
          <a:p>
            <a:endParaRPr lang="en-US" sz="4400" b="1" dirty="0">
              <a:latin typeface="Comic Sans MS" panose="030F0702030302020204" pitchFamily="66" charset="0"/>
            </a:endParaRPr>
          </a:p>
          <a:p>
            <a:r>
              <a:rPr lang="en-US" sz="4400" b="1" dirty="0">
                <a:latin typeface="Comic Sans MS" panose="030F0702030302020204" pitchFamily="66" charset="0"/>
              </a:rPr>
              <a:t>ESL – Workbook pages 20 – 23</a:t>
            </a:r>
          </a:p>
          <a:p>
            <a:endParaRPr lang="en-US" sz="4400" b="1" dirty="0">
              <a:latin typeface="Comic Sans MS" panose="030F0702030302020204" pitchFamily="66" charset="0"/>
            </a:endParaRPr>
          </a:p>
          <a:p>
            <a:r>
              <a:rPr lang="en-US" sz="4400" b="1" dirty="0">
                <a:latin typeface="Comic Sans MS" panose="030F0702030302020204" pitchFamily="66" charset="0"/>
              </a:rPr>
              <a:t>Due - Thursday 24</a:t>
            </a:r>
            <a:r>
              <a:rPr lang="en-US" sz="4400" b="1" baseline="30000" dirty="0">
                <a:latin typeface="Comic Sans MS" panose="030F0702030302020204" pitchFamily="66" charset="0"/>
              </a:rPr>
              <a:t>th</a:t>
            </a:r>
            <a:r>
              <a:rPr lang="en-US" sz="4400" b="1" dirty="0">
                <a:latin typeface="Comic Sans MS" panose="030F0702030302020204" pitchFamily="66" charset="0"/>
              </a:rPr>
              <a:t> September</a:t>
            </a:r>
          </a:p>
          <a:p>
            <a:endParaRPr lang="en-US" sz="4400" b="1" dirty="0">
              <a:latin typeface="Comic Sans MS" panose="030F0702030302020204" pitchFamily="66" charset="0"/>
            </a:endParaRPr>
          </a:p>
        </p:txBody>
      </p:sp>
    </p:spTree>
    <p:extLst>
      <p:ext uri="{BB962C8B-B14F-4D97-AF65-F5344CB8AC3E}">
        <p14:creationId xmlns:p14="http://schemas.microsoft.com/office/powerpoint/2010/main" val="1552412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52697" y="3526971"/>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omic Sans MS" panose="030F0702030302020204" pitchFamily="66" charset="0"/>
              </a:rPr>
              <a:t>I can find the value of letters in number sentences.</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Comic Sans MS" panose="030F0702030302020204" pitchFamily="66" charset="0"/>
            </a:endParaRPr>
          </a:p>
          <a:p>
            <a:pPr algn="ctr"/>
            <a:r>
              <a:rPr lang="en-US" sz="2400" b="1" dirty="0">
                <a:solidFill>
                  <a:schemeClr val="tx1"/>
                </a:solidFill>
                <a:latin typeface="Comic Sans MS" panose="030F0702030302020204" pitchFamily="66" charset="0"/>
              </a:rPr>
              <a:t>I can complete tables using letters that are represented by numbers.</a:t>
            </a:r>
          </a:p>
          <a:p>
            <a:pPr algn="ctr"/>
            <a:endParaRPr lang="en-US" sz="2400" b="1" dirty="0">
              <a:solidFill>
                <a:schemeClr val="tx1"/>
              </a:solidFill>
              <a:latin typeface="Comic Sans MS" panose="030F0702030302020204" pitchFamily="66" charset="0"/>
            </a:endParaRP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 can write number sentences linking numbers and letters</a:t>
            </a:r>
            <a:r>
              <a:rPr lang="en-US" sz="2800" b="1" dirty="0">
                <a:solidFill>
                  <a:schemeClr val="tx1"/>
                </a:solidFill>
                <a:latin typeface="Comic Sans MS" panose="030F0702030302020204" pitchFamily="66" charset="0"/>
              </a:rPr>
              <a:t>.</a:t>
            </a:r>
          </a:p>
        </p:txBody>
      </p:sp>
      <p:sp>
        <p:nvSpPr>
          <p:cNvPr id="12" name="Subtitle 2"/>
          <p:cNvSpPr txBox="1">
            <a:spLocks/>
          </p:cNvSpPr>
          <p:nvPr/>
        </p:nvSpPr>
        <p:spPr>
          <a:xfrm>
            <a:off x="426150" y="205010"/>
            <a:ext cx="11494242" cy="1217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9" name="Picture 8">
            <a:extLst>
              <a:ext uri="{FF2B5EF4-FFF2-40B4-BE49-F238E27FC236}">
                <a16:creationId xmlns:a16="http://schemas.microsoft.com/office/drawing/2014/main" id="{A6E318A4-1FEB-451C-AE02-F770775F7CB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320662" y="1210636"/>
            <a:ext cx="1102890" cy="2123320"/>
          </a:xfrm>
          <a:prstGeom prst="rect">
            <a:avLst/>
          </a:prstGeom>
        </p:spPr>
      </p:pic>
      <p:pic>
        <p:nvPicPr>
          <p:cNvPr id="10" name="Picture 9">
            <a:extLst>
              <a:ext uri="{FF2B5EF4-FFF2-40B4-BE49-F238E27FC236}">
                <a16:creationId xmlns:a16="http://schemas.microsoft.com/office/drawing/2014/main" id="{FEE7A255-2B54-4F56-BAF9-93D99282894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544555" y="950957"/>
            <a:ext cx="1102890" cy="2305290"/>
          </a:xfrm>
          <a:prstGeom prst="rect">
            <a:avLst/>
          </a:prstGeom>
        </p:spPr>
      </p:pic>
      <p:pic>
        <p:nvPicPr>
          <p:cNvPr id="11" name="Picture 10">
            <a:extLst>
              <a:ext uri="{FF2B5EF4-FFF2-40B4-BE49-F238E27FC236}">
                <a16:creationId xmlns:a16="http://schemas.microsoft.com/office/drawing/2014/main" id="{724EC168-7900-4547-9C93-2FF4E903070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1102890" cy="2496464"/>
          </a:xfrm>
          <a:prstGeom prst="rect">
            <a:avLst/>
          </a:prstGeom>
        </p:spPr>
      </p:pic>
    </p:spTree>
    <p:extLst>
      <p:ext uri="{BB962C8B-B14F-4D97-AF65-F5344CB8AC3E}">
        <p14:creationId xmlns:p14="http://schemas.microsoft.com/office/powerpoint/2010/main" val="428427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p:cNvSpPr txBox="1">
            <a:spLocks/>
          </p:cNvSpPr>
          <p:nvPr/>
        </p:nvSpPr>
        <p:spPr>
          <a:xfrm>
            <a:off x="271608" y="936831"/>
            <a:ext cx="11509612" cy="9254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omic Sans MS" panose="030F0702030302020204" pitchFamily="66" charset="0"/>
              </a:rPr>
              <a:t>Retrieval Practice</a:t>
            </a:r>
          </a:p>
          <a:p>
            <a:pPr marL="0" indent="0">
              <a:buNone/>
            </a:pPr>
            <a:endParaRPr lang="en-US" sz="2400" dirty="0">
              <a:latin typeface="Comic Sans MS" panose="030F0702030302020204" pitchFamily="66" charset="0"/>
            </a:endParaRPr>
          </a:p>
        </p:txBody>
      </p:sp>
      <p:sp>
        <p:nvSpPr>
          <p:cNvPr id="7" name="Subtitle 2"/>
          <p:cNvSpPr txBox="1">
            <a:spLocks/>
          </p:cNvSpPr>
          <p:nvPr/>
        </p:nvSpPr>
        <p:spPr>
          <a:xfrm>
            <a:off x="426150" y="205010"/>
            <a:ext cx="11494242" cy="7960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latin typeface="Comic Sans MS" panose="030F0702030302020204" pitchFamily="66" charset="0"/>
              </a:rPr>
              <a:t>WALT: </a:t>
            </a:r>
            <a:r>
              <a:rPr lang="en-US" sz="18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8" name="Picture 7">
            <a:extLst>
              <a:ext uri="{FF2B5EF4-FFF2-40B4-BE49-F238E27FC236}">
                <a16:creationId xmlns:a16="http://schemas.microsoft.com/office/drawing/2014/main" id="{450D1CE9-87D0-4446-8E14-9082A67A30EF}"/>
              </a:ext>
            </a:extLst>
          </p:cNvPr>
          <p:cNvPicPr>
            <a:picLocks noChangeAspect="1"/>
          </p:cNvPicPr>
          <p:nvPr/>
        </p:nvPicPr>
        <p:blipFill>
          <a:blip r:embed="rId2"/>
          <a:stretch>
            <a:fillRect/>
          </a:stretch>
        </p:blipFill>
        <p:spPr>
          <a:xfrm>
            <a:off x="1067188" y="1399571"/>
            <a:ext cx="10519637" cy="5311896"/>
          </a:xfrm>
          <a:prstGeom prst="rect">
            <a:avLst/>
          </a:prstGeom>
        </p:spPr>
      </p:pic>
    </p:spTree>
    <p:extLst>
      <p:ext uri="{BB962C8B-B14F-4D97-AF65-F5344CB8AC3E}">
        <p14:creationId xmlns:p14="http://schemas.microsoft.com/office/powerpoint/2010/main" val="3201274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276" y="487118"/>
            <a:ext cx="10515600" cy="1371836"/>
          </a:xfrm>
        </p:spPr>
        <p:txBody>
          <a:bodyPr>
            <a:normAutofit/>
          </a:bodyPr>
          <a:lstStyle/>
          <a:p>
            <a:r>
              <a:rPr lang="en-US" sz="3200" b="1" dirty="0">
                <a:latin typeface="Comic Sans MS" panose="030F0702030302020204" pitchFamily="66" charset="0"/>
              </a:rPr>
              <a:t>Starter</a:t>
            </a:r>
            <a:r>
              <a:rPr lang="en-US" sz="3200" dirty="0">
                <a:latin typeface="Comic Sans MS" panose="030F0702030302020204" pitchFamily="66" charset="0"/>
              </a:rPr>
              <a:t> – Solve this puzzle</a:t>
            </a:r>
          </a:p>
        </p:txBody>
      </p:sp>
      <p:pic>
        <p:nvPicPr>
          <p:cNvPr id="5" name="Picture 4"/>
          <p:cNvPicPr>
            <a:picLocks noChangeAspect="1"/>
          </p:cNvPicPr>
          <p:nvPr/>
        </p:nvPicPr>
        <p:blipFill>
          <a:blip r:embed="rId2"/>
          <a:stretch>
            <a:fillRect/>
          </a:stretch>
        </p:blipFill>
        <p:spPr>
          <a:xfrm>
            <a:off x="644750" y="1438729"/>
            <a:ext cx="6655935" cy="5152982"/>
          </a:xfrm>
          <a:prstGeom prst="rect">
            <a:avLst/>
          </a:prstGeom>
        </p:spPr>
      </p:pic>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backgroundRemoval t="0" b="95385" l="9231" r="100000"/>
                    </a14:imgEffect>
                  </a14:imgLayer>
                </a14:imgProps>
              </a:ext>
            </a:extLst>
          </a:blip>
          <a:stretch>
            <a:fillRect/>
          </a:stretch>
        </p:blipFill>
        <p:spPr>
          <a:xfrm>
            <a:off x="7905523" y="1703625"/>
            <a:ext cx="991734" cy="991734"/>
          </a:xfrm>
          <a:prstGeom prst="rect">
            <a:avLst/>
          </a:prstGeom>
        </p:spPr>
      </p:pic>
      <p:sp>
        <p:nvSpPr>
          <p:cNvPr id="8" name="TextBox 7"/>
          <p:cNvSpPr txBox="1"/>
          <p:nvPr/>
        </p:nvSpPr>
        <p:spPr>
          <a:xfrm>
            <a:off x="8972323" y="1910212"/>
            <a:ext cx="1059543" cy="584775"/>
          </a:xfrm>
          <a:prstGeom prst="rect">
            <a:avLst/>
          </a:prstGeom>
          <a:noFill/>
        </p:spPr>
        <p:txBody>
          <a:bodyPr wrap="square" rtlCol="0">
            <a:spAutoFit/>
          </a:bodyPr>
          <a:lstStyle/>
          <a:p>
            <a:r>
              <a:rPr lang="en-US" sz="3200" dirty="0">
                <a:latin typeface="Comic Sans MS" panose="030F0702030302020204" pitchFamily="66" charset="0"/>
              </a:rPr>
              <a:t>=</a:t>
            </a:r>
          </a:p>
        </p:txBody>
      </p:sp>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0" b="100000" l="0" r="100000">
                        <a14:foregroundMark x1="10606" y1="11940" x2="9091" y2="82090"/>
                      </a14:backgroundRemoval>
                    </a14:imgEffect>
                  </a14:imgLayer>
                </a14:imgProps>
              </a:ext>
            </a:extLst>
          </a:blip>
          <a:stretch>
            <a:fillRect/>
          </a:stretch>
        </p:blipFill>
        <p:spPr>
          <a:xfrm>
            <a:off x="7932284" y="3043778"/>
            <a:ext cx="1040039" cy="1055797"/>
          </a:xfrm>
          <a:prstGeom prst="rect">
            <a:avLst/>
          </a:prstGeom>
        </p:spPr>
      </p:pic>
      <p:sp>
        <p:nvSpPr>
          <p:cNvPr id="10" name="TextBox 9"/>
          <p:cNvSpPr txBox="1"/>
          <p:nvPr/>
        </p:nvSpPr>
        <p:spPr>
          <a:xfrm>
            <a:off x="9074150" y="3248510"/>
            <a:ext cx="1059543" cy="584775"/>
          </a:xfrm>
          <a:prstGeom prst="rect">
            <a:avLst/>
          </a:prstGeom>
          <a:noFill/>
        </p:spPr>
        <p:txBody>
          <a:bodyPr wrap="square" rtlCol="0">
            <a:spAutoFit/>
          </a:bodyPr>
          <a:lstStyle/>
          <a:p>
            <a:r>
              <a:rPr lang="en-US" sz="3200" dirty="0">
                <a:latin typeface="Comic Sans MS" panose="030F0702030302020204" pitchFamily="66" charset="0"/>
              </a:rPr>
              <a:t>=</a:t>
            </a:r>
          </a:p>
        </p:txBody>
      </p:sp>
      <p:sp>
        <p:nvSpPr>
          <p:cNvPr id="11" name="TextBox 10"/>
          <p:cNvSpPr txBox="1"/>
          <p:nvPr/>
        </p:nvSpPr>
        <p:spPr>
          <a:xfrm>
            <a:off x="9390856" y="1715787"/>
            <a:ext cx="128202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15</a:t>
            </a:r>
          </a:p>
        </p:txBody>
      </p:sp>
      <p:pic>
        <p:nvPicPr>
          <p:cNvPr id="12" name="Picture 11"/>
          <p:cNvPicPr>
            <a:picLocks noChangeAspect="1"/>
          </p:cNvPicPr>
          <p:nvPr/>
        </p:nvPicPr>
        <p:blipFill>
          <a:blip r:embed="rId7">
            <a:extLst>
              <a:ext uri="{BEBA8EAE-BF5A-486C-A8C5-ECC9F3942E4B}">
                <a14:imgProps xmlns:a14="http://schemas.microsoft.com/office/drawing/2010/main">
                  <a14:imgLayer r:embed="rId8">
                    <a14:imgEffect>
                      <a14:backgroundRemoval t="1538" b="100000" l="0" r="100000"/>
                    </a14:imgEffect>
                  </a14:imgLayer>
                </a14:imgProps>
              </a:ext>
            </a:extLst>
          </a:blip>
          <a:stretch>
            <a:fillRect/>
          </a:stretch>
        </p:blipFill>
        <p:spPr>
          <a:xfrm>
            <a:off x="8054574" y="4708970"/>
            <a:ext cx="917749" cy="994228"/>
          </a:xfrm>
          <a:prstGeom prst="rect">
            <a:avLst/>
          </a:prstGeom>
        </p:spPr>
      </p:pic>
      <p:sp>
        <p:nvSpPr>
          <p:cNvPr id="13" name="TextBox 12"/>
          <p:cNvSpPr txBox="1"/>
          <p:nvPr/>
        </p:nvSpPr>
        <p:spPr>
          <a:xfrm>
            <a:off x="9074150" y="4882918"/>
            <a:ext cx="1059543" cy="584775"/>
          </a:xfrm>
          <a:prstGeom prst="rect">
            <a:avLst/>
          </a:prstGeom>
          <a:noFill/>
        </p:spPr>
        <p:txBody>
          <a:bodyPr wrap="square" rtlCol="0">
            <a:spAutoFit/>
          </a:bodyPr>
          <a:lstStyle/>
          <a:p>
            <a:r>
              <a:rPr lang="en-US" sz="3200" dirty="0">
                <a:latin typeface="Comic Sans MS" panose="030F0702030302020204" pitchFamily="66" charset="0"/>
              </a:rPr>
              <a:t>=</a:t>
            </a:r>
          </a:p>
        </p:txBody>
      </p:sp>
      <p:sp>
        <p:nvSpPr>
          <p:cNvPr id="14" name="TextBox 13"/>
          <p:cNvSpPr txBox="1"/>
          <p:nvPr/>
        </p:nvSpPr>
        <p:spPr>
          <a:xfrm>
            <a:off x="1603940" y="1910211"/>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5" name="TextBox 14"/>
          <p:cNvSpPr txBox="1"/>
          <p:nvPr/>
        </p:nvSpPr>
        <p:spPr>
          <a:xfrm>
            <a:off x="2753243" y="1925918"/>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6" name="TextBox 15"/>
          <p:cNvSpPr txBox="1"/>
          <p:nvPr/>
        </p:nvSpPr>
        <p:spPr>
          <a:xfrm>
            <a:off x="3843005" y="1914130"/>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8" name="TextBox 17"/>
          <p:cNvSpPr txBox="1"/>
          <p:nvPr/>
        </p:nvSpPr>
        <p:spPr>
          <a:xfrm>
            <a:off x="2753243" y="3043778"/>
            <a:ext cx="1342459" cy="707886"/>
          </a:xfrm>
          <a:prstGeom prst="rect">
            <a:avLst/>
          </a:prstGeom>
          <a:noFill/>
        </p:spPr>
        <p:txBody>
          <a:bodyPr wrap="square" rtlCol="0">
            <a:spAutoFit/>
          </a:bodyPr>
          <a:lstStyle/>
          <a:p>
            <a:r>
              <a:rPr lang="en-US" sz="4000" b="1" dirty="0">
                <a:latin typeface="Comic Sans MS" panose="030F0702030302020204" pitchFamily="66" charset="0"/>
              </a:rPr>
              <a:t>15</a:t>
            </a:r>
          </a:p>
        </p:txBody>
      </p:sp>
      <p:sp>
        <p:nvSpPr>
          <p:cNvPr id="19" name="TextBox 18"/>
          <p:cNvSpPr txBox="1"/>
          <p:nvPr/>
        </p:nvSpPr>
        <p:spPr>
          <a:xfrm>
            <a:off x="9492683" y="3065934"/>
            <a:ext cx="128202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6</a:t>
            </a:r>
          </a:p>
        </p:txBody>
      </p:sp>
      <p:sp>
        <p:nvSpPr>
          <p:cNvPr id="20" name="TextBox 19"/>
          <p:cNvSpPr txBox="1"/>
          <p:nvPr/>
        </p:nvSpPr>
        <p:spPr>
          <a:xfrm>
            <a:off x="1766214" y="3043777"/>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1" name="TextBox 20"/>
          <p:cNvSpPr txBox="1"/>
          <p:nvPr/>
        </p:nvSpPr>
        <p:spPr>
          <a:xfrm>
            <a:off x="3972717" y="3055601"/>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2" name="TextBox 21"/>
          <p:cNvSpPr txBox="1"/>
          <p:nvPr/>
        </p:nvSpPr>
        <p:spPr>
          <a:xfrm>
            <a:off x="1770078" y="4177343"/>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3" name="TextBox 22"/>
          <p:cNvSpPr txBox="1"/>
          <p:nvPr/>
        </p:nvSpPr>
        <p:spPr>
          <a:xfrm>
            <a:off x="2895406" y="4173460"/>
            <a:ext cx="1342459" cy="707886"/>
          </a:xfrm>
          <a:prstGeom prst="rect">
            <a:avLst/>
          </a:prstGeom>
          <a:noFill/>
        </p:spPr>
        <p:txBody>
          <a:bodyPr wrap="square" rtlCol="0">
            <a:spAutoFit/>
          </a:bodyPr>
          <a:lstStyle/>
          <a:p>
            <a:r>
              <a:rPr lang="en-US" sz="4000" b="1" dirty="0">
                <a:latin typeface="Comic Sans MS" panose="030F0702030302020204" pitchFamily="66" charset="0"/>
              </a:rPr>
              <a:t>6</a:t>
            </a:r>
          </a:p>
        </p:txBody>
      </p:sp>
      <p:sp>
        <p:nvSpPr>
          <p:cNvPr id="24" name="TextBox 23"/>
          <p:cNvSpPr txBox="1"/>
          <p:nvPr/>
        </p:nvSpPr>
        <p:spPr>
          <a:xfrm>
            <a:off x="9525906" y="4744418"/>
            <a:ext cx="128202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9</a:t>
            </a:r>
          </a:p>
        </p:txBody>
      </p:sp>
      <p:sp>
        <p:nvSpPr>
          <p:cNvPr id="25" name="TextBox 24"/>
          <p:cNvSpPr txBox="1"/>
          <p:nvPr/>
        </p:nvSpPr>
        <p:spPr>
          <a:xfrm>
            <a:off x="3972716" y="4194907"/>
            <a:ext cx="1342459" cy="707886"/>
          </a:xfrm>
          <a:prstGeom prst="rect">
            <a:avLst/>
          </a:prstGeom>
          <a:noFill/>
        </p:spPr>
        <p:txBody>
          <a:bodyPr wrap="square" rtlCol="0">
            <a:spAutoFit/>
          </a:bodyPr>
          <a:lstStyle/>
          <a:p>
            <a:r>
              <a:rPr lang="en-US" sz="4000" b="1" dirty="0">
                <a:latin typeface="Comic Sans MS" panose="030F0702030302020204" pitchFamily="66" charset="0"/>
              </a:rPr>
              <a:t>9</a:t>
            </a:r>
          </a:p>
        </p:txBody>
      </p:sp>
      <p:sp>
        <p:nvSpPr>
          <p:cNvPr id="26" name="Subtitle 2"/>
          <p:cNvSpPr txBox="1">
            <a:spLocks/>
          </p:cNvSpPr>
          <p:nvPr/>
        </p:nvSpPr>
        <p:spPr>
          <a:xfrm>
            <a:off x="237465" y="-22278"/>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Tree>
    <p:extLst>
      <p:ext uri="{BB962C8B-B14F-4D97-AF65-F5344CB8AC3E}">
        <p14:creationId xmlns:p14="http://schemas.microsoft.com/office/powerpoint/2010/main" val="113464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fade">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fade">
                                      <p:cBhvr>
                                        <p:cTn id="22" dur="500"/>
                                        <p:tgtEl>
                                          <p:spTgt spid="1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fade">
                                      <p:cBhvr>
                                        <p:cTn id="27" dur="500"/>
                                        <p:tgtEl>
                                          <p:spTgt spid="1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500"/>
                                        <p:tgtEl>
                                          <p:spTgt spid="1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animEffect transition="in" filter="fade">
                                      <p:cBhvr>
                                        <p:cTn id="37" dur="500"/>
                                        <p:tgtEl>
                                          <p:spTgt spid="2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xEl>
                                              <p:pRg st="0" end="0"/>
                                            </p:txEl>
                                          </p:spTgt>
                                        </p:tgtEl>
                                        <p:attrNameLst>
                                          <p:attrName>style.visibility</p:attrName>
                                        </p:attrNameLst>
                                      </p:cBhvr>
                                      <p:to>
                                        <p:strVal val="visible"/>
                                      </p:to>
                                    </p:set>
                                    <p:animEffect transition="in" filter="fade">
                                      <p:cBhvr>
                                        <p:cTn id="42" dur="500"/>
                                        <p:tgtEl>
                                          <p:spTgt spid="2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xEl>
                                              <p:pRg st="0" end="0"/>
                                            </p:txEl>
                                          </p:spTgt>
                                        </p:tgtEl>
                                        <p:attrNameLst>
                                          <p:attrName>style.visibility</p:attrName>
                                        </p:attrNameLst>
                                      </p:cBhvr>
                                      <p:to>
                                        <p:strVal val="visible"/>
                                      </p:to>
                                    </p:set>
                                    <p:animEffect transition="in" filter="fade">
                                      <p:cBhvr>
                                        <p:cTn id="47" dur="500"/>
                                        <p:tgtEl>
                                          <p:spTgt spid="22">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
                                            <p:txEl>
                                              <p:pRg st="0" end="0"/>
                                            </p:txEl>
                                          </p:spTgt>
                                        </p:tgtEl>
                                        <p:attrNameLst>
                                          <p:attrName>style.visibility</p:attrName>
                                        </p:attrNameLst>
                                      </p:cBhvr>
                                      <p:to>
                                        <p:strVal val="visible"/>
                                      </p:to>
                                    </p:set>
                                    <p:animEffect transition="in" filter="fade">
                                      <p:cBhvr>
                                        <p:cTn id="52" dur="500"/>
                                        <p:tgtEl>
                                          <p:spTgt spid="23">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
                                            <p:txEl>
                                              <p:pRg st="0" end="0"/>
                                            </p:txEl>
                                          </p:spTgt>
                                        </p:tgtEl>
                                        <p:attrNameLst>
                                          <p:attrName>style.visibility</p:attrName>
                                        </p:attrNameLst>
                                      </p:cBhvr>
                                      <p:to>
                                        <p:strVal val="visible"/>
                                      </p:to>
                                    </p:set>
                                    <p:animEffect transition="in" filter="fade">
                                      <p:cBhvr>
                                        <p:cTn id="57" dur="500"/>
                                        <p:tgtEl>
                                          <p:spTgt spid="2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5">
                                            <p:txEl>
                                              <p:pRg st="0" end="0"/>
                                            </p:txEl>
                                          </p:spTgt>
                                        </p:tgtEl>
                                        <p:attrNameLst>
                                          <p:attrName>style.visibility</p:attrName>
                                        </p:attrNameLst>
                                      </p:cBhvr>
                                      <p:to>
                                        <p:strVal val="visible"/>
                                      </p:to>
                                    </p:set>
                                    <p:animEffect transition="in" filter="fade">
                                      <p:cBhvr>
                                        <p:cTn id="62"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1102"/>
            <a:ext cx="10515600" cy="1325563"/>
          </a:xfrm>
        </p:spPr>
        <p:txBody>
          <a:bodyPr>
            <a:normAutofit/>
          </a:bodyPr>
          <a:lstStyle/>
          <a:p>
            <a:r>
              <a:rPr lang="en-US" sz="4000" dirty="0">
                <a:latin typeface="Comic Sans MS" panose="030F0702030302020204" pitchFamily="66" charset="0"/>
              </a:rPr>
              <a:t>In the starter we just saw that we can represent numbers as shapes.</a:t>
            </a:r>
          </a:p>
        </p:txBody>
      </p:sp>
      <p:sp>
        <p:nvSpPr>
          <p:cNvPr id="5" name="Subtitle 2"/>
          <p:cNvSpPr txBox="1">
            <a:spLocks/>
          </p:cNvSpPr>
          <p:nvPr/>
        </p:nvSpPr>
        <p:spPr>
          <a:xfrm>
            <a:off x="237465" y="-22278"/>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17" name="Picture 16"/>
          <p:cNvPicPr>
            <a:picLocks noChangeAspect="1"/>
          </p:cNvPicPr>
          <p:nvPr/>
        </p:nvPicPr>
        <p:blipFill>
          <a:blip r:embed="rId2"/>
          <a:stretch>
            <a:fillRect/>
          </a:stretch>
        </p:blipFill>
        <p:spPr>
          <a:xfrm>
            <a:off x="446314" y="2661783"/>
            <a:ext cx="5054600" cy="3889016"/>
          </a:xfrm>
          <a:prstGeom prst="rect">
            <a:avLst/>
          </a:prstGeom>
        </p:spPr>
      </p:pic>
    </p:spTree>
    <p:extLst>
      <p:ext uri="{BB962C8B-B14F-4D97-AF65-F5344CB8AC3E}">
        <p14:creationId xmlns:p14="http://schemas.microsoft.com/office/powerpoint/2010/main" val="66518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1102"/>
            <a:ext cx="10515600" cy="1325563"/>
          </a:xfrm>
        </p:spPr>
        <p:txBody>
          <a:bodyPr>
            <a:normAutofit/>
          </a:bodyPr>
          <a:lstStyle/>
          <a:p>
            <a:r>
              <a:rPr lang="en-US" sz="4000" dirty="0">
                <a:latin typeface="Comic Sans MS" panose="030F0702030302020204" pitchFamily="66" charset="0"/>
              </a:rPr>
              <a:t>We can do the same with letters.</a:t>
            </a:r>
          </a:p>
        </p:txBody>
      </p:sp>
      <p:sp>
        <p:nvSpPr>
          <p:cNvPr id="5"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17" name="Picture 16"/>
          <p:cNvPicPr>
            <a:picLocks noChangeAspect="1"/>
          </p:cNvPicPr>
          <p:nvPr/>
        </p:nvPicPr>
        <p:blipFill>
          <a:blip r:embed="rId2"/>
          <a:stretch>
            <a:fillRect/>
          </a:stretch>
        </p:blipFill>
        <p:spPr>
          <a:xfrm>
            <a:off x="446314" y="2661783"/>
            <a:ext cx="5054600" cy="3889016"/>
          </a:xfrm>
          <a:prstGeom prst="rect">
            <a:avLst/>
          </a:prstGeom>
        </p:spPr>
      </p:pic>
      <p:pic>
        <p:nvPicPr>
          <p:cNvPr id="3" name="Picture 2"/>
          <p:cNvPicPr>
            <a:picLocks noChangeAspect="1"/>
          </p:cNvPicPr>
          <p:nvPr/>
        </p:nvPicPr>
        <p:blipFill rotWithShape="1">
          <a:blip r:embed="rId3"/>
          <a:srcRect b="4612"/>
          <a:stretch/>
        </p:blipFill>
        <p:spPr>
          <a:xfrm>
            <a:off x="6299200" y="2661784"/>
            <a:ext cx="5054600" cy="3971246"/>
          </a:xfrm>
          <a:prstGeom prst="rect">
            <a:avLst/>
          </a:prstGeom>
        </p:spPr>
      </p:pic>
    </p:spTree>
    <p:extLst>
      <p:ext uri="{BB962C8B-B14F-4D97-AF65-F5344CB8AC3E}">
        <p14:creationId xmlns:p14="http://schemas.microsoft.com/office/powerpoint/2010/main" val="125557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564" y="1231102"/>
            <a:ext cx="10515600" cy="1325563"/>
          </a:xfrm>
        </p:spPr>
        <p:txBody>
          <a:bodyPr>
            <a:normAutofit/>
          </a:bodyPr>
          <a:lstStyle/>
          <a:p>
            <a:r>
              <a:rPr lang="en-US" sz="4000" dirty="0">
                <a:latin typeface="Comic Sans MS" panose="030F0702030302020204" pitchFamily="66" charset="0"/>
              </a:rPr>
              <a:t>This is known as </a:t>
            </a:r>
            <a:r>
              <a:rPr lang="en-US" sz="4000" b="1" u="sng" dirty="0">
                <a:latin typeface="Comic Sans MS" panose="030F0702030302020204" pitchFamily="66" charset="0"/>
              </a:rPr>
              <a:t>algebra</a:t>
            </a:r>
            <a:r>
              <a:rPr lang="en-US" sz="4000" dirty="0">
                <a:latin typeface="Comic Sans MS" panose="030F0702030302020204" pitchFamily="66" charset="0"/>
              </a:rPr>
              <a:t>!</a:t>
            </a:r>
          </a:p>
        </p:txBody>
      </p:sp>
      <p:sp>
        <p:nvSpPr>
          <p:cNvPr id="5"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
        <p:nvSpPr>
          <p:cNvPr id="7" name="TextBox 6">
            <a:extLst>
              <a:ext uri="{FF2B5EF4-FFF2-40B4-BE49-F238E27FC236}">
                <a16:creationId xmlns:a16="http://schemas.microsoft.com/office/drawing/2014/main" id="{D7F7336B-5DC5-4A15-BA0C-A9EA291FECEB}"/>
              </a:ext>
            </a:extLst>
          </p:cNvPr>
          <p:cNvSpPr txBox="1"/>
          <p:nvPr/>
        </p:nvSpPr>
        <p:spPr>
          <a:xfrm>
            <a:off x="641150" y="2867336"/>
            <a:ext cx="6702926" cy="2246769"/>
          </a:xfrm>
          <a:prstGeom prst="rect">
            <a:avLst/>
          </a:prstGeom>
          <a:noFill/>
        </p:spPr>
        <p:txBody>
          <a:bodyPr wrap="square">
            <a:spAutoFit/>
          </a:bodyPr>
          <a:lstStyle/>
          <a:p>
            <a:r>
              <a:rPr lang="en-US" sz="2800" b="1" u="none" strike="noStrike" dirty="0">
                <a:effectLst/>
                <a:latin typeface="Comic Sans MS" panose="030F0702030302020204" pitchFamily="66" charset="0"/>
              </a:rPr>
              <a:t>Algebra</a:t>
            </a:r>
            <a:r>
              <a:rPr lang="en-US" sz="2800" dirty="0">
                <a:latin typeface="Comic Sans MS" panose="030F0702030302020204" pitchFamily="66" charset="0"/>
              </a:rPr>
              <a:t> is a branch of mathematics that uses letters and symbols to represent unknown numbers and describe rules or relationships between them</a:t>
            </a:r>
          </a:p>
        </p:txBody>
      </p:sp>
      <p:pic>
        <p:nvPicPr>
          <p:cNvPr id="8" name="Picture 7">
            <a:extLst>
              <a:ext uri="{FF2B5EF4-FFF2-40B4-BE49-F238E27FC236}">
                <a16:creationId xmlns:a16="http://schemas.microsoft.com/office/drawing/2014/main" id="{796E5014-384E-4FC8-B09F-FB372027F17D}"/>
              </a:ext>
            </a:extLst>
          </p:cNvPr>
          <p:cNvPicPr>
            <a:picLocks noChangeAspect="1"/>
          </p:cNvPicPr>
          <p:nvPr/>
        </p:nvPicPr>
        <p:blipFill>
          <a:blip r:embed="rId2"/>
          <a:stretch>
            <a:fillRect/>
          </a:stretch>
        </p:blipFill>
        <p:spPr>
          <a:xfrm>
            <a:off x="8190104" y="3264132"/>
            <a:ext cx="3350967" cy="2074408"/>
          </a:xfrm>
          <a:prstGeom prst="rect">
            <a:avLst/>
          </a:prstGeom>
        </p:spPr>
      </p:pic>
      <p:pic>
        <p:nvPicPr>
          <p:cNvPr id="10" name="Picture 9">
            <a:extLst>
              <a:ext uri="{FF2B5EF4-FFF2-40B4-BE49-F238E27FC236}">
                <a16:creationId xmlns:a16="http://schemas.microsoft.com/office/drawing/2014/main" id="{CD0D2789-2EE2-4423-ACFE-2205B0ABC46E}"/>
              </a:ext>
            </a:extLst>
          </p:cNvPr>
          <p:cNvPicPr>
            <a:picLocks noChangeAspect="1"/>
          </p:cNvPicPr>
          <p:nvPr/>
        </p:nvPicPr>
        <p:blipFill>
          <a:blip r:embed="rId3"/>
          <a:stretch>
            <a:fillRect/>
          </a:stretch>
        </p:blipFill>
        <p:spPr>
          <a:xfrm>
            <a:off x="8640813" y="1070689"/>
            <a:ext cx="2552831" cy="1485976"/>
          </a:xfrm>
          <a:prstGeom prst="rect">
            <a:avLst/>
          </a:prstGeom>
        </p:spPr>
      </p:pic>
    </p:spTree>
    <p:extLst>
      <p:ext uri="{BB962C8B-B14F-4D97-AF65-F5344CB8AC3E}">
        <p14:creationId xmlns:p14="http://schemas.microsoft.com/office/powerpoint/2010/main" val="356096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ackgroundRemoval t="626" b="99165" l="1140" r="100000">
                        <a14:foregroundMark x1="31339" y1="17119" x2="31339" y2="17119"/>
                        <a14:foregroundMark x1="21368" y1="6681" x2="21368" y2="6681"/>
                        <a14:foregroundMark x1="22365" y1="7307" x2="22365" y2="7307"/>
                        <a14:foregroundMark x1="19658" y1="5637" x2="19658" y2="5637"/>
                        <a14:foregroundMark x1="20513" y1="7516" x2="20513" y2="7516"/>
                        <a14:foregroundMark x1="22507" y1="8142" x2="22507" y2="8142"/>
                        <a14:foregroundMark x1="22934" y1="9395" x2="22934" y2="10021"/>
                        <a14:foregroundMark x1="43020" y1="17745" x2="43020" y2="17745"/>
                        <a14:foregroundMark x1="68661" y1="6681" x2="68661" y2="6681"/>
                        <a14:foregroundMark x1="67521" y1="6263" x2="67521" y2="6263"/>
                        <a14:foregroundMark x1="66809" y1="11482" x2="66809" y2="11482"/>
                        <a14:foregroundMark x1="11254" y1="58873" x2="11254" y2="58873"/>
                        <a14:foregroundMark x1="44444" y1="68894" x2="44444" y2="68894"/>
                        <a14:foregroundMark x1="45584" y1="63257" x2="45584" y2="63257"/>
                        <a14:foregroundMark x1="50000" y1="63048" x2="50000" y2="63048"/>
                        <a14:foregroundMark x1="49145" y1="63674" x2="49145" y2="63674"/>
                        <a14:foregroundMark x1="46154" y1="65344" x2="46154" y2="65344"/>
                        <a14:foregroundMark x1="44160" y1="63048" x2="44160" y2="63048"/>
                        <a14:foregroundMark x1="45157" y1="95825" x2="45157" y2="95825"/>
                        <a14:foregroundMark x1="52564" y1="96660" x2="52564" y2="96660"/>
                        <a14:foregroundMark x1="51852" y1="94572" x2="51852" y2="94572"/>
                        <a14:foregroundMark x1="43020" y1="93111" x2="43020" y2="93111"/>
                        <a14:backgroundMark x1="21368" y1="5219" x2="21368" y2="5219"/>
                        <a14:backgroundMark x1="20940" y1="9812" x2="20940" y2="9812"/>
                        <a14:backgroundMark x1="66952" y1="8768" x2="66952" y2="8768"/>
                        <a14:backgroundMark x1="43020" y1="94990" x2="43020" y2="94990"/>
                      </a14:backgroundRemoval>
                    </a14:imgEffect>
                  </a14:imgLayer>
                </a14:imgProps>
              </a:ext>
            </a:extLst>
          </a:blip>
          <a:stretch>
            <a:fillRect/>
          </a:stretch>
        </p:blipFill>
        <p:spPr>
          <a:xfrm>
            <a:off x="1054553" y="2381418"/>
            <a:ext cx="5715208" cy="3899693"/>
          </a:xfrm>
          <a:prstGeom prst="rect">
            <a:avLst/>
          </a:prstGeom>
        </p:spPr>
      </p:pic>
      <p:sp>
        <p:nvSpPr>
          <p:cNvPr id="7" name="TextBox 6"/>
          <p:cNvSpPr txBox="1"/>
          <p:nvPr/>
        </p:nvSpPr>
        <p:spPr>
          <a:xfrm>
            <a:off x="7997371" y="2902857"/>
            <a:ext cx="3845750" cy="3046988"/>
          </a:xfrm>
          <a:prstGeom prst="rect">
            <a:avLst/>
          </a:prstGeom>
          <a:noFill/>
        </p:spPr>
        <p:txBody>
          <a:bodyPr wrap="square" rtlCol="0">
            <a:spAutoFit/>
          </a:bodyPr>
          <a:lstStyle/>
          <a:p>
            <a:r>
              <a:rPr lang="en-US" sz="3200" dirty="0">
                <a:latin typeface="Comic Sans MS" panose="030F0702030302020204" pitchFamily="66" charset="0"/>
              </a:rPr>
              <a:t>Write a number sentence linking 8, a and 21.</a:t>
            </a:r>
          </a:p>
          <a:p>
            <a:endParaRPr lang="en-US" sz="3200" dirty="0">
              <a:latin typeface="Comic Sans MS" panose="030F0702030302020204" pitchFamily="66" charset="0"/>
            </a:endParaRPr>
          </a:p>
          <a:p>
            <a:r>
              <a:rPr lang="en-US" sz="3200" dirty="0">
                <a:latin typeface="Comic Sans MS" panose="030F0702030302020204" pitchFamily="66" charset="0"/>
              </a:rPr>
              <a:t>Can you write more than one?</a:t>
            </a:r>
          </a:p>
        </p:txBody>
      </p:sp>
      <p:sp>
        <p:nvSpPr>
          <p:cNvPr id="8" name="TextBox 7"/>
          <p:cNvSpPr txBox="1"/>
          <p:nvPr/>
        </p:nvSpPr>
        <p:spPr>
          <a:xfrm>
            <a:off x="4288972" y="5611674"/>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13</a:t>
            </a:r>
          </a:p>
        </p:txBody>
      </p:sp>
      <p:pic>
        <p:nvPicPr>
          <p:cNvPr id="9" name="Picture 8">
            <a:extLst>
              <a:ext uri="{FF2B5EF4-FFF2-40B4-BE49-F238E27FC236}">
                <a16:creationId xmlns:a16="http://schemas.microsoft.com/office/drawing/2014/main" id="{B5152FD1-06F8-458D-A311-A4E7CDD5B56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813722" cy="1841913"/>
          </a:xfrm>
          <a:prstGeom prst="rect">
            <a:avLst/>
          </a:prstGeom>
        </p:spPr>
      </p:pic>
      <p:sp>
        <p:nvSpPr>
          <p:cNvPr id="6" name="Title 5">
            <a:extLst>
              <a:ext uri="{FF2B5EF4-FFF2-40B4-BE49-F238E27FC236}">
                <a16:creationId xmlns:a16="http://schemas.microsoft.com/office/drawing/2014/main" id="{EF66F727-5C3F-4A23-A6BD-8D508292103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64085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00" y="1055855"/>
            <a:ext cx="10515600" cy="1325563"/>
          </a:xfrm>
        </p:spPr>
        <p:txBody>
          <a:bodyPr/>
          <a:lstStyle/>
          <a:p>
            <a:r>
              <a:rPr lang="en-US" sz="4000" b="1" dirty="0">
                <a:latin typeface="Comic Sans MS" panose="030F0702030302020204" pitchFamily="66" charset="0"/>
              </a:rPr>
              <a:t>Check your understanding</a:t>
            </a: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
        <p:nvSpPr>
          <p:cNvPr id="7" name="TextBox 6"/>
          <p:cNvSpPr txBox="1"/>
          <p:nvPr/>
        </p:nvSpPr>
        <p:spPr>
          <a:xfrm>
            <a:off x="7997371" y="2902857"/>
            <a:ext cx="3845750" cy="3046988"/>
          </a:xfrm>
          <a:prstGeom prst="rect">
            <a:avLst/>
          </a:prstGeom>
          <a:noFill/>
        </p:spPr>
        <p:txBody>
          <a:bodyPr wrap="square" rtlCol="0">
            <a:spAutoFit/>
          </a:bodyPr>
          <a:lstStyle/>
          <a:p>
            <a:r>
              <a:rPr lang="en-US" sz="3200" dirty="0">
                <a:latin typeface="Comic Sans MS" panose="030F0702030302020204" pitchFamily="66" charset="0"/>
              </a:rPr>
              <a:t>Write a number sentence linking 19, a and 9.</a:t>
            </a:r>
          </a:p>
          <a:p>
            <a:endParaRPr lang="en-US" sz="3200" dirty="0">
              <a:latin typeface="Comic Sans MS" panose="030F0702030302020204" pitchFamily="66" charset="0"/>
            </a:endParaRPr>
          </a:p>
          <a:p>
            <a:r>
              <a:rPr lang="en-US" sz="3200" dirty="0">
                <a:latin typeface="Comic Sans MS" panose="030F0702030302020204" pitchFamily="66" charset="0"/>
              </a:rPr>
              <a:t>Can you write more than one?</a:t>
            </a:r>
          </a:p>
        </p:txBody>
      </p:sp>
      <p:sp>
        <p:nvSpPr>
          <p:cNvPr id="8" name="TextBox 7"/>
          <p:cNvSpPr txBox="1"/>
          <p:nvPr/>
        </p:nvSpPr>
        <p:spPr>
          <a:xfrm>
            <a:off x="4687827" y="4684811"/>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a</a:t>
            </a:r>
          </a:p>
        </p:txBody>
      </p:sp>
      <p:pic>
        <p:nvPicPr>
          <p:cNvPr id="9" name="Picture 8">
            <a:extLst>
              <a:ext uri="{FF2B5EF4-FFF2-40B4-BE49-F238E27FC236}">
                <a16:creationId xmlns:a16="http://schemas.microsoft.com/office/drawing/2014/main" id="{B5152FD1-06F8-458D-A311-A4E7CDD5B56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813722" cy="1841913"/>
          </a:xfrm>
          <a:prstGeom prst="rect">
            <a:avLst/>
          </a:prstGeom>
        </p:spPr>
      </p:pic>
      <p:sp>
        <p:nvSpPr>
          <p:cNvPr id="3" name="Rectangle 2">
            <a:extLst>
              <a:ext uri="{FF2B5EF4-FFF2-40B4-BE49-F238E27FC236}">
                <a16:creationId xmlns:a16="http://schemas.microsoft.com/office/drawing/2014/main" id="{E21184B7-4B6F-4876-9FA3-040985CC6913}"/>
              </a:ext>
            </a:extLst>
          </p:cNvPr>
          <p:cNvSpPr/>
          <p:nvPr/>
        </p:nvSpPr>
        <p:spPr>
          <a:xfrm>
            <a:off x="510363" y="2902857"/>
            <a:ext cx="6081823"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098E11-1DEB-433B-9FBC-CB5068026571}"/>
              </a:ext>
            </a:extLst>
          </p:cNvPr>
          <p:cNvSpPr/>
          <p:nvPr/>
        </p:nvSpPr>
        <p:spPr>
          <a:xfrm>
            <a:off x="510362" y="3765566"/>
            <a:ext cx="3359889" cy="71101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FF25952-4378-494D-B1BB-C175EC987B70}"/>
              </a:ext>
            </a:extLst>
          </p:cNvPr>
          <p:cNvSpPr/>
          <p:nvPr/>
        </p:nvSpPr>
        <p:spPr>
          <a:xfrm>
            <a:off x="3870251" y="3797279"/>
            <a:ext cx="2721935" cy="66408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B7670A3-24D5-44BF-852B-9DF23E7CB0CD}"/>
              </a:ext>
            </a:extLst>
          </p:cNvPr>
          <p:cNvSpPr txBox="1"/>
          <p:nvPr/>
        </p:nvSpPr>
        <p:spPr>
          <a:xfrm>
            <a:off x="1735550" y="4540008"/>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9</a:t>
            </a:r>
          </a:p>
        </p:txBody>
      </p:sp>
      <p:sp>
        <p:nvSpPr>
          <p:cNvPr id="13" name="TextBox 12">
            <a:extLst>
              <a:ext uri="{FF2B5EF4-FFF2-40B4-BE49-F238E27FC236}">
                <a16:creationId xmlns:a16="http://schemas.microsoft.com/office/drawing/2014/main" id="{03430B36-E471-4A57-BB4F-603CC306BD9A}"/>
              </a:ext>
            </a:extLst>
          </p:cNvPr>
          <p:cNvSpPr txBox="1"/>
          <p:nvPr/>
        </p:nvSpPr>
        <p:spPr>
          <a:xfrm>
            <a:off x="3068472" y="2267313"/>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19</a:t>
            </a:r>
          </a:p>
        </p:txBody>
      </p:sp>
    </p:spTree>
    <p:extLst>
      <p:ext uri="{BB962C8B-B14F-4D97-AF65-F5344CB8AC3E}">
        <p14:creationId xmlns:p14="http://schemas.microsoft.com/office/powerpoint/2010/main" val="2879921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00" y="1055855"/>
            <a:ext cx="10515600" cy="1325563"/>
          </a:xfrm>
        </p:spPr>
        <p:txBody>
          <a:bodyPr/>
          <a:lstStyle/>
          <a:p>
            <a:r>
              <a:rPr lang="en-US" sz="4000" b="1" dirty="0">
                <a:latin typeface="Comic Sans MS" panose="030F0702030302020204" pitchFamily="66" charset="0"/>
              </a:rPr>
              <a:t>Check your understanding</a:t>
            </a: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
        <p:nvSpPr>
          <p:cNvPr id="7" name="TextBox 6"/>
          <p:cNvSpPr txBox="1"/>
          <p:nvPr/>
        </p:nvSpPr>
        <p:spPr>
          <a:xfrm>
            <a:off x="7997371" y="2902857"/>
            <a:ext cx="3845750" cy="3046988"/>
          </a:xfrm>
          <a:prstGeom prst="rect">
            <a:avLst/>
          </a:prstGeom>
          <a:noFill/>
        </p:spPr>
        <p:txBody>
          <a:bodyPr wrap="square" rtlCol="0">
            <a:spAutoFit/>
          </a:bodyPr>
          <a:lstStyle/>
          <a:p>
            <a:r>
              <a:rPr lang="en-US" sz="3200" dirty="0">
                <a:latin typeface="Comic Sans MS" panose="030F0702030302020204" pitchFamily="66" charset="0"/>
              </a:rPr>
              <a:t>Write a number sentence linking 54, a and 10.</a:t>
            </a:r>
          </a:p>
          <a:p>
            <a:endParaRPr lang="en-US" sz="3200" dirty="0">
              <a:latin typeface="Comic Sans MS" panose="030F0702030302020204" pitchFamily="66" charset="0"/>
            </a:endParaRPr>
          </a:p>
          <a:p>
            <a:r>
              <a:rPr lang="en-US" sz="3200" dirty="0">
                <a:latin typeface="Comic Sans MS" panose="030F0702030302020204" pitchFamily="66" charset="0"/>
              </a:rPr>
              <a:t>Can you write more than one?</a:t>
            </a:r>
          </a:p>
        </p:txBody>
      </p:sp>
      <p:sp>
        <p:nvSpPr>
          <p:cNvPr id="8" name="TextBox 7"/>
          <p:cNvSpPr txBox="1"/>
          <p:nvPr/>
        </p:nvSpPr>
        <p:spPr>
          <a:xfrm>
            <a:off x="4578845" y="4476582"/>
            <a:ext cx="678075"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a</a:t>
            </a:r>
          </a:p>
        </p:txBody>
      </p:sp>
      <p:pic>
        <p:nvPicPr>
          <p:cNvPr id="9" name="Picture 8">
            <a:extLst>
              <a:ext uri="{FF2B5EF4-FFF2-40B4-BE49-F238E27FC236}">
                <a16:creationId xmlns:a16="http://schemas.microsoft.com/office/drawing/2014/main" id="{B5152FD1-06F8-458D-A311-A4E7CDD5B56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813722" cy="1841913"/>
          </a:xfrm>
          <a:prstGeom prst="rect">
            <a:avLst/>
          </a:prstGeom>
        </p:spPr>
      </p:pic>
      <p:sp>
        <p:nvSpPr>
          <p:cNvPr id="3" name="Rectangle 2">
            <a:extLst>
              <a:ext uri="{FF2B5EF4-FFF2-40B4-BE49-F238E27FC236}">
                <a16:creationId xmlns:a16="http://schemas.microsoft.com/office/drawing/2014/main" id="{E21184B7-4B6F-4876-9FA3-040985CC6913}"/>
              </a:ext>
            </a:extLst>
          </p:cNvPr>
          <p:cNvSpPr/>
          <p:nvPr/>
        </p:nvSpPr>
        <p:spPr>
          <a:xfrm>
            <a:off x="510363" y="2902857"/>
            <a:ext cx="6081823"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098E11-1DEB-433B-9FBC-CB5068026571}"/>
              </a:ext>
            </a:extLst>
          </p:cNvPr>
          <p:cNvSpPr/>
          <p:nvPr/>
        </p:nvSpPr>
        <p:spPr>
          <a:xfrm>
            <a:off x="510362" y="3765566"/>
            <a:ext cx="3359889" cy="71101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FF25952-4378-494D-B1BB-C175EC987B70}"/>
              </a:ext>
            </a:extLst>
          </p:cNvPr>
          <p:cNvSpPr/>
          <p:nvPr/>
        </p:nvSpPr>
        <p:spPr>
          <a:xfrm>
            <a:off x="3870251" y="3797279"/>
            <a:ext cx="1711049" cy="679304"/>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B7670A3-24D5-44BF-852B-9DF23E7CB0CD}"/>
              </a:ext>
            </a:extLst>
          </p:cNvPr>
          <p:cNvSpPr txBox="1"/>
          <p:nvPr/>
        </p:nvSpPr>
        <p:spPr>
          <a:xfrm>
            <a:off x="1735550" y="4540008"/>
            <a:ext cx="1418342"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30</a:t>
            </a:r>
          </a:p>
        </p:txBody>
      </p:sp>
      <p:sp>
        <p:nvSpPr>
          <p:cNvPr id="13" name="TextBox 12">
            <a:extLst>
              <a:ext uri="{FF2B5EF4-FFF2-40B4-BE49-F238E27FC236}">
                <a16:creationId xmlns:a16="http://schemas.microsoft.com/office/drawing/2014/main" id="{03430B36-E471-4A57-BB4F-603CC306BD9A}"/>
              </a:ext>
            </a:extLst>
          </p:cNvPr>
          <p:cNvSpPr txBox="1"/>
          <p:nvPr/>
        </p:nvSpPr>
        <p:spPr>
          <a:xfrm>
            <a:off x="3153892" y="2011880"/>
            <a:ext cx="3845750"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54</a:t>
            </a:r>
          </a:p>
        </p:txBody>
      </p:sp>
      <p:sp>
        <p:nvSpPr>
          <p:cNvPr id="14" name="Rectangle 13">
            <a:extLst>
              <a:ext uri="{FF2B5EF4-FFF2-40B4-BE49-F238E27FC236}">
                <a16:creationId xmlns:a16="http://schemas.microsoft.com/office/drawing/2014/main" id="{8A622E02-CDCE-48B2-8176-0DBB931963A1}"/>
              </a:ext>
            </a:extLst>
          </p:cNvPr>
          <p:cNvSpPr/>
          <p:nvPr/>
        </p:nvSpPr>
        <p:spPr>
          <a:xfrm>
            <a:off x="5519091" y="3797279"/>
            <a:ext cx="1091611" cy="679303"/>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5223F00-A143-4D11-83CB-F4FC7262930D}"/>
              </a:ext>
            </a:extLst>
          </p:cNvPr>
          <p:cNvSpPr txBox="1"/>
          <p:nvPr/>
        </p:nvSpPr>
        <p:spPr>
          <a:xfrm>
            <a:off x="5835706" y="4408441"/>
            <a:ext cx="1099376" cy="830997"/>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10</a:t>
            </a:r>
          </a:p>
        </p:txBody>
      </p:sp>
    </p:spTree>
    <p:extLst>
      <p:ext uri="{BB962C8B-B14F-4D97-AF65-F5344CB8AC3E}">
        <p14:creationId xmlns:p14="http://schemas.microsoft.com/office/powerpoint/2010/main" val="2286882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879" y="2087445"/>
            <a:ext cx="11150063" cy="1325563"/>
          </a:xfrm>
        </p:spPr>
        <p:txBody>
          <a:bodyPr>
            <a:normAutofit fontScale="90000"/>
          </a:bodyPr>
          <a:lstStyle/>
          <a:p>
            <a:r>
              <a:rPr lang="en-US" sz="3200" dirty="0">
                <a:latin typeface="Comic Sans MS" panose="030F0702030302020204" pitchFamily="66" charset="0"/>
              </a:rPr>
              <a:t>Mr. Jon and Ms. Colette have 10 pairs of shoes in total.</a:t>
            </a:r>
            <a:br>
              <a:rPr lang="en-US" sz="3200" dirty="0">
                <a:latin typeface="Comic Sans MS" panose="030F0702030302020204" pitchFamily="66" charset="0"/>
              </a:rPr>
            </a:br>
            <a:br>
              <a:rPr lang="en-US" sz="3200" dirty="0">
                <a:latin typeface="Comic Sans MS" panose="030F0702030302020204" pitchFamily="66" charset="0"/>
              </a:rPr>
            </a:br>
            <a:r>
              <a:rPr lang="en-US" sz="3200" dirty="0">
                <a:latin typeface="Comic Sans MS" panose="030F0702030302020204" pitchFamily="66" charset="0"/>
              </a:rPr>
              <a:t>The number of pairs of shoes Mr. Jon has is J. The number of pairs of shoes Ms. Colette has is C.</a:t>
            </a:r>
            <a:br>
              <a:rPr lang="en-US" sz="3600" dirty="0">
                <a:latin typeface="Comic Sans MS" panose="030F0702030302020204" pitchFamily="66" charset="0"/>
              </a:rPr>
            </a:br>
            <a:endParaRPr lang="en-US" sz="3600" dirty="0">
              <a:latin typeface="Comic Sans MS" panose="030F0702030302020204" pitchFamily="66" charset="0"/>
            </a:endParaRP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graphicFrame>
        <p:nvGraphicFramePr>
          <p:cNvPr id="5" name="Table 4"/>
          <p:cNvGraphicFramePr>
            <a:graphicFrameLocks noGrp="1"/>
          </p:cNvGraphicFramePr>
          <p:nvPr>
            <p:extLst>
              <p:ext uri="{D42A27DB-BD31-4B8C-83A1-F6EECF244321}">
                <p14:modId xmlns:p14="http://schemas.microsoft.com/office/powerpoint/2010/main" val="67278545"/>
              </p:ext>
            </p:extLst>
          </p:nvPr>
        </p:nvGraphicFramePr>
        <p:xfrm>
          <a:off x="1859910" y="4269351"/>
          <a:ext cx="8691975" cy="2073392"/>
        </p:xfrm>
        <a:graphic>
          <a:graphicData uri="http://schemas.openxmlformats.org/drawingml/2006/table">
            <a:tbl>
              <a:tblPr bandRow="1">
                <a:tableStyleId>{5C22544A-7EE6-4342-B048-85BDC9FD1C3A}</a:tableStyleId>
              </a:tblPr>
              <a:tblGrid>
                <a:gridCol w="1738395">
                  <a:extLst>
                    <a:ext uri="{9D8B030D-6E8A-4147-A177-3AD203B41FA5}">
                      <a16:colId xmlns:a16="http://schemas.microsoft.com/office/drawing/2014/main" val="1711658957"/>
                    </a:ext>
                  </a:extLst>
                </a:gridCol>
                <a:gridCol w="1738395">
                  <a:extLst>
                    <a:ext uri="{9D8B030D-6E8A-4147-A177-3AD203B41FA5}">
                      <a16:colId xmlns:a16="http://schemas.microsoft.com/office/drawing/2014/main" val="2257886049"/>
                    </a:ext>
                  </a:extLst>
                </a:gridCol>
                <a:gridCol w="1738395">
                  <a:extLst>
                    <a:ext uri="{9D8B030D-6E8A-4147-A177-3AD203B41FA5}">
                      <a16:colId xmlns:a16="http://schemas.microsoft.com/office/drawing/2014/main" val="2029708120"/>
                    </a:ext>
                  </a:extLst>
                </a:gridCol>
                <a:gridCol w="1738395">
                  <a:extLst>
                    <a:ext uri="{9D8B030D-6E8A-4147-A177-3AD203B41FA5}">
                      <a16:colId xmlns:a16="http://schemas.microsoft.com/office/drawing/2014/main" val="1461769412"/>
                    </a:ext>
                  </a:extLst>
                </a:gridCol>
                <a:gridCol w="1738395">
                  <a:extLst>
                    <a:ext uri="{9D8B030D-6E8A-4147-A177-3AD203B41FA5}">
                      <a16:colId xmlns:a16="http://schemas.microsoft.com/office/drawing/2014/main" val="2245450699"/>
                    </a:ext>
                  </a:extLst>
                </a:gridCol>
              </a:tblGrid>
              <a:tr h="1036696">
                <a:tc>
                  <a:txBody>
                    <a:bodyPr/>
                    <a:lstStyle/>
                    <a:p>
                      <a:pPr algn="ctr"/>
                      <a:r>
                        <a:rPr lang="en-US" sz="4000" b="1" dirty="0">
                          <a:latin typeface="Twinkl" panose="02000000000000000000" pitchFamily="2"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4400" dirty="0">
                          <a:latin typeface="Twinkl" panose="02000000000000000000"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427589"/>
                  </a:ext>
                </a:extLst>
              </a:tr>
              <a:tr h="1036696">
                <a:tc>
                  <a:txBody>
                    <a:bodyPr/>
                    <a:lstStyle/>
                    <a:p>
                      <a:pPr algn="ctr"/>
                      <a:r>
                        <a:rPr lang="en-US" sz="4000" b="1" dirty="0">
                          <a:latin typeface="Twinkl" panose="02000000000000000000" pitchFamily="2"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5768327"/>
                  </a:ext>
                </a:extLst>
              </a:tr>
            </a:tbl>
          </a:graphicData>
        </a:graphic>
      </p:graphicFrame>
      <p:sp>
        <p:nvSpPr>
          <p:cNvPr id="6" name="TextBox 5"/>
          <p:cNvSpPr txBox="1"/>
          <p:nvPr/>
        </p:nvSpPr>
        <p:spPr>
          <a:xfrm>
            <a:off x="4194629" y="5457372"/>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5</a:t>
            </a:r>
          </a:p>
        </p:txBody>
      </p:sp>
      <p:sp>
        <p:nvSpPr>
          <p:cNvPr id="7" name="TextBox 6"/>
          <p:cNvSpPr txBox="1"/>
          <p:nvPr/>
        </p:nvSpPr>
        <p:spPr>
          <a:xfrm>
            <a:off x="5923910" y="4269351"/>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2</a:t>
            </a:r>
          </a:p>
        </p:txBody>
      </p:sp>
      <p:sp>
        <p:nvSpPr>
          <p:cNvPr id="8" name="TextBox 7"/>
          <p:cNvSpPr txBox="1"/>
          <p:nvPr/>
        </p:nvSpPr>
        <p:spPr>
          <a:xfrm>
            <a:off x="7658367" y="5457371"/>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4</a:t>
            </a:r>
          </a:p>
        </p:txBody>
      </p:sp>
      <p:sp>
        <p:nvSpPr>
          <p:cNvPr id="9" name="TextBox 8"/>
          <p:cNvSpPr txBox="1"/>
          <p:nvPr/>
        </p:nvSpPr>
        <p:spPr>
          <a:xfrm>
            <a:off x="9363796" y="4376057"/>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3</a:t>
            </a:r>
          </a:p>
        </p:txBody>
      </p:sp>
    </p:spTree>
    <p:extLst>
      <p:ext uri="{BB962C8B-B14F-4D97-AF65-F5344CB8AC3E}">
        <p14:creationId xmlns:p14="http://schemas.microsoft.com/office/powerpoint/2010/main" val="127384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65" y="1128427"/>
            <a:ext cx="11150063" cy="1325563"/>
          </a:xfrm>
        </p:spPr>
        <p:txBody>
          <a:bodyPr>
            <a:normAutofit/>
          </a:bodyPr>
          <a:lstStyle/>
          <a:p>
            <a:r>
              <a:rPr lang="en-US" sz="3600" b="1" dirty="0">
                <a:latin typeface="Comic Sans MS" panose="030F0702030302020204" pitchFamily="66" charset="0"/>
              </a:rPr>
              <a:t>Check your understanding</a:t>
            </a:r>
            <a:br>
              <a:rPr lang="en-US" sz="4000" dirty="0">
                <a:latin typeface="Comic Sans MS" panose="030F0702030302020204" pitchFamily="66" charset="0"/>
              </a:rPr>
            </a:br>
            <a:endParaRPr lang="en-US" sz="4000" dirty="0">
              <a:latin typeface="Comic Sans MS" panose="030F0702030302020204" pitchFamily="66" charset="0"/>
            </a:endParaRPr>
          </a:p>
        </p:txBody>
      </p:sp>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sp>
        <p:nvSpPr>
          <p:cNvPr id="3" name="TextBox 2"/>
          <p:cNvSpPr txBox="1"/>
          <p:nvPr/>
        </p:nvSpPr>
        <p:spPr>
          <a:xfrm>
            <a:off x="174439" y="1879369"/>
            <a:ext cx="11843121" cy="1631216"/>
          </a:xfrm>
          <a:prstGeom prst="rect">
            <a:avLst/>
          </a:prstGeom>
          <a:noFill/>
        </p:spPr>
        <p:txBody>
          <a:bodyPr wrap="square" rtlCol="0">
            <a:spAutoFit/>
          </a:bodyPr>
          <a:lstStyle/>
          <a:p>
            <a:r>
              <a:rPr lang="en-US" sz="2000" dirty="0">
                <a:latin typeface="Comic Sans MS" panose="030F0702030302020204" pitchFamily="66" charset="0"/>
              </a:rPr>
              <a:t>Mr. David always has 5 more computer mice than Mr. Josh. </a:t>
            </a:r>
          </a:p>
          <a:p>
            <a:endParaRPr lang="en-US" sz="2000" dirty="0">
              <a:latin typeface="Comic Sans MS" panose="030F0702030302020204" pitchFamily="66" charset="0"/>
            </a:endParaRPr>
          </a:p>
          <a:p>
            <a:r>
              <a:rPr lang="en-US" sz="2000" dirty="0">
                <a:latin typeface="Comic Sans MS" panose="030F0702030302020204" pitchFamily="66" charset="0"/>
              </a:rPr>
              <a:t>The number of computer mice Mr. David has is D. The number that Mr. Josh has is J.</a:t>
            </a:r>
          </a:p>
          <a:p>
            <a:endParaRPr lang="en-US" sz="2000" dirty="0">
              <a:latin typeface="Comic Sans MS" panose="030F0702030302020204" pitchFamily="66" charset="0"/>
            </a:endParaRPr>
          </a:p>
          <a:p>
            <a:r>
              <a:rPr lang="en-US" sz="2000" dirty="0">
                <a:latin typeface="Comic Sans MS" panose="030F0702030302020204" pitchFamily="66" charset="0"/>
              </a:rPr>
              <a:t>Copy and complete this table.</a:t>
            </a:r>
          </a:p>
        </p:txBody>
      </p:sp>
      <p:sp>
        <p:nvSpPr>
          <p:cNvPr id="11" name="TextBox 10"/>
          <p:cNvSpPr txBox="1"/>
          <p:nvPr/>
        </p:nvSpPr>
        <p:spPr>
          <a:xfrm>
            <a:off x="9376497" y="4719600"/>
            <a:ext cx="2815503" cy="1754326"/>
          </a:xfrm>
          <a:prstGeom prst="rect">
            <a:avLst/>
          </a:prstGeom>
          <a:noFill/>
        </p:spPr>
        <p:txBody>
          <a:bodyPr wrap="square" rtlCol="0">
            <a:spAutoFit/>
          </a:bodyPr>
          <a:lstStyle/>
          <a:p>
            <a:r>
              <a:rPr lang="en-US" b="1" dirty="0">
                <a:latin typeface="Comic Sans MS" panose="030F0702030302020204" pitchFamily="66" charset="0"/>
              </a:rPr>
              <a:t>Write a number sentence linking D, J and 5.</a:t>
            </a:r>
          </a:p>
          <a:p>
            <a:endParaRPr lang="en-US" b="1" dirty="0">
              <a:latin typeface="Comic Sans MS" panose="030F0702030302020204" pitchFamily="66" charset="0"/>
            </a:endParaRPr>
          </a:p>
          <a:p>
            <a:r>
              <a:rPr lang="en-US" b="1" dirty="0">
                <a:latin typeface="Comic Sans MS" panose="030F0702030302020204" pitchFamily="66" charset="0"/>
              </a:rPr>
              <a:t>Can you write more than one?</a:t>
            </a:r>
          </a:p>
        </p:txBody>
      </p:sp>
      <p:graphicFrame>
        <p:nvGraphicFramePr>
          <p:cNvPr id="12" name="Table 11"/>
          <p:cNvGraphicFramePr>
            <a:graphicFrameLocks noGrp="1"/>
          </p:cNvGraphicFramePr>
          <p:nvPr>
            <p:extLst>
              <p:ext uri="{D42A27DB-BD31-4B8C-83A1-F6EECF244321}">
                <p14:modId xmlns:p14="http://schemas.microsoft.com/office/powerpoint/2010/main" val="2977548088"/>
              </p:ext>
            </p:extLst>
          </p:nvPr>
        </p:nvGraphicFramePr>
        <p:xfrm>
          <a:off x="348879" y="4585200"/>
          <a:ext cx="8691975" cy="2073392"/>
        </p:xfrm>
        <a:graphic>
          <a:graphicData uri="http://schemas.openxmlformats.org/drawingml/2006/table">
            <a:tbl>
              <a:tblPr bandRow="1">
                <a:tableStyleId>{5C22544A-7EE6-4342-B048-85BDC9FD1C3A}</a:tableStyleId>
              </a:tblPr>
              <a:tblGrid>
                <a:gridCol w="1738395">
                  <a:extLst>
                    <a:ext uri="{9D8B030D-6E8A-4147-A177-3AD203B41FA5}">
                      <a16:colId xmlns:a16="http://schemas.microsoft.com/office/drawing/2014/main" val="1711658957"/>
                    </a:ext>
                  </a:extLst>
                </a:gridCol>
                <a:gridCol w="1738395">
                  <a:extLst>
                    <a:ext uri="{9D8B030D-6E8A-4147-A177-3AD203B41FA5}">
                      <a16:colId xmlns:a16="http://schemas.microsoft.com/office/drawing/2014/main" val="2257886049"/>
                    </a:ext>
                  </a:extLst>
                </a:gridCol>
                <a:gridCol w="1738395">
                  <a:extLst>
                    <a:ext uri="{9D8B030D-6E8A-4147-A177-3AD203B41FA5}">
                      <a16:colId xmlns:a16="http://schemas.microsoft.com/office/drawing/2014/main" val="2029708120"/>
                    </a:ext>
                  </a:extLst>
                </a:gridCol>
                <a:gridCol w="1738395">
                  <a:extLst>
                    <a:ext uri="{9D8B030D-6E8A-4147-A177-3AD203B41FA5}">
                      <a16:colId xmlns:a16="http://schemas.microsoft.com/office/drawing/2014/main" val="1461769412"/>
                    </a:ext>
                  </a:extLst>
                </a:gridCol>
                <a:gridCol w="1738395">
                  <a:extLst>
                    <a:ext uri="{9D8B030D-6E8A-4147-A177-3AD203B41FA5}">
                      <a16:colId xmlns:a16="http://schemas.microsoft.com/office/drawing/2014/main" val="2245450699"/>
                    </a:ext>
                  </a:extLst>
                </a:gridCol>
              </a:tblGrid>
              <a:tr h="1036696">
                <a:tc>
                  <a:txBody>
                    <a:bodyPr/>
                    <a:lstStyle/>
                    <a:p>
                      <a:pPr algn="ctr"/>
                      <a:r>
                        <a:rPr lang="en-US" sz="4000" b="1" dirty="0">
                          <a:latin typeface="Twinkl" panose="02000000000000000000" pitchFamily="2"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4400" dirty="0">
                          <a:latin typeface="Twinkl" panose="02000000000000000000"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427589"/>
                  </a:ext>
                </a:extLst>
              </a:tr>
              <a:tr h="1036696">
                <a:tc>
                  <a:txBody>
                    <a:bodyPr/>
                    <a:lstStyle/>
                    <a:p>
                      <a:pPr algn="ctr"/>
                      <a:r>
                        <a:rPr lang="en-US" sz="4000" b="1" dirty="0">
                          <a:latin typeface="Twinkl" panose="02000000000000000000" pitchFamily="2"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4400" dirty="0">
                        <a:latin typeface="Twinkl"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400" dirty="0">
                          <a:latin typeface="Twinkl" panose="02000000000000000000"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5768327"/>
                  </a:ext>
                </a:extLst>
              </a:tr>
            </a:tbl>
          </a:graphicData>
        </a:graphic>
      </p:graphicFrame>
      <p:sp>
        <p:nvSpPr>
          <p:cNvPr id="8" name="TextBox 7"/>
          <p:cNvSpPr txBox="1"/>
          <p:nvPr/>
        </p:nvSpPr>
        <p:spPr>
          <a:xfrm>
            <a:off x="2666080" y="5689096"/>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2</a:t>
            </a:r>
          </a:p>
        </p:txBody>
      </p:sp>
      <p:sp>
        <p:nvSpPr>
          <p:cNvPr id="9" name="TextBox 8"/>
          <p:cNvSpPr txBox="1"/>
          <p:nvPr/>
        </p:nvSpPr>
        <p:spPr>
          <a:xfrm>
            <a:off x="4456211" y="4719600"/>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9</a:t>
            </a:r>
          </a:p>
        </p:txBody>
      </p:sp>
      <p:sp>
        <p:nvSpPr>
          <p:cNvPr id="13" name="TextBox 12"/>
          <p:cNvSpPr txBox="1"/>
          <p:nvPr/>
        </p:nvSpPr>
        <p:spPr>
          <a:xfrm>
            <a:off x="6259990" y="5701762"/>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6</a:t>
            </a:r>
          </a:p>
        </p:txBody>
      </p:sp>
      <p:sp>
        <p:nvSpPr>
          <p:cNvPr id="14" name="TextBox 13"/>
          <p:cNvSpPr txBox="1"/>
          <p:nvPr/>
        </p:nvSpPr>
        <p:spPr>
          <a:xfrm>
            <a:off x="7913643" y="4719600"/>
            <a:ext cx="92891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14</a:t>
            </a:r>
          </a:p>
        </p:txBody>
      </p:sp>
      <p:pic>
        <p:nvPicPr>
          <p:cNvPr id="15" name="Picture 14">
            <a:extLst>
              <a:ext uri="{FF2B5EF4-FFF2-40B4-BE49-F238E27FC236}">
                <a16:creationId xmlns:a16="http://schemas.microsoft.com/office/drawing/2014/main" id="{52B51237-97B0-4979-B741-C5557CF292D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11257513" y="3214832"/>
            <a:ext cx="585608" cy="1325563"/>
          </a:xfrm>
          <a:prstGeom prst="rect">
            <a:avLst/>
          </a:prstGeom>
        </p:spPr>
      </p:pic>
    </p:spTree>
    <p:extLst>
      <p:ext uri="{BB962C8B-B14F-4D97-AF65-F5344CB8AC3E}">
        <p14:creationId xmlns:p14="http://schemas.microsoft.com/office/powerpoint/2010/main" val="191987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fade">
                                      <p:cBhvr>
                                        <p:cTn id="22"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pic>
        <p:nvPicPr>
          <p:cNvPr id="3" name="Picture 2">
            <a:extLst>
              <a:ext uri="{FF2B5EF4-FFF2-40B4-BE49-F238E27FC236}">
                <a16:creationId xmlns:a16="http://schemas.microsoft.com/office/drawing/2014/main" id="{23247FB1-FC48-4139-A467-832507FF41C6}"/>
              </a:ext>
            </a:extLst>
          </p:cNvPr>
          <p:cNvPicPr>
            <a:picLocks noChangeAspect="1"/>
          </p:cNvPicPr>
          <p:nvPr/>
        </p:nvPicPr>
        <p:blipFill>
          <a:blip r:embed="rId2"/>
          <a:stretch>
            <a:fillRect/>
          </a:stretch>
        </p:blipFill>
        <p:spPr>
          <a:xfrm>
            <a:off x="3197622" y="1231101"/>
            <a:ext cx="5563606" cy="5350791"/>
          </a:xfrm>
          <a:prstGeom prst="rect">
            <a:avLst/>
          </a:prstGeom>
        </p:spPr>
      </p:pic>
    </p:spTree>
    <p:extLst>
      <p:ext uri="{BB962C8B-B14F-4D97-AF65-F5344CB8AC3E}">
        <p14:creationId xmlns:p14="http://schemas.microsoft.com/office/powerpoint/2010/main" val="464404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8E4D2D-5C81-41DA-85B0-70E4F7A2E971}"/>
              </a:ext>
            </a:extLst>
          </p:cNvPr>
          <p:cNvPicPr>
            <a:picLocks noChangeAspect="1"/>
          </p:cNvPicPr>
          <p:nvPr/>
        </p:nvPicPr>
        <p:blipFill>
          <a:blip r:embed="rId2"/>
          <a:stretch>
            <a:fillRect/>
          </a:stretch>
        </p:blipFill>
        <p:spPr>
          <a:xfrm>
            <a:off x="348879" y="2013417"/>
            <a:ext cx="10495265" cy="3630795"/>
          </a:xfrm>
          <a:prstGeom prst="rect">
            <a:avLst/>
          </a:prstGeom>
        </p:spPr>
      </p:pic>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sp>
        <p:nvSpPr>
          <p:cNvPr id="6" name="TextBox 5"/>
          <p:cNvSpPr txBox="1"/>
          <p:nvPr/>
        </p:nvSpPr>
        <p:spPr>
          <a:xfrm>
            <a:off x="8098970" y="2496457"/>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3</a:t>
            </a:r>
          </a:p>
        </p:txBody>
      </p:sp>
      <p:sp>
        <p:nvSpPr>
          <p:cNvPr id="7" name="TextBox 6"/>
          <p:cNvSpPr txBox="1"/>
          <p:nvPr/>
        </p:nvSpPr>
        <p:spPr>
          <a:xfrm>
            <a:off x="8098969" y="3182484"/>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10</a:t>
            </a:r>
          </a:p>
        </p:txBody>
      </p:sp>
      <p:sp>
        <p:nvSpPr>
          <p:cNvPr id="8" name="TextBox 7"/>
          <p:cNvSpPr txBox="1"/>
          <p:nvPr/>
        </p:nvSpPr>
        <p:spPr>
          <a:xfrm>
            <a:off x="8098968" y="3969657"/>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57</a:t>
            </a:r>
          </a:p>
        </p:txBody>
      </p:sp>
      <p:sp>
        <p:nvSpPr>
          <p:cNvPr id="9" name="TextBox 8"/>
          <p:cNvSpPr txBox="1"/>
          <p:nvPr/>
        </p:nvSpPr>
        <p:spPr>
          <a:xfrm>
            <a:off x="8098967" y="4615988"/>
            <a:ext cx="856343"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6</a:t>
            </a:r>
          </a:p>
        </p:txBody>
      </p:sp>
    </p:spTree>
    <p:extLst>
      <p:ext uri="{BB962C8B-B14F-4D97-AF65-F5344CB8AC3E}">
        <p14:creationId xmlns:p14="http://schemas.microsoft.com/office/powerpoint/2010/main" val="398346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A5E4228-756D-4576-B634-F491F007F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165" y="2172834"/>
            <a:ext cx="11290956" cy="4138723"/>
          </a:xfrm>
          <a:prstGeom prst="rect">
            <a:avLst/>
          </a:prstGeom>
        </p:spPr>
      </p:pic>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sp>
        <p:nvSpPr>
          <p:cNvPr id="3" name="TextBox 2"/>
          <p:cNvSpPr txBox="1"/>
          <p:nvPr/>
        </p:nvSpPr>
        <p:spPr>
          <a:xfrm>
            <a:off x="4267200" y="4789714"/>
            <a:ext cx="537028"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1</a:t>
            </a:r>
          </a:p>
        </p:txBody>
      </p:sp>
      <p:sp>
        <p:nvSpPr>
          <p:cNvPr id="5" name="TextBox 4"/>
          <p:cNvSpPr txBox="1"/>
          <p:nvPr/>
        </p:nvSpPr>
        <p:spPr>
          <a:xfrm>
            <a:off x="4267199" y="5374489"/>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0</a:t>
            </a:r>
          </a:p>
        </p:txBody>
      </p:sp>
      <p:sp>
        <p:nvSpPr>
          <p:cNvPr id="6" name="TextBox 5"/>
          <p:cNvSpPr txBox="1"/>
          <p:nvPr/>
        </p:nvSpPr>
        <p:spPr>
          <a:xfrm>
            <a:off x="5929083" y="4241915"/>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9</a:t>
            </a:r>
          </a:p>
        </p:txBody>
      </p:sp>
      <p:sp>
        <p:nvSpPr>
          <p:cNvPr id="7" name="TextBox 6"/>
          <p:cNvSpPr txBox="1"/>
          <p:nvPr/>
        </p:nvSpPr>
        <p:spPr>
          <a:xfrm>
            <a:off x="6262912" y="5374488"/>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7</a:t>
            </a:r>
          </a:p>
        </p:txBody>
      </p:sp>
      <p:sp>
        <p:nvSpPr>
          <p:cNvPr id="8" name="TextBox 7"/>
          <p:cNvSpPr txBox="1"/>
          <p:nvPr/>
        </p:nvSpPr>
        <p:spPr>
          <a:xfrm>
            <a:off x="7924796" y="4252072"/>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7</a:t>
            </a:r>
          </a:p>
        </p:txBody>
      </p:sp>
      <p:sp>
        <p:nvSpPr>
          <p:cNvPr id="9" name="TextBox 8"/>
          <p:cNvSpPr txBox="1"/>
          <p:nvPr/>
        </p:nvSpPr>
        <p:spPr>
          <a:xfrm>
            <a:off x="8320124" y="4789713"/>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6</a:t>
            </a:r>
          </a:p>
        </p:txBody>
      </p:sp>
      <p:sp>
        <p:nvSpPr>
          <p:cNvPr id="10" name="TextBox 9"/>
          <p:cNvSpPr txBox="1"/>
          <p:nvPr/>
        </p:nvSpPr>
        <p:spPr>
          <a:xfrm>
            <a:off x="9883958" y="4318846"/>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5</a:t>
            </a:r>
          </a:p>
        </p:txBody>
      </p:sp>
      <p:sp>
        <p:nvSpPr>
          <p:cNvPr id="11" name="TextBox 10"/>
          <p:cNvSpPr txBox="1"/>
          <p:nvPr/>
        </p:nvSpPr>
        <p:spPr>
          <a:xfrm>
            <a:off x="10315836" y="5374487"/>
            <a:ext cx="6676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3</a:t>
            </a:r>
          </a:p>
        </p:txBody>
      </p:sp>
    </p:spTree>
    <p:extLst>
      <p:ext uri="{BB962C8B-B14F-4D97-AF65-F5344CB8AC3E}">
        <p14:creationId xmlns:p14="http://schemas.microsoft.com/office/powerpoint/2010/main" val="230174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fade">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fade">
                                      <p:cBhvr>
                                        <p:cTn id="37" dur="500"/>
                                        <p:tgtEl>
                                          <p:spTgt spid="1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fade">
                                      <p:cBhvr>
                                        <p:cTn id="42"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AB6D12-4F80-4F3E-AED5-F884EFF2B0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5" y="1843039"/>
            <a:ext cx="11855936" cy="4179531"/>
          </a:xfrm>
          <a:prstGeom prst="rect">
            <a:avLst/>
          </a:prstGeom>
        </p:spPr>
      </p:pic>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a:t>
            </a:r>
            <a:r>
              <a:rPr lang="en-US" dirty="0">
                <a:latin typeface="Comic Sans MS" panose="030F0702030302020204" pitchFamily="66" charset="0"/>
              </a:rPr>
              <a:t>Recognise the use of letters to represent quantities that vary in addition and subtraction calculations.</a:t>
            </a:r>
          </a:p>
          <a:p>
            <a:pPr marL="0" indent="0">
              <a:buNone/>
            </a:pPr>
            <a:endParaRPr lang="en-US" dirty="0">
              <a:latin typeface="Comic Sans MS" panose="030F0702030302020204" pitchFamily="66" charset="0"/>
            </a:endParaRPr>
          </a:p>
        </p:txBody>
      </p:sp>
      <p:sp>
        <p:nvSpPr>
          <p:cNvPr id="3" name="TextBox 2"/>
          <p:cNvSpPr txBox="1"/>
          <p:nvPr/>
        </p:nvSpPr>
        <p:spPr>
          <a:xfrm>
            <a:off x="1470330" y="3429000"/>
            <a:ext cx="7375958" cy="452431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A + 2 = C</a:t>
            </a: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A + 1 = M           </a:t>
            </a:r>
            <a:r>
              <a:rPr lang="en-US" sz="2400" b="1" dirty="0" err="1">
                <a:solidFill>
                  <a:srgbClr val="FF0000"/>
                </a:solidFill>
                <a:latin typeface="Comic Sans MS" panose="030F0702030302020204" pitchFamily="66" charset="0"/>
              </a:rPr>
              <a:t>M</a:t>
            </a:r>
            <a:r>
              <a:rPr lang="en-US" sz="2400" b="1" dirty="0">
                <a:solidFill>
                  <a:srgbClr val="FF0000"/>
                </a:solidFill>
                <a:latin typeface="Comic Sans MS" panose="030F0702030302020204" pitchFamily="66" charset="0"/>
              </a:rPr>
              <a:t> – A = 1</a:t>
            </a:r>
          </a:p>
          <a:p>
            <a:endParaRPr lang="en-US" sz="2400" b="1" dirty="0">
              <a:solidFill>
                <a:srgbClr val="FF0000"/>
              </a:solidFill>
              <a:latin typeface="Comic Sans MS" panose="030F0702030302020204" pitchFamily="66" charset="0"/>
            </a:endParaRP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C -  A = 2             C – M = 1</a:t>
            </a:r>
          </a:p>
          <a:p>
            <a:endParaRPr lang="en-US" sz="2400" b="1" dirty="0">
              <a:solidFill>
                <a:srgbClr val="FF0000"/>
              </a:solidFill>
              <a:latin typeface="Comic Sans MS" panose="030F0702030302020204" pitchFamily="66" charset="0"/>
            </a:endParaRPr>
          </a:p>
          <a:p>
            <a:endParaRPr lang="en-US" sz="2400" b="1" dirty="0">
              <a:solidFill>
                <a:srgbClr val="FF0000"/>
              </a:solidFill>
              <a:latin typeface="Comic Sans MS" panose="030F0702030302020204" pitchFamily="66" charset="0"/>
            </a:endParaRPr>
          </a:p>
          <a:p>
            <a:endParaRPr lang="en-US" sz="2400" b="1" dirty="0">
              <a:solidFill>
                <a:srgbClr val="FF0000"/>
              </a:solidFill>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p:txBody>
      </p:sp>
    </p:spTree>
    <p:extLst>
      <p:ext uri="{BB962C8B-B14F-4D97-AF65-F5344CB8AC3E}">
        <p14:creationId xmlns:p14="http://schemas.microsoft.com/office/powerpoint/2010/main" val="3006350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52697" y="3526971"/>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omic Sans MS" panose="030F0702030302020204" pitchFamily="66" charset="0"/>
              </a:rPr>
              <a:t>I can find the value of letters in number sentences.</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Comic Sans MS" panose="030F0702030302020204" pitchFamily="66" charset="0"/>
            </a:endParaRPr>
          </a:p>
          <a:p>
            <a:pPr algn="ctr"/>
            <a:r>
              <a:rPr lang="en-US" sz="2400" b="1" dirty="0">
                <a:solidFill>
                  <a:schemeClr val="tx1"/>
                </a:solidFill>
                <a:latin typeface="Comic Sans MS" panose="030F0702030302020204" pitchFamily="66" charset="0"/>
              </a:rPr>
              <a:t>I can complete tables using letters that are represented by numbers.</a:t>
            </a:r>
          </a:p>
          <a:p>
            <a:pPr algn="ctr"/>
            <a:endParaRPr lang="en-US" sz="2400" b="1" dirty="0">
              <a:solidFill>
                <a:schemeClr val="tx1"/>
              </a:solidFill>
              <a:latin typeface="Comic Sans MS" panose="030F0702030302020204" pitchFamily="66" charset="0"/>
            </a:endParaRP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 can write number sentences linking numbers and letters</a:t>
            </a:r>
            <a:r>
              <a:rPr lang="en-US" sz="2800" b="1" dirty="0">
                <a:solidFill>
                  <a:schemeClr val="tx1"/>
                </a:solidFill>
                <a:latin typeface="Comic Sans MS" panose="030F0702030302020204" pitchFamily="66" charset="0"/>
              </a:rPr>
              <a:t>.</a:t>
            </a:r>
          </a:p>
        </p:txBody>
      </p:sp>
      <p:sp>
        <p:nvSpPr>
          <p:cNvPr id="12" name="Subtitle 2"/>
          <p:cNvSpPr txBox="1">
            <a:spLocks/>
          </p:cNvSpPr>
          <p:nvPr/>
        </p:nvSpPr>
        <p:spPr>
          <a:xfrm>
            <a:off x="426150" y="205010"/>
            <a:ext cx="11494242" cy="1217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mic Sans MS" panose="030F0702030302020204" pitchFamily="66" charset="0"/>
              </a:rPr>
              <a:t>WALT: </a:t>
            </a:r>
            <a:r>
              <a:rPr lang="en-US" sz="2400" dirty="0">
                <a:latin typeface="Comic Sans MS" panose="030F0702030302020204" pitchFamily="66" charset="0"/>
              </a:rPr>
              <a:t>Recognise the use of letters to represent quantities that vary in addition and subtraction calculations.</a:t>
            </a:r>
          </a:p>
          <a:p>
            <a:pPr marL="0" indent="0">
              <a:buNone/>
            </a:pPr>
            <a:endParaRPr lang="en-US" sz="2400" dirty="0">
              <a:latin typeface="Comic Sans MS" panose="030F0702030302020204" pitchFamily="66" charset="0"/>
            </a:endParaRPr>
          </a:p>
        </p:txBody>
      </p:sp>
      <p:pic>
        <p:nvPicPr>
          <p:cNvPr id="9" name="Picture 8">
            <a:extLst>
              <a:ext uri="{FF2B5EF4-FFF2-40B4-BE49-F238E27FC236}">
                <a16:creationId xmlns:a16="http://schemas.microsoft.com/office/drawing/2014/main" id="{A6E318A4-1FEB-451C-AE02-F770775F7CB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320662" y="1210636"/>
            <a:ext cx="1102890" cy="2123320"/>
          </a:xfrm>
          <a:prstGeom prst="rect">
            <a:avLst/>
          </a:prstGeom>
        </p:spPr>
      </p:pic>
      <p:pic>
        <p:nvPicPr>
          <p:cNvPr id="10" name="Picture 9">
            <a:extLst>
              <a:ext uri="{FF2B5EF4-FFF2-40B4-BE49-F238E27FC236}">
                <a16:creationId xmlns:a16="http://schemas.microsoft.com/office/drawing/2014/main" id="{FEE7A255-2B54-4F56-BAF9-93D99282894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544555" y="950957"/>
            <a:ext cx="1102890" cy="2305290"/>
          </a:xfrm>
          <a:prstGeom prst="rect">
            <a:avLst/>
          </a:prstGeom>
        </p:spPr>
      </p:pic>
      <p:pic>
        <p:nvPicPr>
          <p:cNvPr id="11" name="Picture 10">
            <a:extLst>
              <a:ext uri="{FF2B5EF4-FFF2-40B4-BE49-F238E27FC236}">
                <a16:creationId xmlns:a16="http://schemas.microsoft.com/office/drawing/2014/main" id="{724EC168-7900-4547-9C93-2FF4E903070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837492"/>
            <a:ext cx="1102890" cy="2496464"/>
          </a:xfrm>
          <a:prstGeom prst="rect">
            <a:avLst/>
          </a:prstGeom>
        </p:spPr>
      </p:pic>
    </p:spTree>
    <p:extLst>
      <p:ext uri="{BB962C8B-B14F-4D97-AF65-F5344CB8AC3E}">
        <p14:creationId xmlns:p14="http://schemas.microsoft.com/office/powerpoint/2010/main" val="3749974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48879" y="286690"/>
            <a:ext cx="11494242" cy="944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winkl" panose="02000000000000000000" pitchFamily="2" charset="0"/>
              </a:rPr>
              <a:t>WALT: </a:t>
            </a:r>
            <a:r>
              <a:rPr lang="en-US" dirty="0">
                <a:latin typeface="Twinkl" panose="02000000000000000000" pitchFamily="2" charset="0"/>
              </a:rPr>
              <a:t>Recognise the use of letters to represent quantities that vary in addition and subtraction calculations.</a:t>
            </a:r>
          </a:p>
          <a:p>
            <a:pPr marL="0" indent="0">
              <a:buNone/>
            </a:pPr>
            <a:endParaRPr lang="en-US" dirty="0">
              <a:latin typeface="Twinkl" panose="02000000000000000000" pitchFamily="2" charset="0"/>
            </a:endParaRPr>
          </a:p>
        </p:txBody>
      </p:sp>
      <p:sp>
        <p:nvSpPr>
          <p:cNvPr id="2" name="TextBox 1"/>
          <p:cNvSpPr txBox="1"/>
          <p:nvPr/>
        </p:nvSpPr>
        <p:spPr>
          <a:xfrm>
            <a:off x="348879" y="1407886"/>
            <a:ext cx="11494242" cy="6740307"/>
          </a:xfrm>
          <a:prstGeom prst="rect">
            <a:avLst/>
          </a:prstGeom>
          <a:noFill/>
        </p:spPr>
        <p:txBody>
          <a:bodyPr wrap="square" rtlCol="0">
            <a:spAutoFit/>
          </a:bodyPr>
          <a:lstStyle/>
          <a:p>
            <a:r>
              <a:rPr lang="en-US" sz="3600" b="1" dirty="0">
                <a:latin typeface="Twinkl" panose="02000000000000000000" pitchFamily="2" charset="0"/>
              </a:rPr>
              <a:t>Plenary</a:t>
            </a:r>
            <a:r>
              <a:rPr lang="en-US" sz="3600" dirty="0">
                <a:latin typeface="Twinkl" panose="02000000000000000000" pitchFamily="2" charset="0"/>
              </a:rPr>
              <a:t> – Which of these sentences are true and which is false?</a:t>
            </a:r>
            <a:endParaRPr lang="en-US" sz="5400" dirty="0">
              <a:latin typeface="Twinkl" panose="02000000000000000000" pitchFamily="2" charset="0"/>
            </a:endParaRPr>
          </a:p>
          <a:p>
            <a:endParaRPr lang="en-US" sz="5400" dirty="0">
              <a:latin typeface="Twinkl" panose="02000000000000000000" pitchFamily="2" charset="0"/>
            </a:endParaRPr>
          </a:p>
          <a:p>
            <a:pPr algn="ctr"/>
            <a:r>
              <a:rPr lang="en-US" sz="5400" b="1" dirty="0">
                <a:latin typeface="Twinkl" panose="02000000000000000000" pitchFamily="2" charset="0"/>
              </a:rPr>
              <a:t>j + 6 = 6 + j</a:t>
            </a:r>
          </a:p>
          <a:p>
            <a:pPr algn="ctr"/>
            <a:endParaRPr lang="en-US" sz="5400" b="1" dirty="0">
              <a:latin typeface="Twinkl" panose="02000000000000000000" pitchFamily="2" charset="0"/>
            </a:endParaRPr>
          </a:p>
          <a:p>
            <a:pPr algn="ctr"/>
            <a:r>
              <a:rPr lang="en-US" sz="5400" b="1" dirty="0">
                <a:latin typeface="Twinkl" panose="02000000000000000000" pitchFamily="2" charset="0"/>
              </a:rPr>
              <a:t>j – 6 = 6 – j</a:t>
            </a:r>
          </a:p>
          <a:p>
            <a:endParaRPr lang="en-US" sz="3600" dirty="0">
              <a:latin typeface="Twinkl" panose="02000000000000000000" pitchFamily="2" charset="0"/>
            </a:endParaRPr>
          </a:p>
          <a:p>
            <a:endParaRPr lang="en-US" sz="3600" dirty="0">
              <a:latin typeface="Twinkl" panose="02000000000000000000" pitchFamily="2" charset="0"/>
            </a:endParaRPr>
          </a:p>
          <a:p>
            <a:endParaRPr lang="en-US" sz="3600" dirty="0">
              <a:latin typeface="Twinkl" panose="02000000000000000000" pitchFamily="2" charset="0"/>
            </a:endParaRPr>
          </a:p>
          <a:p>
            <a:endParaRPr lang="en-US" sz="3600" dirty="0">
              <a:latin typeface="Twinkl" panose="02000000000000000000" pitchFamily="2" charset="0"/>
            </a:endParaRPr>
          </a:p>
        </p:txBody>
      </p:sp>
      <p:pic>
        <p:nvPicPr>
          <p:cNvPr id="1026" name="Picture 2" descr="Tick PNG, Vector, PSD, and Clipart With Transparent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2319" y="3222172"/>
            <a:ext cx="1158648" cy="11586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rong Cross clip art Free Clipart Download | FreeImages"/>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0" r="96471"/>
                    </a14:imgEffect>
                  </a14:imgLayer>
                </a14:imgProps>
              </a:ext>
              <a:ext uri="{28A0092B-C50C-407E-A947-70E740481C1C}">
                <a14:useLocalDpi xmlns:a14="http://schemas.microsoft.com/office/drawing/2010/main" val="0"/>
              </a:ext>
            </a:extLst>
          </a:blip>
          <a:srcRect/>
          <a:stretch>
            <a:fillRect/>
          </a:stretch>
        </p:blipFill>
        <p:spPr bwMode="auto">
          <a:xfrm>
            <a:off x="8022319" y="4981523"/>
            <a:ext cx="855322" cy="85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789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down)">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wipe(down)">
                                      <p:cBhvr>
                                        <p:cTn id="1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7020</TotalTime>
  <Words>761</Words>
  <Application>Microsoft Office PowerPoint</Application>
  <PresentationFormat>Widescreen</PresentationFormat>
  <Paragraphs>139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Comic Sans MS</vt:lpstr>
      <vt:lpstr>Twinkl</vt:lpstr>
      <vt:lpstr>Office Theme</vt:lpstr>
      <vt:lpstr>Maths </vt:lpstr>
      <vt:lpstr>Maths </vt:lpstr>
      <vt:lpstr>PowerPoint Presentation</vt:lpstr>
      <vt:lpstr>PowerPoint Presentation</vt:lpstr>
      <vt:lpstr>Starter – Solve this puzzle</vt:lpstr>
      <vt:lpstr>In the starter we just saw that we can represent numbers as shapes.</vt:lpstr>
      <vt:lpstr>We can do the same with letters.</vt:lpstr>
      <vt:lpstr>This is known as algebra!</vt:lpstr>
      <vt:lpstr>PowerPoint Presentation</vt:lpstr>
      <vt:lpstr>Check your understanding</vt:lpstr>
      <vt:lpstr>Check your understanding</vt:lpstr>
      <vt:lpstr>Mr. Jon and Ms. Colette have 10 pairs of shoes in total.  The number of pairs of shoes Mr. Jon has is J. The number of pairs of shoes Ms. Colette has is C. </vt:lpstr>
      <vt:lpstr>Check your understanding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Maths</dc:title>
  <dc:creator>Jonathan Michael Holliday (VSC-KTiH-MB)</dc:creator>
  <cp:lastModifiedBy>Colette Aisling Meade (VSC-KTiH-MB)</cp:lastModifiedBy>
  <cp:revision>31</cp:revision>
  <dcterms:created xsi:type="dcterms:W3CDTF">2024-09-26T06:59:01Z</dcterms:created>
  <dcterms:modified xsi:type="dcterms:W3CDTF">2026-09-18T03:31:58Z</dcterms:modified>
</cp:coreProperties>
</file>