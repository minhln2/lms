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3C7B-EDC8-4111-B9FA-3289B91DC12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6C6C-102F-45AA-9C82-CFF127EC5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62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3C7B-EDC8-4111-B9FA-3289B91DC12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6C6C-102F-45AA-9C82-CFF127EC5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31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3C7B-EDC8-4111-B9FA-3289B91DC12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6C6C-102F-45AA-9C82-CFF127EC5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5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3C7B-EDC8-4111-B9FA-3289B91DC12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6C6C-102F-45AA-9C82-CFF127EC5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72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3C7B-EDC8-4111-B9FA-3289B91DC12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6C6C-102F-45AA-9C82-CFF127EC5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51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3C7B-EDC8-4111-B9FA-3289B91DC12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6C6C-102F-45AA-9C82-CFF127EC5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11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3C7B-EDC8-4111-B9FA-3289B91DC12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6C6C-102F-45AA-9C82-CFF127EC5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5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3C7B-EDC8-4111-B9FA-3289B91DC12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6C6C-102F-45AA-9C82-CFF127EC5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5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3C7B-EDC8-4111-B9FA-3289B91DC12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6C6C-102F-45AA-9C82-CFF127EC5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75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3C7B-EDC8-4111-B9FA-3289B91DC12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6C6C-102F-45AA-9C82-CFF127EC5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4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3C7B-EDC8-4111-B9FA-3289B91DC12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6C6C-102F-45AA-9C82-CFF127EC5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1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93C7B-EDC8-4111-B9FA-3289B91DC12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A6C6C-102F-45AA-9C82-CFF127EC5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04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 err="1">
                <a:latin typeface="Comic Sans MS" panose="030F0702030302020204" pitchFamily="66" charset="0"/>
              </a:rPr>
              <a:t>Maths</a:t>
            </a:r>
            <a:r>
              <a:rPr lang="en-US" sz="96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8111" y="1909814"/>
            <a:ext cx="11272612" cy="4061472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6Ni.01 – </a:t>
            </a:r>
            <a:r>
              <a:rPr lang="en-US" sz="5400" dirty="0">
                <a:latin typeface="Comic Sans MS" panose="030F0702030302020204" pitchFamily="66" charset="0"/>
              </a:rPr>
              <a:t>To estimate, add and subtract integers.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4 – Addition and Subtraction</a:t>
            </a:r>
          </a:p>
        </p:txBody>
      </p:sp>
    </p:spTree>
    <p:extLst>
      <p:ext uri="{BB962C8B-B14F-4D97-AF65-F5344CB8AC3E}">
        <p14:creationId xmlns:p14="http://schemas.microsoft.com/office/powerpoint/2010/main" val="868241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estimate, calculate and check addition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estimate, calculate and check addition questions.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an explanation that convinces someone estimating and checking are important.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estimate, add and subtract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975F29-03C1-4115-9C73-2618F3C68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ED6A71-281B-4236-A2E4-6270463066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09F772-0400-49BF-8209-D18C51AFEA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6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50" y="516157"/>
            <a:ext cx="10515600" cy="138871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412E17D1-BD39-4525-8D6B-A6E1E8C6AB31}"/>
              </a:ext>
            </a:extLst>
          </p:cNvPr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estimate, add and subtract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29F673-9DFA-4AB0-B96A-DD24056A7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589" y="1580257"/>
            <a:ext cx="6072821" cy="507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44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50" y="62269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Starter</a:t>
            </a:r>
            <a:r>
              <a:rPr lang="en-US" sz="3600" dirty="0">
                <a:latin typeface="Comic Sans MS" panose="030F0702030302020204" pitchFamily="66" charset="0"/>
              </a:rPr>
              <a:t> – Sort these numbers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471310"/>
              </p:ext>
            </p:extLst>
          </p:nvPr>
        </p:nvGraphicFramePr>
        <p:xfrm>
          <a:off x="2005120" y="1843951"/>
          <a:ext cx="7357660" cy="4128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8830">
                  <a:extLst>
                    <a:ext uri="{9D8B030D-6E8A-4147-A177-3AD203B41FA5}">
                      <a16:colId xmlns:a16="http://schemas.microsoft.com/office/drawing/2014/main" val="1861322255"/>
                    </a:ext>
                  </a:extLst>
                </a:gridCol>
                <a:gridCol w="3678830">
                  <a:extLst>
                    <a:ext uri="{9D8B030D-6E8A-4147-A177-3AD203B41FA5}">
                      <a16:colId xmlns:a16="http://schemas.microsoft.com/office/drawing/2014/main" val="3121149589"/>
                    </a:ext>
                  </a:extLst>
                </a:gridCol>
              </a:tblGrid>
              <a:tr h="55707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winkl" panose="02000000000000000000" pitchFamily="2" charset="0"/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winkl" panose="02000000000000000000" pitchFamily="2" charset="0"/>
                        </a:rPr>
                        <a:t>Not an 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448429"/>
                  </a:ext>
                </a:extLst>
              </a:tr>
              <a:tr h="35494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57567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6150" y="2347415"/>
            <a:ext cx="103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-8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150" y="3908211"/>
            <a:ext cx="103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5.67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0960" y="5972472"/>
            <a:ext cx="103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¼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3788" y="6264859"/>
            <a:ext cx="1906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3,587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2422" y="6123134"/>
            <a:ext cx="1906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17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3949" y="2449045"/>
            <a:ext cx="1906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2 ½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3949" y="4200598"/>
            <a:ext cx="1906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4</a:t>
            </a:r>
            <a:r>
              <a:rPr lang="en-US" sz="2800" b="1" baseline="30000" dirty="0">
                <a:latin typeface="Comic Sans MS" panose="030F0702030302020204" pitchFamily="66" charset="0"/>
              </a:rPr>
              <a:t>2</a:t>
            </a:r>
            <a:r>
              <a:rPr lang="en-US" sz="2800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8528" y="818896"/>
            <a:ext cx="1906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2F556F3-3000-48E4-BA9D-9E815716C643}"/>
              </a:ext>
            </a:extLst>
          </p:cNvPr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estimate, add and subtract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24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7037E-6 L 0.15547 0.0414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73" y="2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 L 0.43763 -0.1861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875" y="-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07407E-6 L 0.53737 -0.4858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62" y="-2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48148E-6 L -0.06055 -0.5460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34" y="-27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3.33333E-6 L -0.60026 -0.3423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13" y="-17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59259E-6 L -0.47865 0.042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32" y="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48148E-6 L -0.2793 0.25532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71" y="1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96296E-6 L -0.45743 0.4078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878" y="20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57432"/>
            <a:ext cx="1051560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Add together these numbers.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28" y="2770495"/>
            <a:ext cx="6040272" cy="37613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Girls use a calculator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Boys don’t use a calculator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1884" y="757432"/>
            <a:ext cx="297521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Comic Sans MS" panose="030F0702030302020204" pitchFamily="66" charset="0"/>
              </a:rPr>
              <a:t>3004</a:t>
            </a:r>
          </a:p>
          <a:p>
            <a:r>
              <a:rPr lang="en-US" sz="5400" dirty="0">
                <a:latin typeface="Comic Sans MS" panose="030F0702030302020204" pitchFamily="66" charset="0"/>
              </a:rPr>
              <a:t>3040</a:t>
            </a:r>
          </a:p>
          <a:p>
            <a:r>
              <a:rPr lang="en-US" sz="5400" dirty="0">
                <a:latin typeface="Comic Sans MS" panose="030F0702030302020204" pitchFamily="66" charset="0"/>
              </a:rPr>
              <a:t>4003</a:t>
            </a:r>
          </a:p>
          <a:p>
            <a:r>
              <a:rPr lang="en-US" sz="5400" dirty="0">
                <a:latin typeface="Comic Sans MS" panose="030F0702030302020204" pitchFamily="66" charset="0"/>
              </a:rPr>
              <a:t>3400</a:t>
            </a:r>
          </a:p>
          <a:p>
            <a:r>
              <a:rPr lang="en-US" sz="5400" dirty="0">
                <a:latin typeface="Comic Sans MS" panose="030F0702030302020204" pitchFamily="66" charset="0"/>
              </a:rPr>
              <a:t>4030</a:t>
            </a:r>
          </a:p>
          <a:p>
            <a:r>
              <a:rPr lang="en-US" sz="5400" dirty="0">
                <a:latin typeface="Comic Sans MS" panose="030F0702030302020204" pitchFamily="66" charset="0"/>
              </a:rPr>
              <a:t>4300</a:t>
            </a:r>
          </a:p>
          <a:p>
            <a:r>
              <a:rPr lang="en-US" sz="5400" dirty="0">
                <a:latin typeface="Comic Sans MS" panose="030F0702030302020204" pitchFamily="66" charset="0"/>
              </a:rPr>
              <a:t>3400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C5E2E0C-9C5E-461C-B5ED-D20CBC0FC397}"/>
              </a:ext>
            </a:extLst>
          </p:cNvPr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To estimate, add and subtract integers.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10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29489"/>
            <a:ext cx="5494361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Did you all get the same answer?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57236"/>
            <a:ext cx="5917442" cy="39250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What does this show us we need to do before we add large numbers together?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1884" y="757432"/>
            <a:ext cx="297521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Comic Sans MS" panose="030F0702030302020204" pitchFamily="66" charset="0"/>
              </a:rPr>
              <a:t>3004</a:t>
            </a:r>
          </a:p>
          <a:p>
            <a:r>
              <a:rPr lang="en-US" sz="4800" dirty="0">
                <a:latin typeface="Comic Sans MS" panose="030F0702030302020204" pitchFamily="66" charset="0"/>
              </a:rPr>
              <a:t>3040</a:t>
            </a:r>
          </a:p>
          <a:p>
            <a:r>
              <a:rPr lang="en-US" sz="4800" dirty="0">
                <a:latin typeface="Comic Sans MS" panose="030F0702030302020204" pitchFamily="66" charset="0"/>
              </a:rPr>
              <a:t>4003</a:t>
            </a:r>
          </a:p>
          <a:p>
            <a:r>
              <a:rPr lang="en-US" sz="4800" dirty="0">
                <a:latin typeface="Comic Sans MS" panose="030F0702030302020204" pitchFamily="66" charset="0"/>
              </a:rPr>
              <a:t>3400</a:t>
            </a:r>
          </a:p>
          <a:p>
            <a:r>
              <a:rPr lang="en-US" sz="4800" dirty="0">
                <a:latin typeface="Comic Sans MS" panose="030F0702030302020204" pitchFamily="66" charset="0"/>
              </a:rPr>
              <a:t>4030</a:t>
            </a:r>
          </a:p>
          <a:p>
            <a:r>
              <a:rPr lang="en-US" sz="4800" dirty="0">
                <a:latin typeface="Comic Sans MS" panose="030F0702030302020204" pitchFamily="66" charset="0"/>
              </a:rPr>
              <a:t>4300</a:t>
            </a:r>
          </a:p>
          <a:p>
            <a:r>
              <a:rPr lang="en-US" sz="4800" dirty="0">
                <a:latin typeface="Comic Sans MS" panose="030F0702030302020204" pitchFamily="66" charset="0"/>
              </a:rPr>
              <a:t>3400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1C7E34A-6C5F-4242-BF5A-D7A0CBC86EA5}"/>
              </a:ext>
            </a:extLst>
          </p:cNvPr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estimate, add and subtract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53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356" y="1279715"/>
            <a:ext cx="1117182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What was quicker, using the calculator or the written method?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Which provided the most accurate results?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Does using a calculator always give the right answer?</a:t>
            </a:r>
          </a:p>
        </p:txBody>
      </p:sp>
      <p:pic>
        <p:nvPicPr>
          <p:cNvPr id="1026" name="Picture 2" descr="Calculator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56" b="95833" l="55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7769" y="4118192"/>
            <a:ext cx="3044231" cy="273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826D40B-413F-432C-925E-DA427EBE77C8}"/>
              </a:ext>
            </a:extLst>
          </p:cNvPr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estimate, add and subtract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041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292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Even when using a calculator you must: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84393"/>
            <a:ext cx="10515600" cy="3092569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4000" b="1" dirty="0">
                <a:latin typeface="Comic Sans MS" panose="030F0702030302020204" pitchFamily="66" charset="0"/>
              </a:rPr>
              <a:t>Estimate your answer first.</a:t>
            </a:r>
          </a:p>
          <a:p>
            <a:pPr>
              <a:buFontTx/>
              <a:buChar char="-"/>
            </a:pPr>
            <a:endParaRPr lang="en-US" sz="4000" b="1" dirty="0">
              <a:latin typeface="Comic Sans MS" panose="030F0702030302020204" pitchFamily="66" charset="0"/>
            </a:endParaRPr>
          </a:p>
          <a:p>
            <a:pPr>
              <a:buFontTx/>
              <a:buChar char="-"/>
            </a:pPr>
            <a:r>
              <a:rPr lang="en-US" sz="4000" b="1" dirty="0">
                <a:latin typeface="Comic Sans MS" panose="030F0702030302020204" pitchFamily="66" charset="0"/>
              </a:rPr>
              <a:t>Check your answer.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3BC5178-8048-4E49-B699-B3DCFEC21475}"/>
              </a:ext>
            </a:extLst>
          </p:cNvPr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estimate, add and subtract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10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150" y="1020407"/>
            <a:ext cx="1149424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Checking an answer means you </a:t>
            </a:r>
            <a:r>
              <a:rPr lang="en-US" sz="3200" b="1" dirty="0">
                <a:latin typeface="Comic Sans MS" panose="030F0702030302020204" pitchFamily="66" charset="0"/>
              </a:rPr>
              <a:t>do the question again</a:t>
            </a:r>
            <a:r>
              <a:rPr lang="en-US" sz="3200" dirty="0">
                <a:latin typeface="Comic Sans MS" panose="030F0702030302020204" pitchFamily="66" charset="0"/>
              </a:rPr>
              <a:t>. If you can it is a good idea to use a different method.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If the answer is not the same you need to do the question a third time to see which answer is correct.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Checking is </a:t>
            </a:r>
            <a:r>
              <a:rPr lang="en-US" sz="3200" b="1" dirty="0">
                <a:latin typeface="Comic Sans MS" panose="030F0702030302020204" pitchFamily="66" charset="0"/>
              </a:rPr>
              <a:t>not </a:t>
            </a:r>
            <a:r>
              <a:rPr lang="en-US" sz="3200" dirty="0">
                <a:latin typeface="Comic Sans MS" panose="030F0702030302020204" pitchFamily="66" charset="0"/>
              </a:rPr>
              <a:t>just looking at the answer.</a:t>
            </a:r>
          </a:p>
        </p:txBody>
      </p:sp>
      <p:pic>
        <p:nvPicPr>
          <p:cNvPr id="2050" name="Picture 2" descr="Petr Čech - Wikidat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057" y="4229067"/>
            <a:ext cx="2199943" cy="2628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B75DCDA-85DF-4556-818F-E68B8772D59C}"/>
              </a:ext>
            </a:extLst>
          </p:cNvPr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estimate, add and subtract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21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48729" y="709684"/>
            <a:ext cx="11024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Check your understanding.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50" y="1479125"/>
            <a:ext cx="71104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Add together this list of numbers.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6,732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4,939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3,205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1,053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5,555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6,732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9,824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7,832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6172" y="2864119"/>
            <a:ext cx="30570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Make sure you: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Estimate</a:t>
            </a: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Calculate</a:t>
            </a: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6719" y="2754230"/>
            <a:ext cx="53606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Ms. Anh says estimating and checking are a waste of time.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Write an explanation that </a:t>
            </a:r>
            <a:r>
              <a:rPr lang="en-US" sz="2400" b="1" dirty="0">
                <a:latin typeface="Comic Sans MS" panose="030F0702030302020204" pitchFamily="66" charset="0"/>
              </a:rPr>
              <a:t>convinces</a:t>
            </a:r>
            <a:r>
              <a:rPr lang="en-US" sz="2400" dirty="0">
                <a:latin typeface="Comic Sans MS" panose="030F0702030302020204" pitchFamily="66" charset="0"/>
              </a:rPr>
              <a:t> her that they are important and useful.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5F8467-0278-43E5-B103-F194FD8667EA}"/>
              </a:ext>
            </a:extLst>
          </p:cNvPr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estimate, add and subtract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36A3C3-AD68-4599-89AA-C06A8C007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225" y="1193999"/>
            <a:ext cx="558817" cy="126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826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estimate, calculate and check addition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estimate, calculate and check addition questions.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an explanation that convinces someone estimating and checking are important.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426150" y="205010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To estimate, add and subtract integers.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975F29-03C1-4115-9C73-2618F3C68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ED6A71-281B-4236-A2E4-6270463066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09F772-0400-49BF-8209-D18C51AFEA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43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5548</TotalTime>
  <Words>426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Comic Sans MS</vt:lpstr>
      <vt:lpstr>Twinkl</vt:lpstr>
      <vt:lpstr>Office Theme</vt:lpstr>
      <vt:lpstr>Maths </vt:lpstr>
      <vt:lpstr>PowerPoint Presentation</vt:lpstr>
      <vt:lpstr>Retrieval Practice</vt:lpstr>
      <vt:lpstr>Starter – Sort these numbers</vt:lpstr>
      <vt:lpstr>Add together these numbers.</vt:lpstr>
      <vt:lpstr>Did you all get the same answer?</vt:lpstr>
      <vt:lpstr>PowerPoint Presentation</vt:lpstr>
      <vt:lpstr>Even when using a calculator you must: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23</cp:revision>
  <dcterms:created xsi:type="dcterms:W3CDTF">2024-09-16T01:25:14Z</dcterms:created>
  <dcterms:modified xsi:type="dcterms:W3CDTF">2026-08-26T02:07:07Z</dcterms:modified>
</cp:coreProperties>
</file>