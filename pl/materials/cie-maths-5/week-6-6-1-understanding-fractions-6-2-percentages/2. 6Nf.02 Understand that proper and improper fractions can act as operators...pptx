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0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4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2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5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3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0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6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9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0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4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3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6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3424294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3600" b="1" dirty="0">
                <a:latin typeface="Comic Sans MS" panose="030F0702030302020204" pitchFamily="66" charset="0"/>
              </a:rPr>
              <a:t>6Nf.02: </a:t>
            </a:r>
            <a:r>
              <a:rPr lang="en-US" sz="36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379740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define the terms proper fraction, improper fraction and operator.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fraction as an operator to find amounts.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fraction as an operator to compare amounts.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9EBF33-5FAE-46D9-B72D-82EF416AA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5582E6-44E4-4CE8-9258-FBC7819D70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529EF6-6279-46EF-8C4B-41BC2D578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950" y="268524"/>
            <a:ext cx="395216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winkl" panose="02000000000000000000" pitchFamily="2" charset="0"/>
              </a:rPr>
              <a:t>WALT: </a:t>
            </a:r>
            <a:r>
              <a:rPr lang="en-US" sz="2400" dirty="0">
                <a:latin typeface="Twinkl" panose="02000000000000000000" pitchFamily="2" charset="0"/>
              </a:rPr>
              <a:t>Understand that proper and improper fractions can act as operators.</a:t>
            </a:r>
            <a:endParaRPr lang="en-US" dirty="0">
              <a:latin typeface="Twinkl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6B477-4059-4771-821E-A4F092FDB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0" y="1279297"/>
            <a:ext cx="11116100" cy="534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4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118" y="748993"/>
            <a:ext cx="11349251" cy="1325563"/>
          </a:xfrm>
        </p:spPr>
        <p:txBody>
          <a:bodyPr/>
          <a:lstStyle/>
          <a:p>
            <a:r>
              <a:rPr lang="en-US" sz="3600" b="1">
                <a:latin typeface="Comic Sans MS" panose="030F0702030302020204" pitchFamily="66" charset="0"/>
              </a:rPr>
              <a:t>Starter</a:t>
            </a:r>
            <a:r>
              <a:rPr lang="en-US" sz="3600">
                <a:latin typeface="Comic Sans MS" panose="030F0702030302020204" pitchFamily="66" charset="0"/>
              </a:rPr>
              <a:t> – </a:t>
            </a:r>
            <a:r>
              <a:rPr lang="en-US" sz="3600" dirty="0">
                <a:latin typeface="Comic Sans MS" panose="030F0702030302020204" pitchFamily="66" charset="0"/>
              </a:rPr>
              <a:t>Define these terms to your partner: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18" y="2074556"/>
            <a:ext cx="10515600" cy="46674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Proper fraction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600" b="1" dirty="0">
              <a:latin typeface="Comic Sans MS" panose="030F0702030302020204" pitchFamily="66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600" b="1" dirty="0">
              <a:latin typeface="Comic Sans MS" panose="030F0702030302020204" pitchFamily="66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Improper fraction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600" b="1" dirty="0">
              <a:latin typeface="Comic Sans MS" panose="030F0702030302020204" pitchFamily="66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600" b="1" dirty="0">
              <a:latin typeface="Comic Sans MS" panose="030F0702030302020204" pitchFamily="66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Operator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53887" y="1774234"/>
            <a:ext cx="7110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fraction in which the numerator (top number) is greater than the denominator (bottom number.)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4956" y="3685794"/>
            <a:ext cx="7110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fraction in which the denominator (bottom number) is greater than the numerator (top number.)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5269" y="5596968"/>
            <a:ext cx="7110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command that tells you what to do with the numbers. E.g. + - x ÷</a:t>
            </a:r>
          </a:p>
        </p:txBody>
      </p:sp>
    </p:spTree>
    <p:extLst>
      <p:ext uri="{BB962C8B-B14F-4D97-AF65-F5344CB8AC3E}">
        <p14:creationId xmlns:p14="http://schemas.microsoft.com/office/powerpoint/2010/main" val="57953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5218"/>
            <a:ext cx="10707806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Think about what we learned last lesson.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406" y="2743199"/>
            <a:ext cx="10515600" cy="3065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What operator does a fraction act as?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59905" y="4275835"/>
            <a:ext cx="1835625" cy="306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÷</a:t>
            </a:r>
          </a:p>
        </p:txBody>
      </p:sp>
    </p:spTree>
    <p:extLst>
      <p:ext uri="{BB962C8B-B14F-4D97-AF65-F5344CB8AC3E}">
        <p14:creationId xmlns:p14="http://schemas.microsoft.com/office/powerpoint/2010/main" val="220074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8472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If Mr. Jon eats ½ of a pizza that’s </a:t>
            </a: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one</a:t>
            </a:r>
            <a:r>
              <a:rPr lang="en-US" sz="4000" dirty="0">
                <a:latin typeface="Comic Sans MS" panose="030F0702030302020204" pitchFamily="66" charset="0"/>
              </a:rPr>
              <a:t> pizza divided into </a:t>
            </a: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two </a:t>
            </a:r>
            <a:r>
              <a:rPr lang="en-US" sz="4000" dirty="0">
                <a:latin typeface="Comic Sans MS" panose="030F0702030302020204" pitchFamily="66" charset="0"/>
              </a:rPr>
              <a:t>equal parts.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25336"/>
            <a:ext cx="1550158" cy="3406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½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9,000+ Pizza Clipart Stock Illustrations, Royalty-Free Vector Graphics &amp; Clip  Art - i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05" b="100000" l="327" r="9509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9653"/>
          <a:stretch/>
        </p:blipFill>
        <p:spPr bwMode="auto">
          <a:xfrm>
            <a:off x="6848331" y="2197289"/>
            <a:ext cx="2268373" cy="45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006221" y="2975212"/>
            <a:ext cx="1356529" cy="4913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62750" y="2674961"/>
            <a:ext cx="2382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One pizza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134454" y="4147188"/>
            <a:ext cx="1509498" cy="738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48727" y="3840008"/>
            <a:ext cx="2382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Divided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2006221" y="5005055"/>
            <a:ext cx="1637731" cy="2134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48727" y="4911320"/>
            <a:ext cx="23829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Into two equal parts</a:t>
            </a:r>
          </a:p>
        </p:txBody>
      </p:sp>
      <p:pic>
        <p:nvPicPr>
          <p:cNvPr id="18" name="Picture 2" descr="9,000+ Pizza Clipart Stock Illustrations, Royalty-Free Vector Graphics &amp; Clip  Art - i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05" b="100000" l="327" r="9509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073"/>
          <a:stretch/>
        </p:blipFill>
        <p:spPr bwMode="auto">
          <a:xfrm>
            <a:off x="9117127" y="2201168"/>
            <a:ext cx="2204401" cy="45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35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-0.09297 0.0118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48" y="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96296E-6 L 0.07748 -0.004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7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5720"/>
            <a:ext cx="10515600" cy="1325563"/>
          </a:xfrm>
        </p:spPr>
        <p:txBody>
          <a:bodyPr/>
          <a:lstStyle/>
          <a:p>
            <a:r>
              <a:rPr lang="en-US" sz="3600" dirty="0">
                <a:latin typeface="Comic Sans MS" panose="030F0702030302020204" pitchFamily="66" charset="0"/>
              </a:rPr>
              <a:t>We can also use improper fractions as operators.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16" y="2333767"/>
            <a:ext cx="11978185" cy="1323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If I have 5 cakes divided by 4 people how much cake does each person get?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Birthday cake clipart, dessert illustration | Free Vector - rawpixel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6625" l="6875" r="92750">
                        <a14:foregroundMark x1="12125" y1="59125" x2="12875" y2="66125"/>
                        <a14:foregroundMark x1="13375" y1="66875" x2="29500" y2="78125"/>
                        <a14:foregroundMark x1="29125" y1="77625" x2="55250" y2="81875"/>
                        <a14:foregroundMark x1="55125" y1="81500" x2="76625" y2="76750"/>
                        <a14:foregroundMark x1="78000" y1="75625" x2="87375" y2="66750"/>
                        <a14:foregroundMark x1="87750" y1="66000" x2="87500" y2="59500"/>
                        <a14:foregroundMark x1="86625" y1="56000" x2="87375" y2="62000"/>
                        <a14:foregroundMark x1="85750" y1="56625" x2="84625" y2="54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80"/>
          <a:stretch/>
        </p:blipFill>
        <p:spPr bwMode="auto">
          <a:xfrm>
            <a:off x="16271" y="3507474"/>
            <a:ext cx="2509353" cy="21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irthday cake clipart, dessert illustration | Free Vector - rawpixel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6625" l="6875" r="92750">
                        <a14:foregroundMark x1="12125" y1="59125" x2="12875" y2="66125"/>
                        <a14:foregroundMark x1="13375" y1="66875" x2="29500" y2="78125"/>
                        <a14:foregroundMark x1="29125" y1="77625" x2="55250" y2="81875"/>
                        <a14:foregroundMark x1="55125" y1="81500" x2="76625" y2="76750"/>
                        <a14:foregroundMark x1="78000" y1="75625" x2="87375" y2="66750"/>
                        <a14:foregroundMark x1="87750" y1="66000" x2="87500" y2="59500"/>
                        <a14:foregroundMark x1="86625" y1="56000" x2="87375" y2="62000"/>
                        <a14:foregroundMark x1="85750" y1="56625" x2="84625" y2="54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80"/>
          <a:stretch/>
        </p:blipFill>
        <p:spPr bwMode="auto">
          <a:xfrm>
            <a:off x="838200" y="5186149"/>
            <a:ext cx="2509353" cy="21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irthday cake clipart, dessert illustration | Free Vector - rawpixel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6625" l="6875" r="92750">
                        <a14:foregroundMark x1="12125" y1="59125" x2="12875" y2="66125"/>
                        <a14:foregroundMark x1="13375" y1="66875" x2="29500" y2="78125"/>
                        <a14:foregroundMark x1="29125" y1="77625" x2="55250" y2="81875"/>
                        <a14:foregroundMark x1="55125" y1="81500" x2="76625" y2="76750"/>
                        <a14:foregroundMark x1="78000" y1="75625" x2="87375" y2="66750"/>
                        <a14:foregroundMark x1="87750" y1="66000" x2="87500" y2="59500"/>
                        <a14:foregroundMark x1="86625" y1="56000" x2="87375" y2="62000"/>
                        <a14:foregroundMark x1="85750" y1="56625" x2="84625" y2="54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80"/>
          <a:stretch/>
        </p:blipFill>
        <p:spPr bwMode="auto">
          <a:xfrm>
            <a:off x="2251138" y="3582537"/>
            <a:ext cx="2509353" cy="21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irthday cake clipart, dessert illustration | Free Vector - rawpixel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6625" l="6875" r="92750">
                        <a14:foregroundMark x1="12125" y1="59125" x2="12875" y2="66125"/>
                        <a14:foregroundMark x1="13375" y1="66875" x2="29500" y2="78125"/>
                        <a14:foregroundMark x1="29125" y1="77625" x2="55250" y2="81875"/>
                        <a14:foregroundMark x1="55125" y1="81500" x2="76625" y2="76750"/>
                        <a14:foregroundMark x1="78000" y1="75625" x2="87375" y2="66750"/>
                        <a14:foregroundMark x1="87750" y1="66000" x2="87500" y2="59500"/>
                        <a14:foregroundMark x1="86625" y1="56000" x2="87375" y2="62000"/>
                        <a14:foregroundMark x1="85750" y1="56625" x2="84625" y2="54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80"/>
          <a:stretch/>
        </p:blipFill>
        <p:spPr bwMode="auto">
          <a:xfrm>
            <a:off x="3073067" y="5186148"/>
            <a:ext cx="2509353" cy="21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irthday cake clipart, dessert illustration | Free Vector - rawpixel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6625" l="6875" r="92750">
                        <a14:foregroundMark x1="12125" y1="59125" x2="12875" y2="66125"/>
                        <a14:foregroundMark x1="13375" y1="66875" x2="29500" y2="78125"/>
                        <a14:foregroundMark x1="29125" y1="77625" x2="55250" y2="81875"/>
                        <a14:foregroundMark x1="55125" y1="81500" x2="76625" y2="76750"/>
                        <a14:foregroundMark x1="78000" y1="75625" x2="87375" y2="66750"/>
                        <a14:foregroundMark x1="87750" y1="66000" x2="87500" y2="59500"/>
                        <a14:foregroundMark x1="86625" y1="56000" x2="87375" y2="62000"/>
                        <a14:foregroundMark x1="85750" y1="56625" x2="84625" y2="54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80"/>
          <a:stretch/>
        </p:blipFill>
        <p:spPr bwMode="auto">
          <a:xfrm>
            <a:off x="4486005" y="3609831"/>
            <a:ext cx="2509353" cy="21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00" b="92667" l="27667" r="68167"/>
                    </a14:imgEffect>
                  </a14:imgLayer>
                </a14:imgProps>
              </a:ext>
            </a:extLst>
          </a:blip>
          <a:srcRect l="25807" r="23885"/>
          <a:stretch/>
        </p:blipFill>
        <p:spPr>
          <a:xfrm>
            <a:off x="9140229" y="3096469"/>
            <a:ext cx="1392071" cy="27670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00" b="92667" l="27667" r="68167"/>
                    </a14:imgEffect>
                  </a14:imgLayer>
                </a14:imgProps>
              </a:ext>
            </a:extLst>
          </a:blip>
          <a:srcRect l="25807" r="23885"/>
          <a:stretch/>
        </p:blipFill>
        <p:spPr>
          <a:xfrm>
            <a:off x="8308352" y="4234785"/>
            <a:ext cx="1392071" cy="276708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00" b="92667" l="27667" r="68167"/>
                    </a14:imgEffect>
                  </a14:imgLayer>
                </a14:imgProps>
              </a:ext>
            </a:extLst>
          </a:blip>
          <a:srcRect l="25807" r="23885"/>
          <a:stretch/>
        </p:blipFill>
        <p:spPr>
          <a:xfrm>
            <a:off x="7465556" y="3096974"/>
            <a:ext cx="1392071" cy="27670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00" b="92667" l="27667" r="68167"/>
                    </a14:imgEffect>
                  </a14:imgLayer>
                </a14:imgProps>
              </a:ext>
            </a:extLst>
          </a:blip>
          <a:srcRect l="25807" r="23885"/>
          <a:stretch/>
        </p:blipFill>
        <p:spPr>
          <a:xfrm>
            <a:off x="6698167" y="4203005"/>
            <a:ext cx="1392071" cy="2767084"/>
          </a:xfrm>
          <a:prstGeom prst="rect">
            <a:avLst/>
          </a:prstGeom>
        </p:spPr>
      </p:pic>
      <p:cxnSp>
        <p:nvCxnSpPr>
          <p:cNvPr id="15" name="Straight Connector 14"/>
          <p:cNvCxnSpPr>
            <a:stCxn id="2050" idx="0"/>
          </p:cNvCxnSpPr>
          <p:nvPr/>
        </p:nvCxnSpPr>
        <p:spPr>
          <a:xfrm>
            <a:off x="1270948" y="3507474"/>
            <a:ext cx="37152" cy="16786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07430" y="4243387"/>
            <a:ext cx="1727035" cy="285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539108" y="3582323"/>
            <a:ext cx="37152" cy="16786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2675590" y="4318236"/>
            <a:ext cx="1727035" cy="285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766156" y="3582323"/>
            <a:ext cx="37152" cy="16786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4902638" y="4318236"/>
            <a:ext cx="1727035" cy="285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085093" y="5186148"/>
            <a:ext cx="37152" cy="16786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1221575" y="5922061"/>
            <a:ext cx="1727035" cy="285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368615" y="5200435"/>
            <a:ext cx="37152" cy="16786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3505097" y="5936348"/>
            <a:ext cx="1727035" cy="285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686197" y="3657600"/>
                <a:ext cx="1132764" cy="1665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5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3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197" y="3657600"/>
                <a:ext cx="1132764" cy="1665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94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97" y="46670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We can also use improper fractions as operators.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15" y="2213292"/>
            <a:ext cx="11978185" cy="1323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If 7 people share 9 cakes, how much would they get each?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8616766" y="3753853"/>
                <a:ext cx="1132764" cy="164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US" sz="5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600" b="1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766" y="3753853"/>
                <a:ext cx="1132764" cy="1648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6DA94BE-1E53-46A1-A51C-4278503914B3}"/>
              </a:ext>
            </a:extLst>
          </p:cNvPr>
          <p:cNvSpPr txBox="1">
            <a:spLocks/>
          </p:cNvSpPr>
          <p:nvPr/>
        </p:nvSpPr>
        <p:spPr>
          <a:xfrm>
            <a:off x="1557962" y="3792727"/>
            <a:ext cx="4686654" cy="306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 ÷ 7 =</a:t>
            </a:r>
          </a:p>
        </p:txBody>
      </p:sp>
    </p:spTree>
    <p:extLst>
      <p:ext uri="{BB962C8B-B14F-4D97-AF65-F5344CB8AC3E}">
        <p14:creationId xmlns:p14="http://schemas.microsoft.com/office/powerpoint/2010/main" val="92120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950" y="805218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We can use fractions as operators to find amounts.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891353" y="24725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latin typeface="Comic Sans MS" panose="030F0702030302020204" pitchFamily="66" charset="0"/>
              </a:rPr>
              <a:t>What is ¾ of 12?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201305" y="3798083"/>
            <a:ext cx="78918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First we divide by the denominator.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3122" y="4106921"/>
            <a:ext cx="3289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 ÷ 4 = 3</a:t>
            </a: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201305" y="4919474"/>
            <a:ext cx="78918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Then we multiply by the numerator.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3121" y="5228312"/>
            <a:ext cx="3289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x 3 = 9</a:t>
            </a:r>
          </a:p>
        </p:txBody>
      </p:sp>
    </p:spTree>
    <p:extLst>
      <p:ext uri="{BB962C8B-B14F-4D97-AF65-F5344CB8AC3E}">
        <p14:creationId xmlns:p14="http://schemas.microsoft.com/office/powerpoint/2010/main" val="349969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1" grpId="0"/>
      <p:bldP spid="31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29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1. 6 children share 5 pizzas equally. How much pizza does each child get?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2. 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of 28?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3. Would you rather be given ¾ of $80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$30? Why?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29766"/>
              </a:xfrm>
              <a:blipFill>
                <a:blip r:embed="rId2"/>
                <a:stretch>
                  <a:fillRect l="-1507" t="-2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233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29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1. 6 children share 5 pizzas equally. How much pizza does each child get?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3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2. 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of 28?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3. Would you rather be given ¾ of $80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$30? Why?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29766"/>
              </a:xfrm>
              <a:blipFill>
                <a:blip r:embed="rId2"/>
                <a:stretch>
                  <a:fillRect l="-1507" t="-2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32060" y="4140508"/>
            <a:ext cx="1455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21122" y="5786646"/>
                <a:ext cx="8291502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¾ of $80 = $60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 of $30 = $54     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122" y="5786646"/>
                <a:ext cx="8291502" cy="714683"/>
              </a:xfrm>
              <a:prstGeom prst="rect">
                <a:avLst/>
              </a:prstGeom>
              <a:blipFill>
                <a:blip r:embed="rId3"/>
                <a:stretch>
                  <a:fillRect l="-1544" r="-14632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65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1C728-7E05-421B-B6A1-2D59F8AA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867" y="455224"/>
            <a:ext cx="6334401" cy="63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46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347E4-E506-4F63-A3BD-345CCA9C5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13" y="1716641"/>
            <a:ext cx="10386174" cy="3424717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proper and improper fractions can act as operators.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16453" y="2702257"/>
            <a:ext cx="1856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6603" y="3228889"/>
            <a:ext cx="283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proper fraction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488" y="4214983"/>
            <a:ext cx="3806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improper fraction</a:t>
            </a:r>
          </a:p>
        </p:txBody>
      </p:sp>
    </p:spTree>
    <p:extLst>
      <p:ext uri="{BB962C8B-B14F-4D97-AF65-F5344CB8AC3E}">
        <p14:creationId xmlns:p14="http://schemas.microsoft.com/office/powerpoint/2010/main" val="335097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9CD533-17E7-42D3-9D39-3BCEB30E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30" y="1845588"/>
            <a:ext cx="11038975" cy="3156404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winkl" panose="02000000000000000000" pitchFamily="2" charset="0"/>
              </a:rPr>
              <a:t>WALT: </a:t>
            </a:r>
            <a:r>
              <a:rPr lang="en-US" sz="2400" dirty="0">
                <a:latin typeface="Twinkl" panose="02000000000000000000" pitchFamily="2" charset="0"/>
              </a:rPr>
              <a:t>Understand that proper and improper fractions can act as operators.</a:t>
            </a:r>
            <a:endParaRPr lang="en-US" dirty="0">
              <a:latin typeface="Twinkl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38985" y="2715904"/>
            <a:ext cx="941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007" y="2715904"/>
            <a:ext cx="941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5509" y="2936775"/>
            <a:ext cx="941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2299" y="3622769"/>
            <a:ext cx="941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8367" y="3644661"/>
            <a:ext cx="941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4869" y="3780848"/>
            <a:ext cx="941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winkl" panose="02000000000000000000" pitchFamily="2" charset="0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248678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8BB0C0-C919-4CAB-95B7-7DB86C1D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96" y="1281466"/>
            <a:ext cx="11358808" cy="4128806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winkl" panose="02000000000000000000" pitchFamily="2" charset="0"/>
              </a:rPr>
              <a:t>WALT: </a:t>
            </a:r>
            <a:r>
              <a:rPr lang="en-US" sz="2400" dirty="0">
                <a:latin typeface="Twinkl" panose="02000000000000000000" pitchFamily="2" charset="0"/>
              </a:rPr>
              <a:t>Understand that proper and improper fractions can act as operators.</a:t>
            </a:r>
            <a:endParaRPr lang="en-US" dirty="0">
              <a:latin typeface="Twinkl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4979" y="3190226"/>
            <a:ext cx="105497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Ms. Colette.  400km divided by 8 is 50km. 50km multiplied by 7 is 350km so Mr. Jon rode 350km. 300km divided by 10 is 30km. 30km multiplied by 12 is 360km so Ms. Colette rode 360km. 360km &gt; 350km so Ms. Colette rode further.</a:t>
            </a:r>
          </a:p>
        </p:txBody>
      </p:sp>
    </p:spTree>
    <p:extLst>
      <p:ext uri="{BB962C8B-B14F-4D97-AF65-F5344CB8AC3E}">
        <p14:creationId xmlns:p14="http://schemas.microsoft.com/office/powerpoint/2010/main" val="63213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define the terms proper fraction, improper fraction and operator.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fraction as an operator to find amounts.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fraction as an operator to compare amounts.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9EBF33-5FAE-46D9-B72D-82EF416AA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5582E6-44E4-4CE8-9258-FBC7819D70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529EF6-6279-46EF-8C4B-41BC2D578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6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679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Define these terms to your partner:</vt:lpstr>
      <vt:lpstr>Think about what we learned last lesson. </vt:lpstr>
      <vt:lpstr>If Mr. Jon eats ½ of a pizza that’s one pizza divided into two equal parts.</vt:lpstr>
      <vt:lpstr>We can also use improper fractions as operators.</vt:lpstr>
      <vt:lpstr>We can also use improper fractions as operators.</vt:lpstr>
      <vt:lpstr>We can use fractions as operators to find amounts.</vt:lpstr>
      <vt:lpstr>Check your understanding</vt:lpstr>
      <vt:lpstr>Check your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28</cp:revision>
  <dcterms:created xsi:type="dcterms:W3CDTF">2024-10-24T07:19:11Z</dcterms:created>
  <dcterms:modified xsi:type="dcterms:W3CDTF">2026-09-22T01:46:15Z</dcterms:modified>
</cp:coreProperties>
</file>