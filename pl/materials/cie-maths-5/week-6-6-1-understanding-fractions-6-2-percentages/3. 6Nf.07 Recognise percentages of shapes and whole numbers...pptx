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5" r:id="rId6"/>
    <p:sldId id="262" r:id="rId7"/>
    <p:sldId id="264" r:id="rId8"/>
    <p:sldId id="268" r:id="rId9"/>
    <p:sldId id="263" r:id="rId10"/>
    <p:sldId id="266" r:id="rId11"/>
    <p:sldId id="267" r:id="rId12"/>
    <p:sldId id="269" r:id="rId13"/>
    <p:sldId id="271" r:id="rId14"/>
    <p:sldId id="272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6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03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8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1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2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5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2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2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1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9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59059-425F-4434-B113-8F53CB85FFE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3E698-1E79-452A-A6DF-99298307C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0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3424294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6Nf.07: </a:t>
            </a:r>
            <a:r>
              <a:rPr lang="en-US" sz="40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20122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find percentages of amounts.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find percentages of amounts.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create my own percentage bingo card.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7AC8C-A9B1-4F58-B389-30147C5F5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E417C3-61A7-406E-936C-9A039EC0D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470059-D2C4-432E-811D-BDB1BCE76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9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0" y="600363"/>
            <a:ext cx="4648201" cy="81558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240E71-B142-4177-9C80-74E099414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39" y="1245284"/>
            <a:ext cx="10298574" cy="544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 </a:t>
            </a:r>
            <a:r>
              <a:rPr lang="en-US" sz="4000" dirty="0">
                <a:latin typeface="Comic Sans MS" panose="030F0702030302020204" pitchFamily="66" charset="0"/>
              </a:rPr>
              <a:t>– Discuss with your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7771"/>
            <a:ext cx="10515600" cy="3869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How do we find 10% of a number?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How do we find 20%?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How do we find 1%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225116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What is percentage?</a:t>
            </a:r>
            <a:endParaRPr lang="en-US" sz="4000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00" y="2106550"/>
            <a:ext cx="11859471" cy="2931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Percent means out of 100.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When we talk about percent, we mean “how many parts out of 100?”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71331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0" y="1070283"/>
            <a:ext cx="11873986" cy="1325563"/>
          </a:xfrm>
        </p:spPr>
        <p:txBody>
          <a:bodyPr>
            <a:no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Just like fractions we can use percentages as operators.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762" y="2931886"/>
            <a:ext cx="10515600" cy="957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could we find 40% of 600?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8579" y="4106555"/>
            <a:ext cx="8524164" cy="957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To find 10% we divide 600 by 10.   60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8579" y="5064498"/>
            <a:ext cx="8524164" cy="957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To find 40% we multiply 60 by 4.   240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5543" y="4425869"/>
            <a:ext cx="2380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240</a:t>
            </a:r>
          </a:p>
        </p:txBody>
      </p:sp>
    </p:spTree>
    <p:extLst>
      <p:ext uri="{BB962C8B-B14F-4D97-AF65-F5344CB8AC3E}">
        <p14:creationId xmlns:p14="http://schemas.microsoft.com/office/powerpoint/2010/main" val="194195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0" y="1070283"/>
            <a:ext cx="11873986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winkl" panose="02000000000000000000" pitchFamily="2" charset="0"/>
              </a:rPr>
              <a:t>Just like fractions we can use percentages as operators.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762" y="2931886"/>
            <a:ext cx="10515600" cy="957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could we find 4% of 600?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Recognise percentages of shapes and whole numbers.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8579" y="4106555"/>
            <a:ext cx="8524164" cy="957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To find 1% we divide 600 by 100.   6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8579" y="5064498"/>
            <a:ext cx="8524164" cy="957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To find 4% we multiply 6 by 4.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5543" y="4425869"/>
            <a:ext cx="2380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Twinkl" panose="02000000000000000000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1329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0" y="1070283"/>
            <a:ext cx="11873986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We can also calculate the percentages of shapes.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562" y="2612572"/>
            <a:ext cx="10515600" cy="9579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What percentage of this shape is shaded?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2050" name="Picture 2" descr="Clip Art: Labeled Fractions: 10 3/10 Three Tenths Color I abcteach.co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58" b="75000" l="658" r="67763">
                        <a14:foregroundMark x1="12171" y1="22697" x2="25658" y2="31250"/>
                        <a14:foregroundMark x1="20395" y1="39474" x2="10526" y2="39474"/>
                        <a14:foregroundMark x1="19408" y1="48026" x2="14803" y2="50987"/>
                        <a14:foregroundMark x1="30592" y1="52303" x2="26974" y2="60526"/>
                        <a14:foregroundMark x1="23026" y1="45395" x2="18092" y2="52632"/>
                        <a14:foregroundMark x1="41776" y1="53618" x2="42434" y2="61842"/>
                        <a14:foregroundMark x1="53289" y1="55921" x2="50987" y2="50658"/>
                        <a14:foregroundMark x1="58882" y1="50000" x2="39803" y2="45724"/>
                        <a14:foregroundMark x1="61513" y1="40789" x2="46382" y2="381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1187" b="26574"/>
          <a:stretch/>
        </p:blipFill>
        <p:spPr bwMode="auto">
          <a:xfrm>
            <a:off x="541848" y="3279241"/>
            <a:ext cx="2761225" cy="2946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76800" y="3321796"/>
                <a:ext cx="5558972" cy="358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>
                    <a:latin typeface="Comic Sans MS" panose="030F0702030302020204" pitchFamily="66" charset="0"/>
                  </a:rPr>
                  <a:t>As a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is shaded.</a:t>
                </a:r>
              </a:p>
              <a:p>
                <a:endParaRPr lang="en-US" sz="2400" dirty="0">
                  <a:latin typeface="Comic Sans MS" panose="030F0702030302020204" pitchFamily="66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1600" dirty="0">
                  <a:latin typeface="Comic Sans MS" panose="030F0702030302020204" pitchFamily="66" charset="0"/>
                </a:endParaRPr>
              </a:p>
              <a:p>
                <a:endParaRPr lang="en-US" sz="1600" dirty="0">
                  <a:latin typeface="Comic Sans MS" panose="030F0702030302020204" pitchFamily="66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num>
                      <m:den>
                        <m:r>
                          <a:rPr lang="en-US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</m:oMath>
                </a14:m>
                <a:r>
                  <a:rPr lang="en-US" sz="3600" b="1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 = 30%</a:t>
                </a:r>
              </a:p>
              <a:p>
                <a:endParaRPr lang="en-US" dirty="0">
                  <a:latin typeface="Comic Sans MS" panose="030F0702030302020204" pitchFamily="66" charset="0"/>
                </a:endParaRPr>
              </a:p>
              <a:p>
                <a:endParaRPr lang="en-US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321796"/>
                <a:ext cx="5558972" cy="3580788"/>
              </a:xfrm>
              <a:prstGeom prst="rect">
                <a:avLst/>
              </a:prstGeom>
              <a:blipFill>
                <a:blip r:embed="rId4"/>
                <a:stretch>
                  <a:fillRect l="-2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00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809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23885"/>
            <a:ext cx="10515600" cy="359342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dirty="0">
                <a:latin typeface="Comic Sans MS" panose="030F0702030302020204" pitchFamily="66" charset="0"/>
              </a:rPr>
              <a:t>What is 70% of 350?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2. What percentage of this shape is shaded?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Recognise percentages of shapes and whole numbers.</a:t>
            </a:r>
          </a:p>
        </p:txBody>
      </p:sp>
      <p:pic>
        <p:nvPicPr>
          <p:cNvPr id="1026" name="Picture 2" descr="EduPic Fractions P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947" y="5258933"/>
            <a:ext cx="1635962" cy="151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64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809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23885"/>
            <a:ext cx="10515600" cy="359342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dirty="0">
                <a:latin typeface="Comic Sans MS" panose="030F0702030302020204" pitchFamily="66" charset="0"/>
              </a:rPr>
              <a:t>What is 70% of 350?</a:t>
            </a:r>
          </a:p>
          <a:p>
            <a:pPr marL="0" indent="0">
              <a:buNone/>
            </a:pPr>
            <a:endParaRPr lang="en-US" sz="3600" dirty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endParaRPr lang="en-US" sz="3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600" dirty="0">
                <a:latin typeface="Comic Sans MS" panose="030F0702030302020204" pitchFamily="66" charset="0"/>
              </a:rPr>
              <a:t>2. What percentage of this shape is shaded?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Recognise percentages of shapes and whole numbers.</a:t>
            </a:r>
          </a:p>
        </p:txBody>
      </p:sp>
      <p:pic>
        <p:nvPicPr>
          <p:cNvPr id="1026" name="Picture 2" descr="EduPic Fractions P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947" y="5258933"/>
            <a:ext cx="1635962" cy="151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61943" y="2423885"/>
            <a:ext cx="20900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400" y="5452237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40%</a:t>
            </a:r>
          </a:p>
        </p:txBody>
      </p:sp>
    </p:spTree>
    <p:extLst>
      <p:ext uri="{BB962C8B-B14F-4D97-AF65-F5344CB8AC3E}">
        <p14:creationId xmlns:p14="http://schemas.microsoft.com/office/powerpoint/2010/main" val="41329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Comic Sans MS" panose="030F0702030302020204" pitchFamily="66" charset="0"/>
              </a:rPr>
              <a:t>Percentage Bingo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6550"/>
            <a:ext cx="7581900" cy="3457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73156" y="1198609"/>
            <a:ext cx="4316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Choose 9 of these percentage amounts and write them in the 3 X 3 grid.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658644"/>
              </p:ext>
            </p:extLst>
          </p:nvPr>
        </p:nvGraphicFramePr>
        <p:xfrm>
          <a:off x="7843170" y="3951451"/>
          <a:ext cx="3976914" cy="25509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638">
                  <a:extLst>
                    <a:ext uri="{9D8B030D-6E8A-4147-A177-3AD203B41FA5}">
                      <a16:colId xmlns:a16="http://schemas.microsoft.com/office/drawing/2014/main" val="1124809662"/>
                    </a:ext>
                  </a:extLst>
                </a:gridCol>
                <a:gridCol w="1325638">
                  <a:extLst>
                    <a:ext uri="{9D8B030D-6E8A-4147-A177-3AD203B41FA5}">
                      <a16:colId xmlns:a16="http://schemas.microsoft.com/office/drawing/2014/main" val="1407042779"/>
                    </a:ext>
                  </a:extLst>
                </a:gridCol>
                <a:gridCol w="1325638">
                  <a:extLst>
                    <a:ext uri="{9D8B030D-6E8A-4147-A177-3AD203B41FA5}">
                      <a16:colId xmlns:a16="http://schemas.microsoft.com/office/drawing/2014/main" val="2693650870"/>
                    </a:ext>
                  </a:extLst>
                </a:gridCol>
              </a:tblGrid>
              <a:tr h="85031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977138"/>
                  </a:ext>
                </a:extLst>
              </a:tr>
              <a:tr h="8503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40314"/>
                  </a:ext>
                </a:extLst>
              </a:tr>
              <a:tr h="8503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393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886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74132"/>
            <a:ext cx="4604657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Percentage Bingo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967"/>
            <a:ext cx="7581900" cy="3457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1900" y="936913"/>
            <a:ext cx="43169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I’m going to read the answers. You need to cross off the question that gives that answer if you have 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12899"/>
              </p:ext>
            </p:extLst>
          </p:nvPr>
        </p:nvGraphicFramePr>
        <p:xfrm>
          <a:off x="1973943" y="4752398"/>
          <a:ext cx="3335415" cy="1963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1805">
                  <a:extLst>
                    <a:ext uri="{9D8B030D-6E8A-4147-A177-3AD203B41FA5}">
                      <a16:colId xmlns:a16="http://schemas.microsoft.com/office/drawing/2014/main" val="1124809662"/>
                    </a:ext>
                  </a:extLst>
                </a:gridCol>
                <a:gridCol w="1111805">
                  <a:extLst>
                    <a:ext uri="{9D8B030D-6E8A-4147-A177-3AD203B41FA5}">
                      <a16:colId xmlns:a16="http://schemas.microsoft.com/office/drawing/2014/main" val="1407042779"/>
                    </a:ext>
                  </a:extLst>
                </a:gridCol>
                <a:gridCol w="1111805">
                  <a:extLst>
                    <a:ext uri="{9D8B030D-6E8A-4147-A177-3AD203B41FA5}">
                      <a16:colId xmlns:a16="http://schemas.microsoft.com/office/drawing/2014/main" val="2693650870"/>
                    </a:ext>
                  </a:extLst>
                </a:gridCol>
              </a:tblGrid>
              <a:tr h="6545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977138"/>
                  </a:ext>
                </a:extLst>
              </a:tr>
              <a:tr h="6545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40314"/>
                  </a:ext>
                </a:extLst>
              </a:tr>
              <a:tr h="65452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39383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1899" y="3545736"/>
            <a:ext cx="43169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If you get a row or column shout “Bingo!”.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If you get all 9 squares shout “Full House!”</a:t>
            </a:r>
          </a:p>
        </p:txBody>
      </p:sp>
    </p:spTree>
    <p:extLst>
      <p:ext uri="{BB962C8B-B14F-4D97-AF65-F5344CB8AC3E}">
        <p14:creationId xmlns:p14="http://schemas.microsoft.com/office/powerpoint/2010/main" val="3102321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Now you have a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00" y="1884177"/>
            <a:ext cx="11685300" cy="283296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dirty="0">
                <a:latin typeface="Comic Sans MS" panose="030F0702030302020204" pitchFamily="66" charset="0"/>
              </a:rPr>
              <a:t>Play bingo again with me</a:t>
            </a:r>
          </a:p>
          <a:p>
            <a:pPr marL="514350" indent="-514350">
              <a:buAutoNum type="arabicPeriod"/>
            </a:pPr>
            <a:endParaRPr lang="en-US" sz="3600" dirty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US" sz="3600" dirty="0">
                <a:latin typeface="Comic Sans MS" panose="030F0702030302020204" pitchFamily="66" charset="0"/>
              </a:rPr>
              <a:t>Create your own bingo game with questions </a:t>
            </a:r>
            <a:r>
              <a:rPr lang="en-US" sz="3600" b="1" dirty="0">
                <a:latin typeface="Comic Sans MS" panose="030F0702030302020204" pitchFamily="66" charset="0"/>
              </a:rPr>
              <a:t>and </a:t>
            </a:r>
            <a:r>
              <a:rPr lang="en-US" sz="3600" dirty="0">
                <a:latin typeface="Comic Sans MS" panose="030F0702030302020204" pitchFamily="66" charset="0"/>
              </a:rPr>
              <a:t>answers.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pic>
        <p:nvPicPr>
          <p:cNvPr id="5122" name="Picture 2" descr="The Biggest 'Matrix' Question of All: Red Pill or Blue Pill? | WIR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2286" y="3817257"/>
            <a:ext cx="3951514" cy="296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59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With support, I can find percentages of amounts.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find percentages of amounts.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create my own percentage bingo card.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67AC8C-A9B1-4F58-B389-30147C5F5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E417C3-61A7-406E-936C-9A039EC0D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470059-D2C4-432E-811D-BDB1BCE76C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34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76325"/>
            <a:ext cx="10515600" cy="2044246"/>
          </a:xfrm>
        </p:spPr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Plenary</a:t>
            </a:r>
            <a:r>
              <a:rPr lang="en-US" dirty="0">
                <a:latin typeface="Comic Sans MS" panose="030F0702030302020204" pitchFamily="66" charset="0"/>
              </a:rPr>
              <a:t> – Ms. Alice says “To find 34% of 600 I should divide 600 by 34.” Is she correct? Explain your answer.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Recognise percentages of shapes and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243160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545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Discuss with your partner</vt:lpstr>
      <vt:lpstr>What is percentage?</vt:lpstr>
      <vt:lpstr>Just like fractions we can use percentages as operators.</vt:lpstr>
      <vt:lpstr>Just like fractions we can use percentages as operators.</vt:lpstr>
      <vt:lpstr>We can also calculate the percentages of shapes.</vt:lpstr>
      <vt:lpstr>Check your understanding</vt:lpstr>
      <vt:lpstr>Check your understanding</vt:lpstr>
      <vt:lpstr>Percentage Bingo</vt:lpstr>
      <vt:lpstr>Percentage Bingo</vt:lpstr>
      <vt:lpstr>Now you have a choice</vt:lpstr>
      <vt:lpstr>PowerPoint Presentation</vt:lpstr>
      <vt:lpstr>Plenary – Ms. Alice says “To find 34% of 600 I should divide 600 by 34.” Is she correct? Explain your answer.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16</cp:revision>
  <dcterms:created xsi:type="dcterms:W3CDTF">2024-10-28T02:19:14Z</dcterms:created>
  <dcterms:modified xsi:type="dcterms:W3CDTF">2026-09-14T09:05:56Z</dcterms:modified>
</cp:coreProperties>
</file>