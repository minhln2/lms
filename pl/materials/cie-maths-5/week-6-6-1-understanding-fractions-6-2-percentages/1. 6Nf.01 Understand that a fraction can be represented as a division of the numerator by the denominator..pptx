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  <p:sldId id="271" r:id="rId9"/>
    <p:sldId id="270" r:id="rId10"/>
    <p:sldId id="264" r:id="rId11"/>
    <p:sldId id="265" r:id="rId12"/>
    <p:sldId id="266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02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47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2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54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30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00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69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97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0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0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43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123B2-EC5F-4FAC-BC8D-2B51C61D5FD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D026F-EB58-4FB1-BD37-B6C2A33E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38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5.wdp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0.png"/><Relationship Id="rId7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 err="1">
                <a:latin typeface="Comic Sans MS" panose="030F0702030302020204" pitchFamily="66" charset="0"/>
              </a:rPr>
              <a:t>Maths</a:t>
            </a:r>
            <a:r>
              <a:rPr lang="en-US" sz="96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1568620"/>
            <a:ext cx="10588079" cy="342429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22.09.2026</a:t>
            </a:r>
          </a:p>
          <a:p>
            <a:pPr algn="l"/>
            <a:endParaRPr lang="en-US" sz="5400" b="1" dirty="0">
              <a:latin typeface="Comic Sans MS" panose="030F0702030302020204" pitchFamily="66" charset="0"/>
            </a:endParaRPr>
          </a:p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000" b="1" dirty="0">
                <a:latin typeface="Comic Sans MS" panose="030F0702030302020204" pitchFamily="66" charset="0"/>
              </a:rPr>
              <a:t>6Nf.01: </a:t>
            </a:r>
            <a:r>
              <a:rPr lang="en-US" sz="4000" dirty="0">
                <a:latin typeface="Comic Sans MS" panose="030F0702030302020204" pitchFamily="66" charset="0"/>
              </a:rPr>
              <a:t>Understand that a fraction can be represented as a division of the numerator by the denominator.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35292" y="552174"/>
            <a:ext cx="2756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6 – Fractions and Percentages.</a:t>
            </a:r>
          </a:p>
        </p:txBody>
      </p:sp>
    </p:spTree>
    <p:extLst>
      <p:ext uri="{BB962C8B-B14F-4D97-AF65-F5344CB8AC3E}">
        <p14:creationId xmlns:p14="http://schemas.microsoft.com/office/powerpoint/2010/main" val="3797409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that a fraction can be represented as a division of the numerator by the denominator. 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2697" y="3543863"/>
            <a:ext cx="34807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mic Sans MS" panose="030F0702030302020204" pitchFamily="66" charset="0"/>
              </a:rPr>
              <a:t>I can represent division as a fraction.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5745" y="3546855"/>
            <a:ext cx="34956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complete a table that shows the relationship between division and fractions.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explain to a grade 4 the relationship between fractions and division.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976788-FE7C-4210-A639-43403795E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1CA2A4-2E20-4B68-AE03-ACEA8CA99F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9FEF17-D0DC-42FE-B1FF-A97CD3E294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562" y="628537"/>
            <a:ext cx="3952165" cy="85028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-1" y="38543"/>
            <a:ext cx="11955439" cy="76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that a fraction can be represented as a division of the numerator by the denominator. 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E4A48B-0CFD-4880-95D8-E2474D25A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59" y="1346239"/>
            <a:ext cx="10614725" cy="547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41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019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Starter – </a:t>
            </a:r>
            <a:r>
              <a:rPr lang="en-US" sz="3600" dirty="0">
                <a:latin typeface="Comic Sans MS" panose="030F0702030302020204" pitchFamily="66" charset="0"/>
              </a:rPr>
              <a:t>Which of these is the odd one out? Why?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0" y="200665"/>
            <a:ext cx="11955439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latin typeface="Comic Sans MS" panose="030F0702030302020204" pitchFamily="66" charset="0"/>
              </a:rPr>
              <a:t> </a:t>
            </a:r>
            <a:r>
              <a:rPr lang="en-US" sz="1800" b="1" dirty="0">
                <a:latin typeface="Comic Sans MS" panose="030F0702030302020204" pitchFamily="66" charset="0"/>
              </a:rPr>
              <a:t>WALT: </a:t>
            </a:r>
            <a:r>
              <a:rPr lang="en-US" sz="1800" dirty="0">
                <a:latin typeface="Comic Sans MS" panose="030F0702030302020204" pitchFamily="66" charset="0"/>
              </a:rPr>
              <a:t>Understand that a fraction can be represented as a division of the numerator by the denominator. </a:t>
            </a: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5092" y="2729552"/>
            <a:ext cx="4612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Eight divided by four.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624550" y="2691913"/>
                <a:ext cx="2010770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14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550" y="2691913"/>
                <a:ext cx="2010770" cy="10143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660107" y="5254388"/>
            <a:ext cx="28796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8 ÷ 4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3270" y="4423391"/>
            <a:ext cx="28796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99908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624" y="712948"/>
            <a:ext cx="12365920" cy="13255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Write a number sentence to show the calculation represented below.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1955439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latin typeface="Comic Sans MS" panose="030F0702030302020204" pitchFamily="66" charset="0"/>
              </a:rPr>
              <a:t> </a:t>
            </a: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that a fraction can be represented as a division of the numerator by the denominator. 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6" name="Picture 2" descr="Whole Pizza Clip Art - Whole Pizza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9111" y1="8000" x2="29111" y2="8000"/>
                        <a14:foregroundMark x1="29111" y1="8000" x2="13556" y2="19556"/>
                        <a14:foregroundMark x1="13556" y1="19556" x2="3556" y2="38444"/>
                        <a14:foregroundMark x1="4222" y1="41556" x2="5778" y2="64889"/>
                        <a14:foregroundMark x1="5778" y1="64889" x2="23111" y2="88889"/>
                        <a14:foregroundMark x1="23778" y1="88889" x2="56667" y2="94000"/>
                        <a14:foregroundMark x1="56667" y1="94000" x2="78222" y2="87556"/>
                        <a14:foregroundMark x1="78222" y1="87556" x2="94000" y2="66000"/>
                        <a14:foregroundMark x1="94000" y1="66000" x2="94222" y2="31111"/>
                        <a14:foregroundMark x1="94222" y1="31111" x2="73333" y2="9111"/>
                        <a14:foregroundMark x1="73333" y1="9111" x2="46444" y2="2000"/>
                        <a14:foregroundMark x1="57333" y1="11778" x2="71778" y2="19111"/>
                        <a14:foregroundMark x1="72667" y1="19111" x2="19778" y2="49333"/>
                        <a14:foregroundMark x1="34000" y1="54000" x2="57333" y2="33778"/>
                        <a14:foregroundMark x1="65778" y1="33778" x2="14889" y2="22222"/>
                        <a14:foregroundMark x1="25556" y1="30000" x2="16444" y2="65333"/>
                        <a14:foregroundMark x1="16444" y1="65333" x2="76667" y2="63333"/>
                        <a14:foregroundMark x1="76667" y1="63333" x2="38444" y2="87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657" y="2064700"/>
            <a:ext cx="1858705" cy="1858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erson Clipart Images - Free Download on Freepik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39" b="100000" l="408" r="9959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060" y="1885451"/>
            <a:ext cx="1277760" cy="326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Person Clipart Images - Free Download on Freepik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39" b="100000" l="408" r="9959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331" y="1802176"/>
            <a:ext cx="1277760" cy="326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Person Clipart Images - Free Download on Freepik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39" b="100000" l="408" r="9959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7126" y="1938201"/>
            <a:ext cx="1277760" cy="326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Person Clipart Images - Free Download on Freepik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39" b="100000" l="408" r="9959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4064" y="1909401"/>
            <a:ext cx="1277760" cy="326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Whole Pizza Clip Art - Whole Pizza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9111" y1="8000" x2="29111" y2="8000"/>
                        <a14:foregroundMark x1="29111" y1="8000" x2="13556" y2="19556"/>
                        <a14:foregroundMark x1="13556" y1="19556" x2="3556" y2="38444"/>
                        <a14:foregroundMark x1="4222" y1="41556" x2="5778" y2="64889"/>
                        <a14:foregroundMark x1="5778" y1="64889" x2="23111" y2="88889"/>
                        <a14:foregroundMark x1="23778" y1="88889" x2="56667" y2="94000"/>
                        <a14:foregroundMark x1="56667" y1="94000" x2="78222" y2="87556"/>
                        <a14:foregroundMark x1="78222" y1="87556" x2="94000" y2="66000"/>
                        <a14:foregroundMark x1="94000" y1="66000" x2="94222" y2="31111"/>
                        <a14:foregroundMark x1="94222" y1="31111" x2="73333" y2="9111"/>
                        <a14:foregroundMark x1="73333" y1="9111" x2="46444" y2="2000"/>
                        <a14:foregroundMark x1="57333" y1="11778" x2="71778" y2="19111"/>
                        <a14:foregroundMark x1="72667" y1="19111" x2="19778" y2="49333"/>
                        <a14:foregroundMark x1="34000" y1="54000" x2="57333" y2="33778"/>
                        <a14:foregroundMark x1="65778" y1="33778" x2="14889" y2="22222"/>
                        <a14:foregroundMark x1="25556" y1="30000" x2="16444" y2="65333"/>
                        <a14:foregroundMark x1="16444" y1="65333" x2="76667" y2="63333"/>
                        <a14:foregroundMark x1="76667" y1="63333" x2="38444" y2="87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208278"/>
            <a:ext cx="1858705" cy="1858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Whole Pizza Clip Art - Whole Pizza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9111" y1="8000" x2="29111" y2="8000"/>
                        <a14:foregroundMark x1="29111" y1="8000" x2="13556" y2="19556"/>
                        <a14:foregroundMark x1="13556" y1="19556" x2="3556" y2="38444"/>
                        <a14:foregroundMark x1="4222" y1="41556" x2="5778" y2="64889"/>
                        <a14:foregroundMark x1="5778" y1="64889" x2="23111" y2="88889"/>
                        <a14:foregroundMark x1="23778" y1="88889" x2="56667" y2="94000"/>
                        <a14:foregroundMark x1="56667" y1="94000" x2="78222" y2="87556"/>
                        <a14:foregroundMark x1="78222" y1="87556" x2="94000" y2="66000"/>
                        <a14:foregroundMark x1="94000" y1="66000" x2="94222" y2="31111"/>
                        <a14:foregroundMark x1="94222" y1="31111" x2="73333" y2="9111"/>
                        <a14:foregroundMark x1="73333" y1="9111" x2="46444" y2="2000"/>
                        <a14:foregroundMark x1="57333" y1="11778" x2="71778" y2="19111"/>
                        <a14:foregroundMark x1="72667" y1="19111" x2="19778" y2="49333"/>
                        <a14:foregroundMark x1="34000" y1="54000" x2="57333" y2="33778"/>
                        <a14:foregroundMark x1="65778" y1="33778" x2="14889" y2="22222"/>
                        <a14:foregroundMark x1="25556" y1="30000" x2="16444" y2="65333"/>
                        <a14:foregroundMark x1="16444" y1="65333" x2="76667" y2="63333"/>
                        <a14:foregroundMark x1="76667" y1="63333" x2="38444" y2="87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43" y="1933350"/>
            <a:ext cx="1858705" cy="1858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204327" y="5066983"/>
            <a:ext cx="78505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Comic Sans MS" panose="030F0702030302020204" pitchFamily="66" charset="0"/>
              </a:rPr>
              <a:t>Three pizzas shared between four people.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8534905" y="5597867"/>
            <a:ext cx="24157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3 ÷ 4 =</a:t>
            </a:r>
          </a:p>
        </p:txBody>
      </p:sp>
    </p:spTree>
    <p:extLst>
      <p:ext uri="{BB962C8B-B14F-4D97-AF65-F5344CB8AC3E}">
        <p14:creationId xmlns:p14="http://schemas.microsoft.com/office/powerpoint/2010/main" val="185790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451" y="607787"/>
            <a:ext cx="12917714" cy="13255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Write a number sentence to show the calculation represented below.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1955439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latin typeface="Comic Sans MS" panose="030F0702030302020204" pitchFamily="66" charset="0"/>
              </a:rPr>
              <a:t> </a:t>
            </a: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that a fraction can be represented as a division of the numerator by the denominator. 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6" name="Picture 2" descr="Whole Pizza Clip Art - Whole Pizza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9111" y1="8000" x2="29111" y2="8000"/>
                        <a14:foregroundMark x1="29111" y1="8000" x2="13556" y2="19556"/>
                        <a14:foregroundMark x1="13556" y1="19556" x2="3556" y2="38444"/>
                        <a14:foregroundMark x1="4222" y1="41556" x2="5778" y2="64889"/>
                        <a14:foregroundMark x1="5778" y1="64889" x2="23111" y2="88889"/>
                        <a14:foregroundMark x1="23778" y1="88889" x2="56667" y2="94000"/>
                        <a14:foregroundMark x1="56667" y1="94000" x2="78222" y2="87556"/>
                        <a14:foregroundMark x1="78222" y1="87556" x2="94000" y2="66000"/>
                        <a14:foregroundMark x1="94000" y1="66000" x2="94222" y2="31111"/>
                        <a14:foregroundMark x1="94222" y1="31111" x2="73333" y2="9111"/>
                        <a14:foregroundMark x1="73333" y1="9111" x2="46444" y2="2000"/>
                        <a14:foregroundMark x1="57333" y1="11778" x2="71778" y2="19111"/>
                        <a14:foregroundMark x1="72667" y1="19111" x2="19778" y2="49333"/>
                        <a14:foregroundMark x1="34000" y1="54000" x2="57333" y2="33778"/>
                        <a14:foregroundMark x1="65778" y1="33778" x2="14889" y2="22222"/>
                        <a14:foregroundMark x1="25556" y1="30000" x2="16444" y2="65333"/>
                        <a14:foregroundMark x1="16444" y1="65333" x2="76667" y2="63333"/>
                        <a14:foregroundMark x1="76667" y1="63333" x2="38444" y2="87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657" y="2064700"/>
            <a:ext cx="1858705" cy="1858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erson Clipart Images - Free Download on Freepik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39" b="100000" l="408" r="9959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060" y="1885451"/>
            <a:ext cx="1277760" cy="326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Person Clipart Images - Free Download on Freepik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39" b="100000" l="408" r="9959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331" y="1802176"/>
            <a:ext cx="1277760" cy="326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Person Clipart Images - Free Download on Freepik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39" b="100000" l="408" r="9959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7126" y="1938201"/>
            <a:ext cx="1277760" cy="326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Person Clipart Images - Free Download on Freepik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39" b="100000" l="408" r="9959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4064" y="1909401"/>
            <a:ext cx="1277760" cy="326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Whole Pizza Clip Art - Whole Pizza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9111" y1="8000" x2="29111" y2="8000"/>
                        <a14:foregroundMark x1="29111" y1="8000" x2="13556" y2="19556"/>
                        <a14:foregroundMark x1="13556" y1="19556" x2="3556" y2="38444"/>
                        <a14:foregroundMark x1="4222" y1="41556" x2="5778" y2="64889"/>
                        <a14:foregroundMark x1="5778" y1="64889" x2="23111" y2="88889"/>
                        <a14:foregroundMark x1="23778" y1="88889" x2="56667" y2="94000"/>
                        <a14:foregroundMark x1="56667" y1="94000" x2="78222" y2="87556"/>
                        <a14:foregroundMark x1="78222" y1="87556" x2="94000" y2="66000"/>
                        <a14:foregroundMark x1="94000" y1="66000" x2="94222" y2="31111"/>
                        <a14:foregroundMark x1="94222" y1="31111" x2="73333" y2="9111"/>
                        <a14:foregroundMark x1="73333" y1="9111" x2="46444" y2="2000"/>
                        <a14:foregroundMark x1="57333" y1="11778" x2="71778" y2="19111"/>
                        <a14:foregroundMark x1="72667" y1="19111" x2="19778" y2="49333"/>
                        <a14:foregroundMark x1="34000" y1="54000" x2="57333" y2="33778"/>
                        <a14:foregroundMark x1="65778" y1="33778" x2="14889" y2="22222"/>
                        <a14:foregroundMark x1="25556" y1="30000" x2="16444" y2="65333"/>
                        <a14:foregroundMark x1="16444" y1="65333" x2="76667" y2="63333"/>
                        <a14:foregroundMark x1="76667" y1="63333" x2="38444" y2="87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208278"/>
            <a:ext cx="1858705" cy="1858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Whole Pizza Clip Art - Whole Pizza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9111" y1="8000" x2="29111" y2="8000"/>
                        <a14:foregroundMark x1="29111" y1="8000" x2="13556" y2="19556"/>
                        <a14:foregroundMark x1="13556" y1="19556" x2="3556" y2="38444"/>
                        <a14:foregroundMark x1="4222" y1="41556" x2="5778" y2="64889"/>
                        <a14:foregroundMark x1="5778" y1="64889" x2="23111" y2="88889"/>
                        <a14:foregroundMark x1="23778" y1="88889" x2="56667" y2="94000"/>
                        <a14:foregroundMark x1="56667" y1="94000" x2="78222" y2="87556"/>
                        <a14:foregroundMark x1="78222" y1="87556" x2="94000" y2="66000"/>
                        <a14:foregroundMark x1="94000" y1="66000" x2="94222" y2="31111"/>
                        <a14:foregroundMark x1="94222" y1="31111" x2="73333" y2="9111"/>
                        <a14:foregroundMark x1="73333" y1="9111" x2="46444" y2="2000"/>
                        <a14:foregroundMark x1="57333" y1="11778" x2="71778" y2="19111"/>
                        <a14:foregroundMark x1="72667" y1="19111" x2="19778" y2="49333"/>
                        <a14:foregroundMark x1="34000" y1="54000" x2="57333" y2="33778"/>
                        <a14:foregroundMark x1="65778" y1="33778" x2="14889" y2="22222"/>
                        <a14:foregroundMark x1="25556" y1="30000" x2="16444" y2="65333"/>
                        <a14:foregroundMark x1="16444" y1="65333" x2="76667" y2="63333"/>
                        <a14:foregroundMark x1="76667" y1="63333" x2="38444" y2="87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43" y="1933350"/>
            <a:ext cx="1858705" cy="1858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204327" y="5066983"/>
            <a:ext cx="78505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Comic Sans MS" panose="030F0702030302020204" pitchFamily="66" charset="0"/>
              </a:rPr>
              <a:t>What fraction of a pizza will each person receive?</a:t>
            </a:r>
          </a:p>
        </p:txBody>
      </p:sp>
      <p:cxnSp>
        <p:nvCxnSpPr>
          <p:cNvPr id="5" name="Straight Connector 4"/>
          <p:cNvCxnSpPr>
            <a:stCxn id="13" idx="0"/>
            <a:endCxn id="13" idx="2"/>
          </p:cNvCxnSpPr>
          <p:nvPr/>
        </p:nvCxnSpPr>
        <p:spPr>
          <a:xfrm>
            <a:off x="1176096" y="1933350"/>
            <a:ext cx="0" cy="1858705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3" idx="3"/>
            <a:endCxn id="13" idx="1"/>
          </p:cNvCxnSpPr>
          <p:nvPr/>
        </p:nvCxnSpPr>
        <p:spPr>
          <a:xfrm flipH="1">
            <a:off x="246743" y="2862703"/>
            <a:ext cx="185870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905836" y="3208278"/>
            <a:ext cx="0" cy="1858705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1976483" y="4137631"/>
            <a:ext cx="185870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658436" y="2042676"/>
            <a:ext cx="0" cy="1858705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3729083" y="2972029"/>
            <a:ext cx="185870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441054" y="5207556"/>
                <a:ext cx="2010770" cy="1129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3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sz="16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1054" y="5207556"/>
                <a:ext cx="2010770" cy="11294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174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69272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omic Sans MS" panose="030F0702030302020204" pitchFamily="66" charset="0"/>
              </a:rPr>
              <a:t>From this example we can see that: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6939" y="3341566"/>
            <a:ext cx="10515600" cy="3462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latin typeface="Comic Sans MS" panose="030F0702030302020204" pitchFamily="66" charset="0"/>
              </a:rPr>
              <a:t>is equivalent to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1955439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mic Sans MS" panose="030F0702030302020204" pitchFamily="66" charset="0"/>
              </a:rPr>
              <a:t> </a:t>
            </a: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that a fraction can be represented as a division of the numerator by the denominator. 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53969" y="2641147"/>
                <a:ext cx="2010770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6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969" y="2641147"/>
                <a:ext cx="2010770" cy="19938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>
            <a:spLocks/>
          </p:cNvSpPr>
          <p:nvPr/>
        </p:nvSpPr>
        <p:spPr>
          <a:xfrm>
            <a:off x="1882901" y="2975273"/>
            <a:ext cx="34575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 ÷ 4 =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005115" y="497255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Comic Sans MS" panose="030F0702030302020204" pitchFamily="66" charset="0"/>
              </a:rPr>
              <a:t>What similarities and differences do you notice between the number sentence and the fraction? </a:t>
            </a:r>
          </a:p>
        </p:txBody>
      </p:sp>
    </p:spTree>
    <p:extLst>
      <p:ext uri="{BB962C8B-B14F-4D97-AF65-F5344CB8AC3E}">
        <p14:creationId xmlns:p14="http://schemas.microsoft.com/office/powerpoint/2010/main" val="30022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92" y="803782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omic Sans MS" panose="030F0702030302020204" pitchFamily="66" charset="0"/>
              </a:rPr>
              <a:t>Here is another 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6699" y="5432379"/>
            <a:ext cx="10515600" cy="7501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latin typeface="Comic Sans MS" panose="030F0702030302020204" pitchFamily="66" charset="0"/>
              </a:rPr>
              <a:t>is equivalent to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1955439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mic Sans MS" panose="030F0702030302020204" pitchFamily="66" charset="0"/>
              </a:rPr>
              <a:t> </a:t>
            </a: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that a fraction can be represented as a division of the numerator by the denominator. 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967889" y="4810542"/>
                <a:ext cx="2010770" cy="2081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sz="6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889" y="4810542"/>
                <a:ext cx="2010770" cy="20814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>
            <a:spLocks/>
          </p:cNvSpPr>
          <p:nvPr/>
        </p:nvSpPr>
        <p:spPr>
          <a:xfrm>
            <a:off x="1496821" y="5144668"/>
            <a:ext cx="34575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5 ÷ 8 =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38292" y="2314442"/>
            <a:ext cx="116521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Comic Sans MS" panose="030F0702030302020204" pitchFamily="66" charset="0"/>
              </a:rPr>
              <a:t>If I had 5 brownies and wanted to share them between 8 friends, how could it be represented?</a:t>
            </a:r>
          </a:p>
        </p:txBody>
      </p:sp>
    </p:spTree>
    <p:extLst>
      <p:ext uri="{BB962C8B-B14F-4D97-AF65-F5344CB8AC3E}">
        <p14:creationId xmlns:p14="http://schemas.microsoft.com/office/powerpoint/2010/main" val="2578488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561" y="63671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Check your understanding 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1955439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mic Sans MS" panose="030F0702030302020204" pitchFamily="66" charset="0"/>
              </a:rPr>
              <a:t> </a:t>
            </a: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that a fraction can be represented as a division of the numerator by the denominator. 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27445" y="2783841"/>
            <a:ext cx="34575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 ÷ 8 =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54875" y="1962283"/>
            <a:ext cx="10515600" cy="821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Comic Sans MS" panose="030F0702030302020204" pitchFamily="66" charset="0"/>
              </a:rPr>
              <a:t>Represent the divisions as fractions.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92B4A48-0612-45C7-9467-B2C35C4C407E}"/>
              </a:ext>
            </a:extLst>
          </p:cNvPr>
          <p:cNvSpPr txBox="1">
            <a:spLocks/>
          </p:cNvSpPr>
          <p:nvPr/>
        </p:nvSpPr>
        <p:spPr>
          <a:xfrm>
            <a:off x="352028" y="4158868"/>
            <a:ext cx="34575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 ÷ 3 =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6258D91-D7CF-49CB-B2A6-66B11DAE4680}"/>
              </a:ext>
            </a:extLst>
          </p:cNvPr>
          <p:cNvSpPr txBox="1">
            <a:spLocks/>
          </p:cNvSpPr>
          <p:nvPr/>
        </p:nvSpPr>
        <p:spPr>
          <a:xfrm>
            <a:off x="730259" y="5639210"/>
            <a:ext cx="34575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5 ÷ 9 =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26496E-033E-4A32-9613-AAF632765BC2}"/>
                  </a:ext>
                </a:extLst>
              </p:cNvPr>
              <p:cNvSpPr txBox="1"/>
              <p:nvPr/>
            </p:nvSpPr>
            <p:spPr>
              <a:xfrm>
                <a:off x="3338138" y="2564430"/>
                <a:ext cx="1349365" cy="1480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4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26496E-033E-4A32-9613-AAF632765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138" y="2564430"/>
                <a:ext cx="1349365" cy="14803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5EA4704-0BE7-4B4E-A3C7-05D48606B023}"/>
                  </a:ext>
                </a:extLst>
              </p:cNvPr>
              <p:cNvSpPr txBox="1"/>
              <p:nvPr/>
            </p:nvSpPr>
            <p:spPr>
              <a:xfrm>
                <a:off x="2914626" y="4130199"/>
                <a:ext cx="1349365" cy="1480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4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5EA4704-0BE7-4B4E-A3C7-05D48606B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626" y="4130199"/>
                <a:ext cx="1349365" cy="14803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B9ABFA-36E4-4343-8116-6B57FB649EF3}"/>
                  </a:ext>
                </a:extLst>
              </p:cNvPr>
              <p:cNvSpPr txBox="1"/>
              <p:nvPr/>
            </p:nvSpPr>
            <p:spPr>
              <a:xfrm>
                <a:off x="3589308" y="5385095"/>
                <a:ext cx="1349365" cy="1544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sz="4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B9ABFA-36E4-4343-8116-6B57FB649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308" y="5385095"/>
                <a:ext cx="1349365" cy="15440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402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1955439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mic Sans MS" panose="030F0702030302020204" pitchFamily="66" charset="0"/>
              </a:rPr>
              <a:t> </a:t>
            </a: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that a fraction can be represented as a division of the numerator by the denominator. 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BBE606-8F8A-4FC9-BF93-A462D21E4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632" y="1141669"/>
            <a:ext cx="4750173" cy="530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51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BCD429-9C21-4C72-A3B3-52F72355D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17" y="2192177"/>
            <a:ext cx="11385434" cy="3368664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1955439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Twinkl" panose="02000000000000000000" pitchFamily="2" charset="0"/>
              </a:rPr>
              <a:t> </a:t>
            </a:r>
            <a:r>
              <a:rPr lang="en-US" b="1" dirty="0">
                <a:latin typeface="Twinkl" panose="02000000000000000000" pitchFamily="2" charset="0"/>
              </a:rPr>
              <a:t>WALT: </a:t>
            </a:r>
            <a:r>
              <a:rPr lang="en-US" dirty="0">
                <a:latin typeface="Twinkl" panose="02000000000000000000" pitchFamily="2" charset="0"/>
              </a:rPr>
              <a:t>Understand that a fraction can be represented as a division of the numerator by the denominator. </a:t>
            </a:r>
          </a:p>
          <a:p>
            <a:pPr marL="0" indent="0">
              <a:buNone/>
            </a:pPr>
            <a:endParaRPr lang="en-US" dirty="0">
              <a:latin typeface="Twinkl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814041" y="3311286"/>
                <a:ext cx="2010770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1400" b="1" dirty="0">
                  <a:latin typeface="Twinkl" panose="02000000000000000000" pitchFamily="2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041" y="3311286"/>
                <a:ext cx="2010770" cy="6127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669037" y="3149019"/>
                <a:ext cx="2010770" cy="559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latin typeface="Twinkl" panose="02000000000000000000" pitchFamily="2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9037" y="3149019"/>
                <a:ext cx="2010770" cy="5599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506735" y="3808581"/>
                <a:ext cx="1445026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1400" b="1" dirty="0">
                  <a:latin typeface="Twinkl" panose="02000000000000000000" pitchFamily="2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735" y="3808581"/>
                <a:ext cx="1445026" cy="6127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063214" y="3924082"/>
                <a:ext cx="2010770" cy="554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US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latin typeface="Twinkl" panose="02000000000000000000" pitchFamily="2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3214" y="3924082"/>
                <a:ext cx="2010770" cy="5549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477170" y="4595000"/>
                <a:ext cx="1600668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sz="1400" b="1" dirty="0">
                  <a:latin typeface="Twinkl" panose="02000000000000000000" pitchFamily="2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170" y="4595000"/>
                <a:ext cx="1600668" cy="6109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571298" y="4528385"/>
                <a:ext cx="2010770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𝟏𝟑</m:t>
                          </m:r>
                        </m:num>
                        <m:den>
                          <m:r>
                            <a:rPr lang="en-US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𝟏𝟒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latin typeface="Twinkl" panose="02000000000000000000" pitchFamily="2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1298" y="4528385"/>
                <a:ext cx="2010770" cy="5533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135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C4D287-EAAF-41E6-B676-C8C88841D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15" y="1780605"/>
            <a:ext cx="12300400" cy="5077395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1955439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Twinkl" panose="02000000000000000000" pitchFamily="2" charset="0"/>
              </a:rPr>
              <a:t> </a:t>
            </a:r>
            <a:r>
              <a:rPr lang="en-US" b="1" dirty="0">
                <a:latin typeface="Twinkl" panose="02000000000000000000" pitchFamily="2" charset="0"/>
              </a:rPr>
              <a:t>WALT: </a:t>
            </a:r>
            <a:r>
              <a:rPr lang="en-US" dirty="0">
                <a:latin typeface="Twinkl" panose="02000000000000000000" pitchFamily="2" charset="0"/>
              </a:rPr>
              <a:t>Understand that a fraction can be represented as a division of the numerator by the denominator. </a:t>
            </a:r>
          </a:p>
          <a:p>
            <a:pPr marL="0" indent="0">
              <a:buNone/>
            </a:pPr>
            <a:endParaRPr lang="en-US" dirty="0">
              <a:latin typeface="Twinkl" panose="02000000000000000000" pitchFamily="2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491017" y="3880035"/>
            <a:ext cx="34575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FF0000"/>
                </a:solidFill>
                <a:latin typeface="Twinkl" panose="02000000000000000000" pitchFamily="2" charset="0"/>
              </a:rPr>
              <a:t>Four divided by five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079683" y="4092694"/>
                <a:ext cx="2010770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1600" b="1" dirty="0">
                  <a:latin typeface="Twinkl" panose="02000000000000000000" pitchFamily="2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683" y="4092694"/>
                <a:ext cx="2010770" cy="7848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/>
          <p:cNvSpPr txBox="1">
            <a:spLocks/>
          </p:cNvSpPr>
          <p:nvPr/>
        </p:nvSpPr>
        <p:spPr>
          <a:xfrm>
            <a:off x="5723692" y="4687959"/>
            <a:ext cx="34575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0000"/>
                </a:solidFill>
                <a:latin typeface="Twinkl" panose="02000000000000000000" pitchFamily="2" charset="0"/>
              </a:rPr>
              <a:t>8 ÷ 10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996199" y="4899078"/>
                <a:ext cx="1861385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US" sz="1600" b="1" dirty="0">
                  <a:latin typeface="Twinkl" panose="02000000000000000000" pitchFamily="2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6199" y="4899078"/>
                <a:ext cx="1861385" cy="7861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/>
          <p:cNvSpPr txBox="1">
            <a:spLocks/>
          </p:cNvSpPr>
          <p:nvPr/>
        </p:nvSpPr>
        <p:spPr>
          <a:xfrm>
            <a:off x="5622092" y="5469348"/>
            <a:ext cx="34575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0000"/>
                </a:solidFill>
                <a:latin typeface="Twinkl" panose="02000000000000000000" pitchFamily="2" charset="0"/>
              </a:rPr>
              <a:t>10 ÷ 5 =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491017" y="5467256"/>
            <a:ext cx="34575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FF0000"/>
                </a:solidFill>
                <a:latin typeface="Twinkl" panose="02000000000000000000" pitchFamily="2" charset="0"/>
              </a:rPr>
              <a:t>Ten divided by five</a:t>
            </a:r>
          </a:p>
        </p:txBody>
      </p:sp>
    </p:spTree>
    <p:extLst>
      <p:ext uri="{BB962C8B-B14F-4D97-AF65-F5344CB8AC3E}">
        <p14:creationId xmlns:p14="http://schemas.microsoft.com/office/powerpoint/2010/main" val="270279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that a fraction can be represented as a division of the numerator by the denominator. 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2697" y="3543863"/>
            <a:ext cx="34807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mic Sans MS" panose="030F0702030302020204" pitchFamily="66" charset="0"/>
              </a:rPr>
              <a:t>I can represent division as a fraction.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5745" y="3546855"/>
            <a:ext cx="34956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I can complete a table that shows the relationship between division and fractions.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I can explain to a grade 4 the relationship between fractions and division.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976788-FE7C-4210-A639-43403795E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1CA2A4-2E20-4B68-AE03-ACEA8CA99F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9FEF17-D0DC-42FE-B1FF-A97CD3E294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38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862" y="1419367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Comic Sans MS" panose="030F0702030302020204" pitchFamily="66" charset="0"/>
              </a:rPr>
              <a:t>Plenary -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862" y="2989943"/>
            <a:ext cx="10515600" cy="29983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latin typeface="Comic Sans MS" panose="030F0702030302020204" pitchFamily="66" charset="0"/>
              </a:rPr>
              <a:t>Which is greater ½ of $15 or ¼ of $40?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 that a fraction can be represented as a division of the numerator by the denominator. </a:t>
            </a:r>
          </a:p>
        </p:txBody>
      </p:sp>
    </p:spTree>
    <p:extLst>
      <p:ext uri="{BB962C8B-B14F-4D97-AF65-F5344CB8AC3E}">
        <p14:creationId xmlns:p14="http://schemas.microsoft.com/office/powerpoint/2010/main" val="300855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</TotalTime>
  <Words>557</Words>
  <Application>Microsoft Office PowerPoint</Application>
  <PresentationFormat>Widescreen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Comic Sans MS</vt:lpstr>
      <vt:lpstr>Twinkl</vt:lpstr>
      <vt:lpstr>Office Theme</vt:lpstr>
      <vt:lpstr>Maths </vt:lpstr>
      <vt:lpstr>PowerPoint Presentation</vt:lpstr>
      <vt:lpstr>Retrieval Practice</vt:lpstr>
      <vt:lpstr>Starter – Which of these is the odd one out? Why?</vt:lpstr>
      <vt:lpstr>Write a number sentence to show the calculation represented below.</vt:lpstr>
      <vt:lpstr>Write a number sentence to show the calculation represented below.</vt:lpstr>
      <vt:lpstr>From this example we can see that:</vt:lpstr>
      <vt:lpstr>Here is another example:</vt:lpstr>
      <vt:lpstr>Check your understanding </vt:lpstr>
      <vt:lpstr>PowerPoint Presentation</vt:lpstr>
      <vt:lpstr>PowerPoint Presentation</vt:lpstr>
      <vt:lpstr>PowerPoint Presentation</vt:lpstr>
      <vt:lpstr>PowerPoint Presentation</vt:lpstr>
      <vt:lpstr>Plenary -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19</cp:revision>
  <dcterms:created xsi:type="dcterms:W3CDTF">2024-10-24T07:19:11Z</dcterms:created>
  <dcterms:modified xsi:type="dcterms:W3CDTF">2026-09-22T00:21:12Z</dcterms:modified>
</cp:coreProperties>
</file>