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78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7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ACCF8-B847-4313-84B2-1F43B9B3848F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E22ED-FF79-4F93-82B4-070C8AC59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724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ACCF8-B847-4313-84B2-1F43B9B3848F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E22ED-FF79-4F93-82B4-070C8AC59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489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ACCF8-B847-4313-84B2-1F43B9B3848F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E22ED-FF79-4F93-82B4-070C8AC59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031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ACCF8-B847-4313-84B2-1F43B9B3848F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E22ED-FF79-4F93-82B4-070C8AC59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663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ACCF8-B847-4313-84B2-1F43B9B3848F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E22ED-FF79-4F93-82B4-070C8AC59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036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ACCF8-B847-4313-84B2-1F43B9B3848F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E22ED-FF79-4F93-82B4-070C8AC59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983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ACCF8-B847-4313-84B2-1F43B9B3848F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E22ED-FF79-4F93-82B4-070C8AC59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542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ACCF8-B847-4313-84B2-1F43B9B3848F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E22ED-FF79-4F93-82B4-070C8AC59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016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ACCF8-B847-4313-84B2-1F43B9B3848F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E22ED-FF79-4F93-82B4-070C8AC59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759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ACCF8-B847-4313-84B2-1F43B9B3848F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E22ED-FF79-4F93-82B4-070C8AC59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597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ACCF8-B847-4313-84B2-1F43B9B3848F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E22ED-FF79-4F93-82B4-070C8AC59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953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CACCF8-B847-4313-84B2-1F43B9B3848F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EE22ED-FF79-4F93-82B4-070C8AC597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597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microsoft.com/office/2007/relationships/hdphoto" Target="../media/hdphoto4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isnos.com/demos/fraction-wall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7" Type="http://schemas.openxmlformats.org/officeDocument/2006/relationships/image" Target="../media/image3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5230" y="-98475"/>
            <a:ext cx="5462954" cy="1667095"/>
          </a:xfrm>
        </p:spPr>
        <p:txBody>
          <a:bodyPr>
            <a:normAutofit/>
          </a:bodyPr>
          <a:lstStyle/>
          <a:p>
            <a:r>
              <a:rPr lang="en-US" sz="9600" dirty="0" err="1">
                <a:latin typeface="Comic Sans MS" panose="030F0702030302020204" pitchFamily="66" charset="0"/>
              </a:rPr>
              <a:t>Maths</a:t>
            </a:r>
            <a:r>
              <a:rPr lang="en-US" sz="9600" dirty="0"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2230" y="1568620"/>
            <a:ext cx="11659324" cy="4774124"/>
          </a:xfrm>
        </p:spPr>
        <p:txBody>
          <a:bodyPr>
            <a:normAutofit/>
          </a:bodyPr>
          <a:lstStyle/>
          <a:p>
            <a:pPr algn="l"/>
            <a:r>
              <a:rPr lang="en-US" sz="5400" b="1" dirty="0">
                <a:latin typeface="Comic Sans MS" panose="030F0702030302020204" pitchFamily="66" charset="0"/>
              </a:rPr>
              <a:t>WALT:</a:t>
            </a:r>
          </a:p>
          <a:p>
            <a:pPr algn="l"/>
            <a:r>
              <a:rPr lang="en-US" sz="5400" b="1" dirty="0">
                <a:latin typeface="Comic Sans MS" panose="030F0702030302020204" pitchFamily="66" charset="0"/>
              </a:rPr>
              <a:t>6Nf.03 </a:t>
            </a:r>
            <a:r>
              <a:rPr lang="en-US" sz="5400" dirty="0">
                <a:latin typeface="Comic Sans MS" panose="030F0702030302020204" pitchFamily="66" charset="0"/>
              </a:rPr>
              <a:t>Use knowledge of equivalence to write fractions in their simplest form.</a:t>
            </a:r>
            <a:endParaRPr lang="en-US" sz="5400" b="1" dirty="0"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35292" y="552174"/>
            <a:ext cx="2756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Unit 6 – Fractions and Percentages.</a:t>
            </a:r>
          </a:p>
        </p:txBody>
      </p:sp>
    </p:spTree>
    <p:extLst>
      <p:ext uri="{BB962C8B-B14F-4D97-AF65-F5344CB8AC3E}">
        <p14:creationId xmlns:p14="http://schemas.microsoft.com/office/powerpoint/2010/main" val="483479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1900" y="171636"/>
            <a:ext cx="12037325" cy="1218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Use knowledge of equivalence to write fractions in their simplest form.</a:t>
            </a:r>
            <a:endParaRPr lang="en-US" b="1" dirty="0">
              <a:latin typeface="Comic Sans MS" panose="030F0702030302020204" pitchFamily="66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Comic Sans MS" panose="030F0702030302020204" pitchFamily="66" charset="0"/>
              </a:rPr>
              <a:t>I can write equivalent fractions of a given fraction.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find the simplest form of a fraction.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use equivalence to order fractions with different denominators.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A81186B-47E0-45D0-8C0E-079757A3C8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313232"/>
            <a:ext cx="1102890" cy="2123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45BFC43-2B8D-4089-BFCA-6C31903D0D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1053553"/>
            <a:ext cx="1102890" cy="23052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D14EAFD-61AE-48AF-ACA4-BD4A3224AC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940088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044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085" y="780987"/>
            <a:ext cx="4648201" cy="81558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omic Sans MS" panose="030F0702030302020204" pitchFamily="66" charset="0"/>
              </a:rPr>
              <a:t>Retrieval Practice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1900" y="171636"/>
            <a:ext cx="12037325" cy="60935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Use knowledge of equivalence to write fractions in their simplest form.</a:t>
            </a:r>
            <a:endParaRPr lang="en-US" b="1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6D9C91-76E8-4B71-9976-B9872692C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531" y="1596570"/>
            <a:ext cx="9268938" cy="51229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C0CCB94-04FC-45F8-95B4-61F68C7A4BEA}"/>
              </a:ext>
            </a:extLst>
          </p:cNvPr>
          <p:cNvSpPr txBox="1"/>
          <p:nvPr/>
        </p:nvSpPr>
        <p:spPr>
          <a:xfrm>
            <a:off x="8114096" y="2844225"/>
            <a:ext cx="24159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20,039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F27B91-56F2-4F77-98F7-2BE831C5F896}"/>
              </a:ext>
            </a:extLst>
          </p:cNvPr>
          <p:cNvSpPr txBox="1"/>
          <p:nvPr/>
        </p:nvSpPr>
        <p:spPr>
          <a:xfrm>
            <a:off x="7939237" y="5730200"/>
            <a:ext cx="24159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18,939</a:t>
            </a:r>
          </a:p>
        </p:txBody>
      </p:sp>
    </p:spTree>
    <p:extLst>
      <p:ext uri="{BB962C8B-B14F-4D97-AF65-F5344CB8AC3E}">
        <p14:creationId xmlns:p14="http://schemas.microsoft.com/office/powerpoint/2010/main" val="3579279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1900" y="171636"/>
            <a:ext cx="12037325" cy="60935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Use knowledge of equivalence to write fractions in their simplest form.</a:t>
            </a:r>
            <a:endParaRPr lang="en-US" b="1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02530C6-4F04-4066-9327-65533759A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643" y="476311"/>
            <a:ext cx="10515600" cy="1325563"/>
          </a:xfrm>
        </p:spPr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Homework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DC4061-EA69-4298-8C68-F2567618E813}"/>
              </a:ext>
            </a:extLst>
          </p:cNvPr>
          <p:cNvSpPr txBox="1"/>
          <p:nvPr/>
        </p:nvSpPr>
        <p:spPr>
          <a:xfrm>
            <a:off x="625643" y="1884177"/>
            <a:ext cx="105156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latin typeface="Comic Sans MS" panose="030F0702030302020204" pitchFamily="66" charset="0"/>
              </a:rPr>
              <a:t>ESL - Workbook sections 2.3 + 2.4, </a:t>
            </a:r>
          </a:p>
          <a:p>
            <a:endParaRPr lang="en-US" sz="4800" dirty="0">
              <a:latin typeface="Comic Sans MS" panose="030F0702030302020204" pitchFamily="66" charset="0"/>
            </a:endParaRPr>
          </a:p>
          <a:p>
            <a:r>
              <a:rPr lang="en-US" sz="4800" dirty="0" err="1">
                <a:latin typeface="Comic Sans MS" panose="030F0702030302020204" pitchFamily="66" charset="0"/>
              </a:rPr>
              <a:t>Maths</a:t>
            </a:r>
            <a:r>
              <a:rPr lang="en-US" sz="4800" dirty="0">
                <a:latin typeface="Comic Sans MS" panose="030F0702030302020204" pitchFamily="66" charset="0"/>
              </a:rPr>
              <a:t> - Workbook pages 77 - 85.</a:t>
            </a:r>
          </a:p>
          <a:p>
            <a:endParaRPr lang="en-US" sz="4800" dirty="0">
              <a:latin typeface="Comic Sans MS" panose="030F0702030302020204" pitchFamily="66" charset="0"/>
            </a:endParaRPr>
          </a:p>
          <a:p>
            <a:r>
              <a:rPr lang="en-US" sz="4800" dirty="0">
                <a:latin typeface="Comic Sans MS" panose="030F0702030302020204" pitchFamily="66" charset="0"/>
              </a:rPr>
              <a:t>Science - Worksheet</a:t>
            </a:r>
          </a:p>
        </p:txBody>
      </p:sp>
    </p:spTree>
    <p:extLst>
      <p:ext uri="{BB962C8B-B14F-4D97-AF65-F5344CB8AC3E}">
        <p14:creationId xmlns:p14="http://schemas.microsoft.com/office/powerpoint/2010/main" val="1348828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19783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Comic Sans MS" panose="030F0702030302020204" pitchFamily="66" charset="0"/>
              </a:rPr>
              <a:t>Starter</a:t>
            </a:r>
            <a:r>
              <a:rPr lang="en-US" sz="5400" dirty="0">
                <a:latin typeface="Comic Sans MS" panose="030F0702030302020204" pitchFamily="66" charset="0"/>
              </a:rPr>
              <a:t> – What is equivalence?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1900" y="171636"/>
            <a:ext cx="12037325" cy="60935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Use knowledge of equivalence to write fractions in their simplest form.</a:t>
            </a:r>
            <a:endParaRPr lang="en-US" b="1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1026" name="Picture 2" descr="Frequentist and Bayesian Equivalence Testing in JASP - JASP - Free and  User-Friendly Statistical Softwa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445346"/>
            <a:ext cx="3458012" cy="3473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459" b="100000" l="0" r="98319">
                        <a14:foregroundMark x1="29832" y1="33607" x2="30252" y2="76230"/>
                        <a14:foregroundMark x1="16387" y1="36885" x2="15126" y2="69672"/>
                        <a14:foregroundMark x1="73950" y1="36885" x2="63025" y2="56557"/>
                        <a14:foregroundMark x1="63866" y1="52459" x2="76471" y2="819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20562" y="2192883"/>
            <a:ext cx="4181476" cy="21434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6943F8-4CC4-4CF9-AA31-8988080AAD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0371" y="4824981"/>
            <a:ext cx="4001311" cy="1801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510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899" y="1047513"/>
            <a:ext cx="11862721" cy="1325563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latin typeface="Comic Sans MS" panose="030F0702030302020204" pitchFamily="66" charset="0"/>
              </a:rPr>
              <a:t>Equivalent fractions are fractions that are an equal amount but written with a different numerator and denominator.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75459" y="2945101"/>
                <a:ext cx="10515600" cy="295609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4400" dirty="0">
                    <a:latin typeface="Comic Sans MS" panose="030F0702030302020204" pitchFamily="66" charset="0"/>
                  </a:rPr>
                  <a:t>For example: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4400" dirty="0">
                    <a:latin typeface="Comic Sans MS" panose="030F0702030302020204" pitchFamily="66" charset="0"/>
                  </a:rPr>
                  <a:t> is equivalent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lang="en-US" sz="2400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75459" y="2945101"/>
                <a:ext cx="10515600" cy="2956090"/>
              </a:xfrm>
              <a:blipFill>
                <a:blip r:embed="rId2"/>
                <a:stretch>
                  <a:fillRect l="-2377" t="-18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ubtitle 2"/>
          <p:cNvSpPr txBox="1">
            <a:spLocks/>
          </p:cNvSpPr>
          <p:nvPr/>
        </p:nvSpPr>
        <p:spPr>
          <a:xfrm>
            <a:off x="201900" y="171636"/>
            <a:ext cx="12037325" cy="6093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Use knowledge of equivalence to write fractions in their simplest form.</a:t>
            </a:r>
            <a:endParaRPr lang="en-US" sz="2000" b="1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2000" dirty="0">
              <a:latin typeface="Comic Sans MS" panose="030F0702030302020204" pitchFamily="66" charset="0"/>
            </a:endParaRPr>
          </a:p>
        </p:txBody>
      </p:sp>
      <p:pic>
        <p:nvPicPr>
          <p:cNvPr id="2050" name="Picture 2" descr="What are Equivalent Fractions? Definition &amp; Examples | Teaching Wiki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10"/>
          <a:stretch/>
        </p:blipFill>
        <p:spPr bwMode="auto">
          <a:xfrm>
            <a:off x="1589205" y="4269946"/>
            <a:ext cx="8370924" cy="2457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2394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97786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omic Sans MS" panose="030F0702030302020204" pitchFamily="66" charset="0"/>
              </a:rPr>
              <a:t>We can use fraction walls to help us find equivalent fractions.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1900" y="171636"/>
            <a:ext cx="12037325" cy="6093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Use knowledge of equivalence to write fractions in their simplest form.</a:t>
            </a:r>
            <a:endParaRPr lang="en-US" sz="2000" b="1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2000" dirty="0">
              <a:latin typeface="Comic Sans MS" panose="030F0702030302020204" pitchFamily="66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157" y="2238465"/>
            <a:ext cx="5459185" cy="424692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735338" y="2364833"/>
            <a:ext cx="448231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Comic Sans MS" panose="030F0702030302020204" pitchFamily="66" charset="0"/>
                <a:hlinkClick r:id="rId3"/>
              </a:rPr>
              <a:t>https://www.visnos.com/demos/fraction-wall</a:t>
            </a:r>
            <a:endParaRPr lang="en-US" sz="1600" dirty="0">
              <a:latin typeface="Comic Sans MS" panose="030F0702030302020204" pitchFamily="66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735338" y="3367314"/>
            <a:ext cx="4978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mic Sans MS" panose="030F0702030302020204" pitchFamily="66" charset="0"/>
              </a:rPr>
              <a:t>On your whiteboards write some fractions you think are equivalent.</a:t>
            </a:r>
          </a:p>
          <a:p>
            <a:endParaRPr lang="en-US" sz="2400" dirty="0">
              <a:latin typeface="Comic Sans MS" panose="030F0702030302020204" pitchFamily="66" charset="0"/>
            </a:endParaRPr>
          </a:p>
          <a:p>
            <a:r>
              <a:rPr lang="en-US" sz="2400" dirty="0">
                <a:latin typeface="Comic Sans MS" panose="030F0702030302020204" pitchFamily="66" charset="0"/>
              </a:rPr>
              <a:t>We will use the fraction wall to check them.</a:t>
            </a:r>
          </a:p>
        </p:txBody>
      </p:sp>
    </p:spTree>
    <p:extLst>
      <p:ext uri="{BB962C8B-B14F-4D97-AF65-F5344CB8AC3E}">
        <p14:creationId xmlns:p14="http://schemas.microsoft.com/office/powerpoint/2010/main" val="96342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8543" y="800709"/>
            <a:ext cx="11513457" cy="2617952"/>
          </a:xfrm>
        </p:spPr>
        <p:txBody>
          <a:bodyPr/>
          <a:lstStyle/>
          <a:p>
            <a:pPr marL="0" indent="0">
              <a:buNone/>
            </a:pPr>
            <a:r>
              <a:rPr lang="en-US" sz="4400" b="1" dirty="0">
                <a:latin typeface="Comic Sans MS" panose="030F0702030302020204" pitchFamily="66" charset="0"/>
              </a:rPr>
              <a:t>6Nf.03 </a:t>
            </a:r>
            <a:r>
              <a:rPr lang="en-US" sz="4400" dirty="0">
                <a:latin typeface="Comic Sans MS" panose="030F0702030302020204" pitchFamily="66" charset="0"/>
              </a:rPr>
              <a:t>Use knowledge of equivalence to write fractions in their </a:t>
            </a:r>
            <a:r>
              <a:rPr lang="en-US" sz="4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simplest</a:t>
            </a:r>
            <a:r>
              <a:rPr lang="en-US" sz="4400" dirty="0">
                <a:latin typeface="Comic Sans MS" panose="030F0702030302020204" pitchFamily="66" charset="0"/>
              </a:rPr>
              <a:t> form.</a:t>
            </a:r>
            <a:endParaRPr lang="en-US" sz="4400" b="1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2000" dirty="0">
              <a:latin typeface="Comic Sans MS" panose="030F0702030302020204" pitchFamily="66" charset="0"/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201900" y="171636"/>
            <a:ext cx="12037325" cy="6093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latin typeface="Comic Sans MS" panose="030F0702030302020204" pitchFamily="66" charset="0"/>
              </a:rPr>
              <a:t>WALT: </a:t>
            </a:r>
            <a:r>
              <a:rPr lang="en-US" sz="1800" dirty="0">
                <a:latin typeface="Comic Sans MS" panose="030F0702030302020204" pitchFamily="66" charset="0"/>
              </a:rPr>
              <a:t>Use knowledge of equivalence to write fractions in their simplest form.</a:t>
            </a:r>
            <a:endParaRPr lang="en-US" sz="1800" b="1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1800" dirty="0">
              <a:latin typeface="Comic Sans MS" panose="030F0702030302020204" pitchFamily="66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90586" y="3033940"/>
            <a:ext cx="120903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Comic Sans MS" panose="030F0702030302020204" pitchFamily="66" charset="0"/>
              </a:rPr>
              <a:t>What is meant by the </a:t>
            </a:r>
            <a:r>
              <a:rPr lang="en-US" sz="4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simplest</a:t>
            </a:r>
            <a:r>
              <a:rPr lang="en-US" sz="4400" b="1" dirty="0">
                <a:latin typeface="Comic Sans MS" panose="030F0702030302020204" pitchFamily="66" charset="0"/>
              </a:rPr>
              <a:t> </a:t>
            </a:r>
            <a:r>
              <a:rPr lang="en-US" sz="4400" dirty="0">
                <a:latin typeface="Comic Sans MS" panose="030F0702030302020204" pitchFamily="66" charset="0"/>
              </a:rPr>
              <a:t>form?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0586" y="4089779"/>
            <a:ext cx="1132244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omic Sans MS" panose="030F0702030302020204" pitchFamily="66" charset="0"/>
              </a:rPr>
              <a:t>The simplest form of a fraction is when the numerator and denominator do not have any common factors (other than 1). </a:t>
            </a:r>
          </a:p>
        </p:txBody>
      </p:sp>
    </p:spTree>
    <p:extLst>
      <p:ext uri="{BB962C8B-B14F-4D97-AF65-F5344CB8AC3E}">
        <p14:creationId xmlns:p14="http://schemas.microsoft.com/office/powerpoint/2010/main" val="1609450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80987"/>
            <a:ext cx="10515600" cy="1325563"/>
          </a:xfrm>
        </p:spPr>
        <p:txBody>
          <a:bodyPr/>
          <a:lstStyle/>
          <a:p>
            <a:r>
              <a:rPr lang="en-US" sz="4000" dirty="0">
                <a:latin typeface="Comic Sans MS" panose="030F0702030302020204" pitchFamily="66" charset="0"/>
              </a:rPr>
              <a:t>Let’s look at how to simplify a fraction together.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01900" y="2946400"/>
                <a:ext cx="3077029" cy="3288620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7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72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US" sz="7200" b="1" i="1" smtClean="0">
                              <a:latin typeface="Cambria Math" panose="02040503050406030204" pitchFamily="18" charset="0"/>
                            </a:rPr>
                            <m:t>𝟏𝟔</m:t>
                          </m:r>
                        </m:den>
                      </m:f>
                    </m:oMath>
                  </m:oMathPara>
                </a14:m>
                <a:endParaRPr lang="en-US" sz="2400" b="1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1900" y="2946400"/>
                <a:ext cx="3077029" cy="328862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ubtitle 2"/>
          <p:cNvSpPr txBox="1">
            <a:spLocks/>
          </p:cNvSpPr>
          <p:nvPr/>
        </p:nvSpPr>
        <p:spPr>
          <a:xfrm>
            <a:off x="201900" y="171636"/>
            <a:ext cx="12037325" cy="6093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Use knowledge of equivalence to write fractions in their simplest form.</a:t>
            </a:r>
            <a:endParaRPr lang="en-US" sz="2000" b="1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2000" dirty="0"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46699" y="2433175"/>
            <a:ext cx="914530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omic Sans MS" panose="030F0702030302020204" pitchFamily="66" charset="0"/>
              </a:rPr>
              <a:t>We know that 4 and 16 are both even.</a:t>
            </a:r>
          </a:p>
          <a:p>
            <a:endParaRPr lang="en-US" sz="3200" dirty="0">
              <a:latin typeface="Comic Sans MS" panose="030F0702030302020204" pitchFamily="66" charset="0"/>
            </a:endParaRPr>
          </a:p>
          <a:p>
            <a:r>
              <a:rPr lang="en-US" sz="3200" dirty="0">
                <a:latin typeface="Comic Sans MS" panose="030F0702030302020204" pitchFamily="66" charset="0"/>
              </a:rPr>
              <a:t>This means they both have a factor of 2.</a:t>
            </a:r>
          </a:p>
          <a:p>
            <a:endParaRPr lang="en-US" sz="3200" dirty="0">
              <a:latin typeface="Comic Sans MS" panose="030F0702030302020204" pitchFamily="66" charset="0"/>
            </a:endParaRPr>
          </a:p>
          <a:p>
            <a:r>
              <a:rPr lang="en-US" sz="3200" dirty="0">
                <a:latin typeface="Comic Sans MS" panose="030F0702030302020204" pitchFamily="66" charset="0"/>
              </a:rPr>
              <a:t>This means we can divide both the numerator and the denominator by 2.</a:t>
            </a:r>
          </a:p>
        </p:txBody>
      </p:sp>
    </p:spTree>
    <p:extLst>
      <p:ext uri="{BB962C8B-B14F-4D97-AF65-F5344CB8AC3E}">
        <p14:creationId xmlns:p14="http://schemas.microsoft.com/office/powerpoint/2010/main" val="3284789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80987"/>
            <a:ext cx="10515600" cy="1325563"/>
          </a:xfrm>
        </p:spPr>
        <p:txBody>
          <a:bodyPr/>
          <a:lstStyle/>
          <a:p>
            <a:r>
              <a:rPr lang="en-US" sz="4000" dirty="0">
                <a:latin typeface="Comic Sans MS" panose="030F0702030302020204" pitchFamily="66" charset="0"/>
              </a:rPr>
              <a:t>Let’s look at how to simplify a fraction together.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01900" y="2946400"/>
                <a:ext cx="3077029" cy="3288620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7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7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US" sz="72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den>
                      </m:f>
                    </m:oMath>
                  </m:oMathPara>
                </a14:m>
                <a:endParaRPr lang="en-US" sz="2400" b="1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1900" y="2946400"/>
                <a:ext cx="3077029" cy="328862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ubtitle 2"/>
          <p:cNvSpPr txBox="1">
            <a:spLocks/>
          </p:cNvSpPr>
          <p:nvPr/>
        </p:nvSpPr>
        <p:spPr>
          <a:xfrm>
            <a:off x="201900" y="171636"/>
            <a:ext cx="12037325" cy="6093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Use knowledge of equivalence to write fractions in their simplest form.</a:t>
            </a:r>
            <a:endParaRPr lang="en-US" sz="2000" b="1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2000" dirty="0"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46699" y="2433175"/>
            <a:ext cx="914530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omic Sans MS" panose="030F0702030302020204" pitchFamily="66" charset="0"/>
              </a:rPr>
              <a:t>We know that 2 and 8 are both even.</a:t>
            </a:r>
          </a:p>
          <a:p>
            <a:endParaRPr lang="en-US" sz="3200" dirty="0">
              <a:latin typeface="Comic Sans MS" panose="030F0702030302020204" pitchFamily="66" charset="0"/>
            </a:endParaRPr>
          </a:p>
          <a:p>
            <a:r>
              <a:rPr lang="en-US" sz="3200" dirty="0">
                <a:latin typeface="Comic Sans MS" panose="030F0702030302020204" pitchFamily="66" charset="0"/>
              </a:rPr>
              <a:t>This means they both have a factor of 2.</a:t>
            </a:r>
          </a:p>
          <a:p>
            <a:endParaRPr lang="en-US" sz="3200" dirty="0">
              <a:latin typeface="Comic Sans MS" panose="030F0702030302020204" pitchFamily="66" charset="0"/>
            </a:endParaRPr>
          </a:p>
          <a:p>
            <a:r>
              <a:rPr lang="en-US" sz="3200" dirty="0">
                <a:latin typeface="Comic Sans MS" panose="030F0702030302020204" pitchFamily="66" charset="0"/>
              </a:rPr>
              <a:t>This means we can divide both the numerator and the denominator by 2.</a:t>
            </a:r>
          </a:p>
        </p:txBody>
      </p:sp>
    </p:spTree>
    <p:extLst>
      <p:ext uri="{BB962C8B-B14F-4D97-AF65-F5344CB8AC3E}">
        <p14:creationId xmlns:p14="http://schemas.microsoft.com/office/powerpoint/2010/main" val="3357787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80987"/>
            <a:ext cx="10515600" cy="1325563"/>
          </a:xfrm>
        </p:spPr>
        <p:txBody>
          <a:bodyPr/>
          <a:lstStyle/>
          <a:p>
            <a:r>
              <a:rPr lang="en-US" sz="4000" dirty="0">
                <a:latin typeface="Comic Sans MS" panose="030F0702030302020204" pitchFamily="66" charset="0"/>
              </a:rPr>
              <a:t>Let’s look at how to simplify a fraction together.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01900" y="2946400"/>
                <a:ext cx="3077029" cy="3288620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7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7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72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en-US" sz="2400" b="1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1900" y="2946400"/>
                <a:ext cx="3077029" cy="328862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ubtitle 2"/>
          <p:cNvSpPr txBox="1">
            <a:spLocks/>
          </p:cNvSpPr>
          <p:nvPr/>
        </p:nvSpPr>
        <p:spPr>
          <a:xfrm>
            <a:off x="201900" y="171636"/>
            <a:ext cx="12037325" cy="6093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Use knowledge of equivalence to write fractions in their simplest form.</a:t>
            </a:r>
            <a:endParaRPr lang="en-US" sz="2000" b="1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2000" dirty="0"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93924" y="2951163"/>
            <a:ext cx="914530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omic Sans MS" panose="030F0702030302020204" pitchFamily="66" charset="0"/>
              </a:rPr>
              <a:t>1 and 4 have no common factors (other than 1) so this fraction is in its simplest form.</a:t>
            </a:r>
          </a:p>
        </p:txBody>
      </p:sp>
    </p:spTree>
    <p:extLst>
      <p:ext uri="{BB962C8B-B14F-4D97-AF65-F5344CB8AC3E}">
        <p14:creationId xmlns:p14="http://schemas.microsoft.com/office/powerpoint/2010/main" val="1605264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80987"/>
            <a:ext cx="10515600" cy="1325563"/>
          </a:xfrm>
        </p:spPr>
        <p:txBody>
          <a:bodyPr/>
          <a:lstStyle/>
          <a:p>
            <a:r>
              <a:rPr lang="en-US" sz="3600" dirty="0">
                <a:latin typeface="Comic Sans MS" panose="030F0702030302020204" pitchFamily="66" charset="0"/>
              </a:rPr>
              <a:t>Let’s look at how to simplify a fraction together.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01900" y="2946400"/>
                <a:ext cx="3077029" cy="3288620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6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US" sz="6600" b="1" i="1" smtClean="0">
                              <a:latin typeface="Cambria Math" panose="02040503050406030204" pitchFamily="18" charset="0"/>
                            </a:rPr>
                            <m:t>𝟏𝟔</m:t>
                          </m:r>
                        </m:den>
                      </m:f>
                    </m:oMath>
                  </m:oMathPara>
                </a14:m>
                <a:endParaRPr lang="en-US" sz="2000" b="1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1900" y="2946400"/>
                <a:ext cx="3077029" cy="328862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ubtitle 2"/>
          <p:cNvSpPr txBox="1">
            <a:spLocks/>
          </p:cNvSpPr>
          <p:nvPr/>
        </p:nvSpPr>
        <p:spPr>
          <a:xfrm>
            <a:off x="201900" y="171636"/>
            <a:ext cx="12037325" cy="6093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latin typeface="Comic Sans MS" panose="030F0702030302020204" pitchFamily="66" charset="0"/>
              </a:rPr>
              <a:t>WALT: </a:t>
            </a:r>
            <a:r>
              <a:rPr lang="en-US" sz="1800" dirty="0">
                <a:latin typeface="Comic Sans MS" panose="030F0702030302020204" pitchFamily="66" charset="0"/>
              </a:rPr>
              <a:t>Use knowledge of equivalence to write fractions in their simplest form.</a:t>
            </a:r>
            <a:endParaRPr lang="en-US" sz="1800" b="1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1800" dirty="0"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44799" y="2853987"/>
            <a:ext cx="914530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While the previous method of simplifying the fraction in stages works it is quicker to divide by the largest factor we know straight away.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78929" y="5094106"/>
            <a:ext cx="91453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mic Sans MS" panose="030F0702030302020204" pitchFamily="66" charset="0"/>
              </a:rPr>
              <a:t>What is the largest factor of 4 and 16?</a:t>
            </a:r>
          </a:p>
        </p:txBody>
      </p:sp>
    </p:spTree>
    <p:extLst>
      <p:ext uri="{BB962C8B-B14F-4D97-AF65-F5344CB8AC3E}">
        <p14:creationId xmlns:p14="http://schemas.microsoft.com/office/powerpoint/2010/main" val="2436908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80987"/>
            <a:ext cx="10515600" cy="1325563"/>
          </a:xfrm>
        </p:spPr>
        <p:txBody>
          <a:bodyPr/>
          <a:lstStyle/>
          <a:p>
            <a:r>
              <a:rPr lang="en-US" sz="4000" dirty="0">
                <a:latin typeface="Comic Sans MS" panose="030F0702030302020204" pitchFamily="66" charset="0"/>
              </a:rPr>
              <a:t>Let’s look at how to simplify a fraction together.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01900" y="2946400"/>
                <a:ext cx="3077029" cy="3288620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7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7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72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en-US" sz="2400" b="1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1900" y="2946400"/>
                <a:ext cx="3077029" cy="328862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ubtitle 2"/>
          <p:cNvSpPr txBox="1">
            <a:spLocks/>
          </p:cNvSpPr>
          <p:nvPr/>
        </p:nvSpPr>
        <p:spPr>
          <a:xfrm>
            <a:off x="201900" y="171636"/>
            <a:ext cx="12037325" cy="6093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Use knowledge of equivalence to write fractions in their simplest form.</a:t>
            </a:r>
            <a:endParaRPr lang="en-US" sz="2000" b="1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2000" dirty="0"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46699" y="2414512"/>
            <a:ext cx="914530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omic Sans MS" panose="030F0702030302020204" pitchFamily="66" charset="0"/>
              </a:rPr>
              <a:t>If we divide both 4 and 16 by four we get 1 and 4.</a:t>
            </a:r>
          </a:p>
          <a:p>
            <a:endParaRPr lang="en-US" sz="3200" dirty="0">
              <a:latin typeface="Comic Sans MS" panose="030F0702030302020204" pitchFamily="66" charset="0"/>
            </a:endParaRPr>
          </a:p>
          <a:p>
            <a:r>
              <a:rPr lang="en-US" sz="3200" dirty="0">
                <a:latin typeface="Comic Sans MS" panose="030F0702030302020204" pitchFamily="66" charset="0"/>
              </a:rPr>
              <a:t>1 and 4 have no common factors (other than 1) so this fraction is in its simplest form.</a:t>
            </a:r>
          </a:p>
          <a:p>
            <a:endParaRPr lang="en-US" sz="32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8890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Check your understanding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01900" y="1690688"/>
                <a:ext cx="11569186" cy="476386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3200" dirty="0">
                    <a:latin typeface="Comic Sans MS" panose="030F0702030302020204" pitchFamily="66" charset="0"/>
                  </a:rPr>
                  <a:t>1. Write a fraction equivalent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3200" dirty="0">
                    <a:latin typeface="Comic Sans MS" panose="030F0702030302020204" pitchFamily="66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sz="3200" dirty="0">
                  <a:latin typeface="Comic Sans MS" panose="030F0702030302020204" pitchFamily="66" charset="0"/>
                </a:endParaRPr>
              </a:p>
              <a:p>
                <a:pPr marL="0" indent="0">
                  <a:buNone/>
                </a:pPr>
                <a:r>
                  <a:rPr lang="en-US" sz="3200" dirty="0">
                    <a:latin typeface="Comic Sans MS" panose="030F0702030302020204" pitchFamily="66" charset="0"/>
                  </a:rPr>
                  <a:t>2. Write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dirty="0" smtClean="0"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US" sz="3600" b="0" i="1" dirty="0" smtClean="0">
                            <a:latin typeface="Cambria Math" panose="02040503050406030204" pitchFamily="18" charset="0"/>
                          </a:rPr>
                          <m:t>35</m:t>
                        </m:r>
                      </m:den>
                    </m:f>
                  </m:oMath>
                </a14:m>
                <a:r>
                  <a:rPr lang="en-US" sz="3200" dirty="0">
                    <a:latin typeface="Comic Sans MS" panose="030F0702030302020204" pitchFamily="66" charset="0"/>
                  </a:rPr>
                  <a:t> in its simplest form.</a:t>
                </a:r>
              </a:p>
              <a:p>
                <a:pPr marL="0" indent="0">
                  <a:buNone/>
                </a:pPr>
                <a:endParaRPr lang="en-US" sz="3200" dirty="0">
                  <a:latin typeface="Comic Sans MS" panose="030F0702030302020204" pitchFamily="66" charset="0"/>
                </a:endParaRPr>
              </a:p>
              <a:p>
                <a:pPr marL="0" indent="0">
                  <a:buNone/>
                </a:pPr>
                <a:r>
                  <a:rPr lang="en-US" sz="3200" dirty="0">
                    <a:latin typeface="Comic Sans MS" panose="030F0702030302020204" pitchFamily="66" charset="0"/>
                  </a:rPr>
                  <a:t>3. Which of these fractions is bigger? How do you know?</a:t>
                </a:r>
              </a:p>
              <a:p>
                <a:pPr marL="0" indent="0">
                  <a:buNone/>
                </a:pPr>
                <a:endParaRPr lang="en-US" sz="3200" dirty="0">
                  <a:latin typeface="Comic Sans MS" panose="030F0702030302020204" pitchFamily="66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4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lang="en-US" sz="4000" dirty="0">
                    <a:latin typeface="Comic Sans MS" panose="030F0702030302020204" pitchFamily="66" charset="0"/>
                  </a:rPr>
                  <a:t>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0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b="0" i="1" dirty="0" smtClean="0">
                            <a:latin typeface="Cambria Math" panose="02040503050406030204" pitchFamily="18" charset="0"/>
                          </a:rPr>
                          <m:t>26</m:t>
                        </m:r>
                      </m:num>
                      <m:den>
                        <m:r>
                          <a:rPr lang="en-US" sz="4000" b="0" i="1" dirty="0" smtClean="0"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lang="en-US" sz="3200" dirty="0">
                    <a:latin typeface="Comic Sans MS" panose="030F0702030302020204" pitchFamily="66" charset="0"/>
                  </a:rPr>
                  <a:t>    </a:t>
                </a:r>
                <a:r>
                  <a:rPr lang="en-US" sz="2400" dirty="0">
                    <a:latin typeface="Comic Sans MS" panose="030F0702030302020204" pitchFamily="66" charset="0"/>
                  </a:rPr>
                  <a:t> </a:t>
                </a:r>
              </a:p>
              <a:p>
                <a:pPr marL="0" indent="0">
                  <a:buNone/>
                </a:pPr>
                <a:endParaRPr lang="en-US" sz="2400" dirty="0">
                  <a:latin typeface="Comic Sans MS" panose="030F0702030302020204" pitchFamily="66" charset="0"/>
                </a:endParaRPr>
              </a:p>
              <a:p>
                <a:pPr marL="0" indent="0">
                  <a:buNone/>
                </a:pPr>
                <a:endParaRPr lang="en-US" sz="2400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1900" y="1690688"/>
                <a:ext cx="11569186" cy="4763861"/>
              </a:xfrm>
              <a:blipFill>
                <a:blip r:embed="rId2"/>
                <a:stretch>
                  <a:fillRect l="-1317" t="-7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ubtitle 2"/>
          <p:cNvSpPr txBox="1">
            <a:spLocks/>
          </p:cNvSpPr>
          <p:nvPr/>
        </p:nvSpPr>
        <p:spPr>
          <a:xfrm>
            <a:off x="201900" y="171636"/>
            <a:ext cx="12037325" cy="6093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Use knowledge of equivalence to write fractions in their simplest form.</a:t>
            </a:r>
            <a:endParaRPr lang="en-US" sz="2000" b="1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20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6598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Comic Sans MS" panose="030F0702030302020204" pitchFamily="66" charset="0"/>
              </a:rPr>
              <a:t>Check your understanding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01900" y="1690688"/>
                <a:ext cx="11569186" cy="476386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3200" dirty="0">
                    <a:latin typeface="Comic Sans MS" panose="030F0702030302020204" pitchFamily="66" charset="0"/>
                  </a:rPr>
                  <a:t>1. Write a fraction equivalent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3200" dirty="0">
                    <a:latin typeface="Comic Sans MS" panose="030F0702030302020204" pitchFamily="66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sz="3200" dirty="0">
                  <a:latin typeface="Comic Sans MS" panose="030F0702030302020204" pitchFamily="66" charset="0"/>
                </a:endParaRPr>
              </a:p>
              <a:p>
                <a:pPr marL="0" indent="0">
                  <a:buNone/>
                </a:pPr>
                <a:r>
                  <a:rPr lang="en-US" sz="3200" dirty="0">
                    <a:latin typeface="Comic Sans MS" panose="030F0702030302020204" pitchFamily="66" charset="0"/>
                  </a:rPr>
                  <a:t>2. Write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dirty="0" smtClean="0"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US" sz="3600" b="0" i="1" dirty="0" smtClean="0">
                            <a:latin typeface="Cambria Math" panose="02040503050406030204" pitchFamily="18" charset="0"/>
                          </a:rPr>
                          <m:t>35</m:t>
                        </m:r>
                      </m:den>
                    </m:f>
                  </m:oMath>
                </a14:m>
                <a:r>
                  <a:rPr lang="en-US" sz="3200" dirty="0">
                    <a:latin typeface="Comic Sans MS" panose="030F0702030302020204" pitchFamily="66" charset="0"/>
                  </a:rPr>
                  <a:t> in its simplest form.</a:t>
                </a:r>
              </a:p>
              <a:p>
                <a:pPr marL="0" indent="0">
                  <a:buNone/>
                </a:pPr>
                <a:endParaRPr lang="en-US" sz="3200" dirty="0">
                  <a:latin typeface="Comic Sans MS" panose="030F0702030302020204" pitchFamily="66" charset="0"/>
                </a:endParaRPr>
              </a:p>
              <a:p>
                <a:pPr marL="0" indent="0">
                  <a:buNone/>
                </a:pPr>
                <a:r>
                  <a:rPr lang="en-US" sz="3200" dirty="0">
                    <a:latin typeface="Comic Sans MS" panose="030F0702030302020204" pitchFamily="66" charset="0"/>
                  </a:rPr>
                  <a:t>3. Which of these fractions is bigger? How do you know?</a:t>
                </a:r>
              </a:p>
              <a:p>
                <a:pPr marL="0" indent="0">
                  <a:buNone/>
                </a:pPr>
                <a:endParaRPr lang="en-US" sz="3200" dirty="0">
                  <a:latin typeface="Comic Sans MS" panose="030F0702030302020204" pitchFamily="66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4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lang="en-US" sz="4000" dirty="0">
                    <a:latin typeface="Comic Sans MS" panose="030F0702030302020204" pitchFamily="66" charset="0"/>
                  </a:rPr>
                  <a:t>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0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b="0" i="1" dirty="0" smtClean="0">
                            <a:latin typeface="Cambria Math" panose="02040503050406030204" pitchFamily="18" charset="0"/>
                          </a:rPr>
                          <m:t>26</m:t>
                        </m:r>
                      </m:num>
                      <m:den>
                        <m:r>
                          <a:rPr lang="en-US" sz="4000" b="0" i="1" dirty="0" smtClean="0"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lang="en-US" sz="3200" dirty="0">
                    <a:latin typeface="Comic Sans MS" panose="030F0702030302020204" pitchFamily="66" charset="0"/>
                  </a:rPr>
                  <a:t>    </a:t>
                </a:r>
                <a:r>
                  <a:rPr lang="en-US" sz="2400" dirty="0">
                    <a:latin typeface="Comic Sans MS" panose="030F0702030302020204" pitchFamily="66" charset="0"/>
                  </a:rPr>
                  <a:t> </a:t>
                </a:r>
              </a:p>
              <a:p>
                <a:pPr marL="0" indent="0">
                  <a:buNone/>
                </a:pPr>
                <a:endParaRPr lang="en-US" sz="2400" dirty="0">
                  <a:latin typeface="Comic Sans MS" panose="030F0702030302020204" pitchFamily="66" charset="0"/>
                </a:endParaRPr>
              </a:p>
              <a:p>
                <a:pPr marL="0" indent="0">
                  <a:buNone/>
                </a:pPr>
                <a:endParaRPr lang="en-US" sz="2400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1900" y="1690688"/>
                <a:ext cx="11569186" cy="4763861"/>
              </a:xfrm>
              <a:blipFill>
                <a:blip r:embed="rId2"/>
                <a:stretch>
                  <a:fillRect l="-1317" t="-7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ubtitle 2"/>
          <p:cNvSpPr txBox="1">
            <a:spLocks/>
          </p:cNvSpPr>
          <p:nvPr/>
        </p:nvSpPr>
        <p:spPr>
          <a:xfrm>
            <a:off x="201900" y="171636"/>
            <a:ext cx="12037325" cy="6093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Use knowledge of equivalence to write fractions in their simplest form.</a:t>
            </a:r>
            <a:endParaRPr lang="en-US" sz="2000" b="1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2000" dirty="0">
              <a:latin typeface="Comic Sans MS" panose="030F07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053943" y="1690688"/>
                <a:ext cx="2235200" cy="9017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den>
                      </m:f>
                    </m:oMath>
                  </m:oMathPara>
                </a14:m>
                <a:endParaRPr lang="en-US" sz="1600" b="1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3943" y="1690688"/>
                <a:ext cx="2235200" cy="9017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086272" y="1690688"/>
                <a:ext cx="2235200" cy="9017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𝟗</m:t>
                          </m:r>
                        </m:den>
                      </m:f>
                    </m:oMath>
                  </m:oMathPara>
                </a14:m>
                <a:endParaRPr lang="en-US" sz="1600" b="1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6272" y="1690688"/>
                <a:ext cx="2235200" cy="9017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9143093" y="1690687"/>
                <a:ext cx="2235200" cy="8974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</m:den>
                      </m:f>
                    </m:oMath>
                  </m:oMathPara>
                </a14:m>
                <a:endParaRPr lang="en-US" sz="1600" b="1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3093" y="1690687"/>
                <a:ext cx="2235200" cy="8974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0064297" y="1913513"/>
                <a:ext cx="22352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𝒆𝒕𝒄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1600" b="1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4297" y="1913513"/>
                <a:ext cx="2235200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351815" y="3055095"/>
                <a:ext cx="2235200" cy="8995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</m:oMath>
                  </m:oMathPara>
                </a14:m>
                <a:endParaRPr lang="en-US" sz="1600" b="1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1815" y="3055095"/>
                <a:ext cx="2235200" cy="89954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val 9"/>
          <p:cNvSpPr/>
          <p:nvPr/>
        </p:nvSpPr>
        <p:spPr>
          <a:xfrm>
            <a:off x="4621100" y="4938873"/>
            <a:ext cx="957943" cy="1360034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0060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 txBox="1">
            <a:spLocks/>
          </p:cNvSpPr>
          <p:nvPr/>
        </p:nvSpPr>
        <p:spPr>
          <a:xfrm>
            <a:off x="201900" y="171636"/>
            <a:ext cx="12037325" cy="60935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Use knowledge of equivalence to write fractions in their simplest form.</a:t>
            </a:r>
            <a:endParaRPr lang="en-US" b="1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81486" y="2496457"/>
            <a:ext cx="516708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omic Sans MS" panose="030F0702030302020204" pitchFamily="66" charset="0"/>
              </a:rPr>
              <a:t>Finished everything?</a:t>
            </a:r>
          </a:p>
          <a:p>
            <a:endParaRPr lang="en-US" sz="3200" dirty="0">
              <a:latin typeface="Comic Sans MS" panose="030F0702030302020204" pitchFamily="66" charset="0"/>
            </a:endParaRPr>
          </a:p>
          <a:p>
            <a:r>
              <a:rPr lang="en-US" sz="3200" dirty="0">
                <a:latin typeface="Comic Sans MS" panose="030F0702030302020204" pitchFamily="66" charset="0"/>
              </a:rPr>
              <a:t>Write your own questions about finding the simplest form of fractions.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90834A-9E90-41E9-9ABC-7B137596E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238" y="1122439"/>
            <a:ext cx="5167085" cy="527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3107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53E9A2-6943-4B51-97D3-26E4B8F74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35466"/>
            <a:ext cx="12037326" cy="2888958"/>
          </a:xfrm>
          <a:prstGeom prst="rect">
            <a:avLst/>
          </a:prstGeom>
        </p:spPr>
      </p:pic>
      <p:sp>
        <p:nvSpPr>
          <p:cNvPr id="4" name="Subtitle 2"/>
          <p:cNvSpPr txBox="1">
            <a:spLocks/>
          </p:cNvSpPr>
          <p:nvPr/>
        </p:nvSpPr>
        <p:spPr>
          <a:xfrm>
            <a:off x="201900" y="171636"/>
            <a:ext cx="12037325" cy="60935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Use knowledge of equivalence to write fractions in their simplest form.</a:t>
            </a:r>
            <a:endParaRPr lang="en-US" b="1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585029" y="3556000"/>
                <a:ext cx="537028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US" sz="24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en-US" b="1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5029" y="3556000"/>
                <a:ext cx="537028" cy="7838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232401" y="3556000"/>
                <a:ext cx="537028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</m:num>
                        <m:den>
                          <m:r>
                            <a:rPr lang="en-US" sz="24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</m:den>
                      </m:f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2401" y="3556000"/>
                <a:ext cx="537028" cy="7838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879773" y="3541502"/>
                <a:ext cx="537028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</m:num>
                        <m:den>
                          <m:r>
                            <a:rPr lang="en-US" sz="24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𝟏𝟒</m:t>
                          </m:r>
                        </m:den>
                      </m:f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773" y="3541502"/>
                <a:ext cx="537028" cy="7838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8527145" y="3541502"/>
                <a:ext cx="537028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num>
                        <m:den>
                          <m:r>
                            <a:rPr lang="en-US" sz="24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𝟏𝟔</m:t>
                          </m:r>
                        </m:den>
                      </m:f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7145" y="3541502"/>
                <a:ext cx="537028" cy="7838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0174517" y="3556016"/>
                <a:ext cx="537028" cy="7936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num>
                        <m:den>
                          <m:r>
                            <a:rPr lang="en-US" sz="24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</m:den>
                      </m:f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4517" y="3556016"/>
                <a:ext cx="537028" cy="79367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97510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D66F1B-DC6D-4D70-9E80-EB217592D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00" y="1930978"/>
            <a:ext cx="11740432" cy="2996044"/>
          </a:xfrm>
          <a:prstGeom prst="rect">
            <a:avLst/>
          </a:prstGeom>
        </p:spPr>
      </p:pic>
      <p:sp>
        <p:nvSpPr>
          <p:cNvPr id="4" name="Subtitle 2"/>
          <p:cNvSpPr txBox="1">
            <a:spLocks/>
          </p:cNvSpPr>
          <p:nvPr/>
        </p:nvSpPr>
        <p:spPr>
          <a:xfrm>
            <a:off x="201900" y="171636"/>
            <a:ext cx="12037325" cy="6093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Twinkl" panose="02000000000000000000" pitchFamily="2" charset="0"/>
              </a:rPr>
              <a:t>WALT: </a:t>
            </a:r>
            <a:r>
              <a:rPr lang="en-US" dirty="0">
                <a:latin typeface="Twinkl" panose="02000000000000000000" pitchFamily="2" charset="0"/>
              </a:rPr>
              <a:t>Use knowledge of equivalence to write fractions in their simplest form.</a:t>
            </a:r>
            <a:endParaRPr lang="en-US" b="1" dirty="0">
              <a:latin typeface="Twinkl" panose="02000000000000000000" pitchFamily="2" charset="0"/>
            </a:endParaRPr>
          </a:p>
          <a:p>
            <a:pPr marL="0" indent="0">
              <a:buNone/>
            </a:pPr>
            <a:endParaRPr lang="en-US" dirty="0">
              <a:latin typeface="Twinkl" panose="0200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585029" y="3556000"/>
                <a:ext cx="537028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4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5029" y="3556000"/>
                <a:ext cx="537028" cy="7838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232401" y="3556000"/>
                <a:ext cx="537028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US" sz="24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2401" y="3556000"/>
                <a:ext cx="537028" cy="7861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879773" y="3541502"/>
                <a:ext cx="537028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US" sz="24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773" y="3541502"/>
                <a:ext cx="537028" cy="7838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8527145" y="3541502"/>
                <a:ext cx="537028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US" sz="24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𝟏𝟏</m:t>
                          </m:r>
                        </m:den>
                      </m:f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7145" y="3541502"/>
                <a:ext cx="537028" cy="7838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0174517" y="3556016"/>
                <a:ext cx="537028" cy="7936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US" sz="24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4517" y="3556016"/>
                <a:ext cx="537028" cy="79367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73500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B67758-4B51-412B-B621-E2BCFBBC9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00" y="1478342"/>
            <a:ext cx="11138829" cy="5208022"/>
          </a:xfrm>
          <a:prstGeom prst="rect">
            <a:avLst/>
          </a:prstGeom>
        </p:spPr>
      </p:pic>
      <p:sp>
        <p:nvSpPr>
          <p:cNvPr id="4" name="Subtitle 2"/>
          <p:cNvSpPr txBox="1">
            <a:spLocks/>
          </p:cNvSpPr>
          <p:nvPr/>
        </p:nvSpPr>
        <p:spPr>
          <a:xfrm>
            <a:off x="201900" y="171636"/>
            <a:ext cx="12037325" cy="6093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Twinkl" panose="02000000000000000000" pitchFamily="2" charset="0"/>
              </a:rPr>
              <a:t>WALT: </a:t>
            </a:r>
            <a:r>
              <a:rPr lang="en-US" dirty="0">
                <a:latin typeface="Twinkl" panose="02000000000000000000" pitchFamily="2" charset="0"/>
              </a:rPr>
              <a:t>Use knowledge of equivalence to write fractions in their simplest form.</a:t>
            </a:r>
            <a:endParaRPr lang="en-US" b="1" dirty="0">
              <a:latin typeface="Twinkl" panose="02000000000000000000" pitchFamily="2" charset="0"/>
            </a:endParaRPr>
          </a:p>
          <a:p>
            <a:pPr marL="0" indent="0">
              <a:buNone/>
            </a:pPr>
            <a:endParaRPr lang="en-US" dirty="0">
              <a:latin typeface="Twinkl" panose="0200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606723" y="2797790"/>
                <a:ext cx="996286" cy="784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6723" y="2797790"/>
                <a:ext cx="996286" cy="7842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345977" y="2797790"/>
                <a:ext cx="996286" cy="784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𝟏𝟑</m:t>
                          </m:r>
                        </m:num>
                        <m:den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𝟐𝟖</m:t>
                          </m:r>
                        </m:den>
                      </m:f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5977" y="2797790"/>
                <a:ext cx="996286" cy="7842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169393" y="2797790"/>
                <a:ext cx="996286" cy="784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num>
                        <m:den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𝟏𝟒</m:t>
                          </m:r>
                        </m:den>
                      </m:f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9393" y="2797790"/>
                <a:ext cx="996286" cy="7842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062186" y="2797790"/>
                <a:ext cx="996286" cy="784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</m:num>
                        <m:den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𝟐𝟏</m:t>
                          </m:r>
                        </m:den>
                      </m:f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2186" y="2797790"/>
                <a:ext cx="996286" cy="7842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954978" y="2797790"/>
                <a:ext cx="996286" cy="784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𝟑𝟒</m:t>
                          </m:r>
                        </m:num>
                        <m:den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𝟑𝟓</m:t>
                          </m:r>
                        </m:den>
                      </m:f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4978" y="2797790"/>
                <a:ext cx="996286" cy="7842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352535" y="5515969"/>
                <a:ext cx="996286" cy="784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2535" y="5515969"/>
                <a:ext cx="996286" cy="7842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043451" y="5515969"/>
                <a:ext cx="996286" cy="784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𝟏𝟏</m:t>
                          </m:r>
                        </m:num>
                        <m:den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𝟐𝟒</m:t>
                          </m:r>
                        </m:den>
                      </m:f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3451" y="5515969"/>
                <a:ext cx="996286" cy="7842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734367" y="5515969"/>
                <a:ext cx="996286" cy="784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den>
                      </m:f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4367" y="5515969"/>
                <a:ext cx="996286" cy="7842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324284" y="5515969"/>
                <a:ext cx="996286" cy="784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𝟏𝟎</m:t>
                          </m:r>
                        </m:num>
                        <m:den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𝟏𝟖</m:t>
                          </m:r>
                        </m:den>
                      </m:f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4284" y="5515969"/>
                <a:ext cx="996286" cy="7842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015200" y="5515969"/>
                <a:ext cx="996286" cy="784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</m:num>
                        <m:den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</m:den>
                      </m:f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5200" y="5515969"/>
                <a:ext cx="996286" cy="7842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5432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1900" y="171636"/>
            <a:ext cx="12037325" cy="1218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Use knowledge of equivalence to write fractions in their simplest form.</a:t>
            </a:r>
            <a:endParaRPr lang="en-US" b="1" dirty="0">
              <a:latin typeface="Comic Sans MS" panose="030F0702030302020204" pitchFamily="66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Comic Sans MS" panose="030F0702030302020204" pitchFamily="66" charset="0"/>
              </a:rPr>
              <a:t>I can write equivalent fractions of a given fraction.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find the simplest form of a fraction.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use equivalence to order fractions with different denominators.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A81186B-47E0-45D0-8C0E-079757A3C8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313232"/>
            <a:ext cx="1102890" cy="2123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45BFC43-2B8D-4089-BFCA-6C31903D0D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1053553"/>
            <a:ext cx="1102890" cy="23052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D14EAFD-61AE-48AF-ACA4-BD4A3224AC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940088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1395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900" y="638080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Comic Sans MS" panose="030F0702030302020204" pitchFamily="66" charset="0"/>
              </a:rPr>
              <a:t>Plenary –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01900" y="1963643"/>
                <a:ext cx="11990100" cy="301779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4000" dirty="0">
                    <a:latin typeface="Comic Sans MS" panose="030F0702030302020204" pitchFamily="66" charset="0"/>
                  </a:rPr>
                  <a:t>Mr. Rhys has three equivalent fractions in a set:</a:t>
                </a:r>
              </a:p>
              <a:p>
                <a:pPr marL="0" indent="0">
                  <a:buNone/>
                </a:pPr>
                <a:endParaRPr lang="en-US" sz="4000" dirty="0">
                  <a:latin typeface="Comic Sans MS" panose="030F0702030302020204" pitchFamily="66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4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4000" dirty="0">
                    <a:latin typeface="Comic Sans MS" panose="030F0702030302020204" pitchFamily="66" charset="0"/>
                  </a:rPr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US" sz="4000" dirty="0">
                    <a:latin typeface="Comic Sans MS" panose="030F0702030302020204" pitchFamily="66" charset="0"/>
                  </a:rPr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r>
                  <a:rPr lang="en-US" sz="4000" dirty="0">
                    <a:latin typeface="Comic Sans MS" panose="030F0702030302020204" pitchFamily="66" charset="0"/>
                  </a:rPr>
                  <a:t> </a:t>
                </a:r>
              </a:p>
              <a:p>
                <a:pPr marL="0" indent="0">
                  <a:buNone/>
                </a:pPr>
                <a:endParaRPr lang="en-US" sz="4000" dirty="0">
                  <a:latin typeface="Comic Sans MS" panose="030F0702030302020204" pitchFamily="66" charset="0"/>
                </a:endParaRPr>
              </a:p>
              <a:p>
                <a:pPr marL="0" indent="0">
                  <a:buNone/>
                </a:pPr>
                <a:r>
                  <a:rPr lang="en-US" sz="4000" dirty="0">
                    <a:latin typeface="Comic Sans MS" panose="030F0702030302020204" pitchFamily="66" charset="0"/>
                  </a:rPr>
                  <a:t>Can the fraction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lang="en-US" sz="4000" dirty="0">
                    <a:latin typeface="Comic Sans MS" panose="030F0702030302020204" pitchFamily="66" charset="0"/>
                  </a:rPr>
                  <a:t> be in this set? Why / Why not? </a:t>
                </a:r>
              </a:p>
              <a:p>
                <a:pPr marL="0" indent="0">
                  <a:buNone/>
                </a:pPr>
                <a:endParaRPr lang="en-US" sz="4000" dirty="0">
                  <a:latin typeface="Comic Sans MS" panose="030F0702030302020204" pitchFamily="66" charset="0"/>
                </a:endParaRPr>
              </a:p>
              <a:p>
                <a:pPr marL="0" indent="0">
                  <a:buNone/>
                </a:pPr>
                <a:endParaRPr lang="en-US" sz="4000" dirty="0">
                  <a:latin typeface="Comic Sans MS" panose="030F0702030302020204" pitchFamily="66" charset="0"/>
                </a:endParaRPr>
              </a:p>
              <a:p>
                <a:pPr marL="0" indent="0">
                  <a:buNone/>
                </a:pPr>
                <a:endParaRPr lang="en-US" sz="4000" dirty="0"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1900" y="1963643"/>
                <a:ext cx="11990100" cy="3017790"/>
              </a:xfrm>
              <a:blipFill>
                <a:blip r:embed="rId2"/>
                <a:stretch>
                  <a:fillRect l="-1779" t="-5657" b="-52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ubtitle 2"/>
          <p:cNvSpPr txBox="1">
            <a:spLocks/>
          </p:cNvSpPr>
          <p:nvPr/>
        </p:nvSpPr>
        <p:spPr>
          <a:xfrm>
            <a:off x="201900" y="171636"/>
            <a:ext cx="12037325" cy="60935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Use knowledge of equivalence to write fractions in their simplest form.</a:t>
            </a:r>
            <a:endParaRPr lang="en-US" b="1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7308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4310</TotalTime>
  <Words>873</Words>
  <Application>Microsoft Office PowerPoint</Application>
  <PresentationFormat>Widescreen</PresentationFormat>
  <Paragraphs>127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Comic Sans MS</vt:lpstr>
      <vt:lpstr>Twinkl</vt:lpstr>
      <vt:lpstr>Office Theme</vt:lpstr>
      <vt:lpstr>Maths </vt:lpstr>
      <vt:lpstr>PowerPoint Presentation</vt:lpstr>
      <vt:lpstr>Retrieval Practice</vt:lpstr>
      <vt:lpstr>Homework</vt:lpstr>
      <vt:lpstr>Starter – What is equivalence?</vt:lpstr>
      <vt:lpstr>Equivalent fractions are fractions that are an equal amount but written with a different numerator and denominator.</vt:lpstr>
      <vt:lpstr>We can use fraction walls to help us find equivalent fractions.</vt:lpstr>
      <vt:lpstr>PowerPoint Presentation</vt:lpstr>
      <vt:lpstr>Let’s look at how to simplify a fraction together.</vt:lpstr>
      <vt:lpstr>Let’s look at how to simplify a fraction together.</vt:lpstr>
      <vt:lpstr>Let’s look at how to simplify a fraction together.</vt:lpstr>
      <vt:lpstr>Let’s look at how to simplify a fraction together.</vt:lpstr>
      <vt:lpstr>Let’s look at how to simplify a fraction together.</vt:lpstr>
      <vt:lpstr>Check your understanding</vt:lpstr>
      <vt:lpstr>Check your understanding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Plenary –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Maths</dc:title>
  <dc:creator>Jonathan Michael Holliday (VSC-KTiH-MB)</dc:creator>
  <cp:lastModifiedBy>Colette Aisling Meade (VSC-KTiH-MB)</cp:lastModifiedBy>
  <cp:revision>33</cp:revision>
  <dcterms:created xsi:type="dcterms:W3CDTF">2024-10-29T00:51:24Z</dcterms:created>
  <dcterms:modified xsi:type="dcterms:W3CDTF">2026-09-25T01:56:09Z</dcterms:modified>
</cp:coreProperties>
</file>