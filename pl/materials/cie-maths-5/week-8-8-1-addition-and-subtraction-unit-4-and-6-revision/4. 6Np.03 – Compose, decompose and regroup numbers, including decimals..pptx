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74" r:id="rId4"/>
    <p:sldId id="257" r:id="rId5"/>
    <p:sldId id="275" r:id="rId6"/>
    <p:sldId id="284" r:id="rId7"/>
    <p:sldId id="276" r:id="rId8"/>
    <p:sldId id="285" r:id="rId9"/>
    <p:sldId id="277" r:id="rId10"/>
    <p:sldId id="278" r:id="rId11"/>
    <p:sldId id="279" r:id="rId12"/>
    <p:sldId id="280" r:id="rId13"/>
    <p:sldId id="281" r:id="rId14"/>
    <p:sldId id="282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482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89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88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366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90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367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4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93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1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87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6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9806C-039F-4531-8056-9D24E0A17082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E5594-40B2-452B-81D6-683F4A226C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90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Maths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06.10.2026</a:t>
            </a:r>
          </a:p>
          <a:p>
            <a:pPr algn="l"/>
            <a:endParaRPr lang="en-US" sz="5400" b="1" dirty="0">
              <a:latin typeface="Comic Sans MS" panose="030F0702030302020204" pitchFamily="66" charset="0"/>
            </a:endParaRPr>
          </a:p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 </a:t>
            </a:r>
            <a:r>
              <a:rPr lang="en-US" sz="4400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8 – Addition and subtraction.</a:t>
            </a:r>
          </a:p>
        </p:txBody>
      </p:sp>
    </p:spTree>
    <p:extLst>
      <p:ext uri="{BB962C8B-B14F-4D97-AF65-F5344CB8AC3E}">
        <p14:creationId xmlns:p14="http://schemas.microsoft.com/office/powerpoint/2010/main" val="334273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fill in missing numbers to complete composition and decomposition.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compose, decompose and regroup numbers.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correct mistakes in composition and decomposition.</a:t>
            </a: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846CC8-1A88-45F6-A6C6-75F1BEDD5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9050" y="1175657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272C43-10A6-4208-898F-DDD39F892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943" y="915978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7B84D7-2E4C-4E21-BF8A-990956C6C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23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4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747" y="1476143"/>
            <a:ext cx="8117431" cy="50586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739" y="323168"/>
            <a:ext cx="3952165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020926" cy="1205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Comic Sans MS" panose="030F0702030302020204" pitchFamily="66" charset="0"/>
              </a:rPr>
              <a:t> </a:t>
            </a: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Compose, decompose and regroup numbers, including decimals</a:t>
            </a:r>
            <a:r>
              <a:rPr lang="en-US" sz="1400" dirty="0">
                <a:latin typeface="Comic Sans MS" panose="030F0702030302020204" pitchFamily="66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42182" y="5786270"/>
            <a:ext cx="1438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40</a:t>
            </a:r>
            <a:endParaRPr lang="en-US" sz="3600" b="1" baseline="30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4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0196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Starter – </a:t>
            </a:r>
            <a:r>
              <a:rPr lang="en-US" dirty="0">
                <a:latin typeface="Comic Sans MS" panose="030F0702030302020204" pitchFamily="66" charset="0"/>
              </a:rPr>
              <a:t>What mistake has been made?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4CF032E-8D8C-479E-A189-4A95EF037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199011"/>
              </p:ext>
            </p:extLst>
          </p:nvPr>
        </p:nvGraphicFramePr>
        <p:xfrm>
          <a:off x="3160975" y="1738199"/>
          <a:ext cx="5952548" cy="4919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64">
                  <a:extLst>
                    <a:ext uri="{9D8B030D-6E8A-4147-A177-3AD203B41FA5}">
                      <a16:colId xmlns:a16="http://schemas.microsoft.com/office/drawing/2014/main" val="3696470503"/>
                    </a:ext>
                  </a:extLst>
                </a:gridCol>
                <a:gridCol w="850364">
                  <a:extLst>
                    <a:ext uri="{9D8B030D-6E8A-4147-A177-3AD203B41FA5}">
                      <a16:colId xmlns:a16="http://schemas.microsoft.com/office/drawing/2014/main" val="3896647621"/>
                    </a:ext>
                  </a:extLst>
                </a:gridCol>
                <a:gridCol w="850364">
                  <a:extLst>
                    <a:ext uri="{9D8B030D-6E8A-4147-A177-3AD203B41FA5}">
                      <a16:colId xmlns:a16="http://schemas.microsoft.com/office/drawing/2014/main" val="853931748"/>
                    </a:ext>
                  </a:extLst>
                </a:gridCol>
                <a:gridCol w="850364">
                  <a:extLst>
                    <a:ext uri="{9D8B030D-6E8A-4147-A177-3AD203B41FA5}">
                      <a16:colId xmlns:a16="http://schemas.microsoft.com/office/drawing/2014/main" val="4207026308"/>
                    </a:ext>
                  </a:extLst>
                </a:gridCol>
                <a:gridCol w="850364">
                  <a:extLst>
                    <a:ext uri="{9D8B030D-6E8A-4147-A177-3AD203B41FA5}">
                      <a16:colId xmlns:a16="http://schemas.microsoft.com/office/drawing/2014/main" val="873635014"/>
                    </a:ext>
                  </a:extLst>
                </a:gridCol>
                <a:gridCol w="850364">
                  <a:extLst>
                    <a:ext uri="{9D8B030D-6E8A-4147-A177-3AD203B41FA5}">
                      <a16:colId xmlns:a16="http://schemas.microsoft.com/office/drawing/2014/main" val="624586505"/>
                    </a:ext>
                  </a:extLst>
                </a:gridCol>
                <a:gridCol w="850364">
                  <a:extLst>
                    <a:ext uri="{9D8B030D-6E8A-4147-A177-3AD203B41FA5}">
                      <a16:colId xmlns:a16="http://schemas.microsoft.com/office/drawing/2014/main" val="2092778748"/>
                    </a:ext>
                  </a:extLst>
                </a:gridCol>
              </a:tblGrid>
              <a:tr h="8198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029383"/>
                  </a:ext>
                </a:extLst>
              </a:tr>
              <a:tr h="81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250048"/>
                  </a:ext>
                </a:extLst>
              </a:tr>
              <a:tr h="81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43200"/>
                  </a:ext>
                </a:extLst>
              </a:tr>
              <a:tr h="81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14129"/>
                  </a:ext>
                </a:extLst>
              </a:tr>
              <a:tr h="81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315010"/>
                  </a:ext>
                </a:extLst>
              </a:tr>
              <a:tr h="8198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8549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784C0C-FBAB-4CCB-81B0-D742A4F9947A}"/>
              </a:ext>
            </a:extLst>
          </p:cNvPr>
          <p:cNvSpPr txBox="1"/>
          <p:nvPr/>
        </p:nvSpPr>
        <p:spPr>
          <a:xfrm>
            <a:off x="6685282" y="3408673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6A35E-1FBA-432F-8BF2-9DA027BE8656}"/>
              </a:ext>
            </a:extLst>
          </p:cNvPr>
          <p:cNvSpPr txBox="1"/>
          <p:nvPr/>
        </p:nvSpPr>
        <p:spPr>
          <a:xfrm>
            <a:off x="5966496" y="2582669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C5D3E-8763-4DDE-B383-ECB1F5B8B26F}"/>
              </a:ext>
            </a:extLst>
          </p:cNvPr>
          <p:cNvSpPr txBox="1"/>
          <p:nvPr/>
        </p:nvSpPr>
        <p:spPr>
          <a:xfrm>
            <a:off x="6685282" y="2582668"/>
            <a:ext cx="327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C5865-F655-47A9-A097-C4BE380081C4}"/>
              </a:ext>
            </a:extLst>
          </p:cNvPr>
          <p:cNvSpPr txBox="1"/>
          <p:nvPr/>
        </p:nvSpPr>
        <p:spPr>
          <a:xfrm>
            <a:off x="7662754" y="2582667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D09A7-AA12-4663-9A73-D437738A9CE9}"/>
              </a:ext>
            </a:extLst>
          </p:cNvPr>
          <p:cNvSpPr txBox="1"/>
          <p:nvPr/>
        </p:nvSpPr>
        <p:spPr>
          <a:xfrm>
            <a:off x="7607219" y="3381896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5F0367-5944-43C5-A846-ABEBC5172DC9}"/>
              </a:ext>
            </a:extLst>
          </p:cNvPr>
          <p:cNvSpPr txBox="1"/>
          <p:nvPr/>
        </p:nvSpPr>
        <p:spPr>
          <a:xfrm>
            <a:off x="5205942" y="2562347"/>
            <a:ext cx="376561" cy="781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74B36A-9D7D-4C92-9E99-90A09D4E82EC}"/>
              </a:ext>
            </a:extLst>
          </p:cNvPr>
          <p:cNvSpPr txBox="1"/>
          <p:nvPr/>
        </p:nvSpPr>
        <p:spPr>
          <a:xfrm>
            <a:off x="5861000" y="3423651"/>
            <a:ext cx="327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0E840A-F44E-4D91-8F33-AAB7D75D16F1}"/>
              </a:ext>
            </a:extLst>
          </p:cNvPr>
          <p:cNvSpPr txBox="1"/>
          <p:nvPr/>
        </p:nvSpPr>
        <p:spPr>
          <a:xfrm>
            <a:off x="5171496" y="3383926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273CED-FF8E-4A52-B14D-F8321075AC4C}"/>
              </a:ext>
            </a:extLst>
          </p:cNvPr>
          <p:cNvSpPr txBox="1"/>
          <p:nvPr/>
        </p:nvSpPr>
        <p:spPr>
          <a:xfrm>
            <a:off x="5079190" y="4251189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70D21-A8F5-466B-AAAB-9B1E8327C3B9}"/>
              </a:ext>
            </a:extLst>
          </p:cNvPr>
          <p:cNvSpPr txBox="1"/>
          <p:nvPr/>
        </p:nvSpPr>
        <p:spPr>
          <a:xfrm>
            <a:off x="5953334" y="4183965"/>
            <a:ext cx="327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D9357E-3710-4082-BA9C-B11FE547D02E}"/>
              </a:ext>
            </a:extLst>
          </p:cNvPr>
          <p:cNvSpPr txBox="1"/>
          <p:nvPr/>
        </p:nvSpPr>
        <p:spPr>
          <a:xfrm>
            <a:off x="6730617" y="422030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6355CD-CCA0-4F8C-B710-A12220176840}"/>
              </a:ext>
            </a:extLst>
          </p:cNvPr>
          <p:cNvSpPr txBox="1"/>
          <p:nvPr/>
        </p:nvSpPr>
        <p:spPr>
          <a:xfrm>
            <a:off x="7662754" y="4235726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8CC1D5-A71F-4BD7-A343-28D250237E23}"/>
              </a:ext>
            </a:extLst>
          </p:cNvPr>
          <p:cNvSpPr txBox="1"/>
          <p:nvPr/>
        </p:nvSpPr>
        <p:spPr>
          <a:xfrm>
            <a:off x="4365176" y="322257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+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5C609F3-9D8B-4DB6-8480-BA853CD08CD4}"/>
              </a:ext>
            </a:extLst>
          </p:cNvPr>
          <p:cNvCxnSpPr/>
          <p:nvPr/>
        </p:nvCxnSpPr>
        <p:spPr>
          <a:xfrm>
            <a:off x="4835176" y="4193092"/>
            <a:ext cx="347570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9747EC-2FD0-431F-89C0-6899DE714F4F}"/>
              </a:ext>
            </a:extLst>
          </p:cNvPr>
          <p:cNvCxnSpPr/>
          <p:nvPr/>
        </p:nvCxnSpPr>
        <p:spPr>
          <a:xfrm>
            <a:off x="4835176" y="5027802"/>
            <a:ext cx="3475704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193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095" y="645539"/>
            <a:ext cx="119690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0147" y="2018611"/>
            <a:ext cx="583659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ones</a:t>
            </a:r>
          </a:p>
          <a:p>
            <a:endParaRPr lang="en-US" sz="4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hundredths</a:t>
            </a:r>
          </a:p>
          <a:p>
            <a:endParaRPr lang="en-US" sz="4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tenths</a:t>
            </a:r>
          </a:p>
          <a:p>
            <a:endParaRPr lang="en-US" sz="4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thousandths</a:t>
            </a:r>
          </a:p>
          <a:p>
            <a:endParaRPr lang="en-US" sz="4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US" sz="6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417987-53E9-41E8-8175-8D32AD24DA36}"/>
              </a:ext>
            </a:extLst>
          </p:cNvPr>
          <p:cNvSpPr txBox="1"/>
          <p:nvPr/>
        </p:nvSpPr>
        <p:spPr>
          <a:xfrm>
            <a:off x="332096" y="1398891"/>
            <a:ext cx="7197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What do these represent?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894C8-EEBF-4EF7-B8F2-D35FD2E7F2B1}"/>
              </a:ext>
            </a:extLst>
          </p:cNvPr>
          <p:cNvSpPr txBox="1"/>
          <p:nvPr/>
        </p:nvSpPr>
        <p:spPr>
          <a:xfrm>
            <a:off x="480044" y="3429000"/>
            <a:ext cx="58365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solidFill>
                  <a:schemeClr val="bg2">
                    <a:lumMod val="10000"/>
                  </a:schemeClr>
                </a:solidFill>
                <a:latin typeface="Comic Sans MS" panose="030F0702030302020204" pitchFamily="66" charset="0"/>
              </a:rPr>
              <a:t>2.391</a:t>
            </a:r>
          </a:p>
          <a:p>
            <a:endParaRPr lang="en-US" sz="60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095" y="645539"/>
            <a:ext cx="119690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On your whiteboards write down the number that the shaded squares represent.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63" y="1968978"/>
            <a:ext cx="11740552" cy="37755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77692" y="5842337"/>
            <a:ext cx="34464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0.468</a:t>
            </a:r>
          </a:p>
        </p:txBody>
      </p:sp>
    </p:spTree>
    <p:extLst>
      <p:ext uri="{BB962C8B-B14F-4D97-AF65-F5344CB8AC3E}">
        <p14:creationId xmlns:p14="http://schemas.microsoft.com/office/powerpoint/2010/main" val="234824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12" y="1838623"/>
            <a:ext cx="1146509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What different ways of saying or writing this number can you think of?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0963" y="822960"/>
            <a:ext cx="2929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0.468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116" y="3289110"/>
            <a:ext cx="48387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0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12" y="1838623"/>
            <a:ext cx="11465095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What do these mean?</a:t>
            </a:r>
          </a:p>
          <a:p>
            <a:pPr marL="0" indent="0">
              <a:buNone/>
            </a:pPr>
            <a:endParaRPr lang="en-US" sz="4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Compose</a:t>
            </a:r>
          </a:p>
          <a:p>
            <a:pPr marL="0" indent="0">
              <a:buNone/>
            </a:pPr>
            <a:endParaRPr lang="en-US" sz="4400" dirty="0">
              <a:solidFill>
                <a:schemeClr val="tx2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Decompose</a:t>
            </a:r>
          </a:p>
          <a:p>
            <a:pPr marL="0" indent="0">
              <a:buNone/>
            </a:pPr>
            <a:endParaRPr lang="en-US" sz="4400" dirty="0">
              <a:solidFill>
                <a:schemeClr val="tx2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>
                <a:solidFill>
                  <a:schemeClr val="tx2">
                    <a:lumMod val="75000"/>
                  </a:schemeClr>
                </a:solidFill>
                <a:latin typeface="Comic Sans MS" panose="030F0702030302020204" pitchFamily="66" charset="0"/>
              </a:rPr>
              <a:t>Regroup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512" y="809341"/>
            <a:ext cx="29298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TTYP</a:t>
            </a:r>
          </a:p>
        </p:txBody>
      </p:sp>
    </p:spTree>
    <p:extLst>
      <p:ext uri="{BB962C8B-B14F-4D97-AF65-F5344CB8AC3E}">
        <p14:creationId xmlns:p14="http://schemas.microsoft.com/office/powerpoint/2010/main" val="383953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427" y="1300632"/>
            <a:ext cx="1051560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How would you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decompose</a:t>
            </a:r>
            <a:r>
              <a:rPr lang="en-US" dirty="0">
                <a:latin typeface="Comic Sans MS" panose="030F0702030302020204" pitchFamily="66" charset="0"/>
              </a:rPr>
              <a:t> this number?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Is there more than one 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7693" y="2772476"/>
            <a:ext cx="7500582" cy="109964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0.4 + 0.06 + 0.008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09433" y="4018400"/>
            <a:ext cx="1142317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omic Sans MS" panose="030F0702030302020204" pitchFamily="66" charset="0"/>
              </a:rPr>
              <a:t>We can </a:t>
            </a:r>
            <a:r>
              <a:rPr lang="en-US" b="1" dirty="0">
                <a:latin typeface="Comic Sans MS" panose="030F0702030302020204" pitchFamily="66" charset="0"/>
              </a:rPr>
              <a:t>regroup </a:t>
            </a:r>
            <a:r>
              <a:rPr lang="en-US" dirty="0">
                <a:latin typeface="Comic Sans MS" panose="030F0702030302020204" pitchFamily="66" charset="0"/>
              </a:rPr>
              <a:t>this number. We can do this to help with addition and subtraction.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407693" y="5490244"/>
            <a:ext cx="7500582" cy="10996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0.3 + 0.16 + 0.008</a:t>
            </a:r>
          </a:p>
        </p:txBody>
      </p:sp>
    </p:spTree>
    <p:extLst>
      <p:ext uri="{BB962C8B-B14F-4D97-AF65-F5344CB8AC3E}">
        <p14:creationId xmlns:p14="http://schemas.microsoft.com/office/powerpoint/2010/main" val="36728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Check your understanding.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182" y="1990938"/>
            <a:ext cx="11887199" cy="5010363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Comic Sans MS" panose="030F0702030302020204" pitchFamily="66" charset="0"/>
              </a:rPr>
              <a:t>Fill in the missing value:  456.32 = 400 + 50 + 6 + ___ + 0.02</a:t>
            </a:r>
          </a:p>
          <a:p>
            <a:pPr marL="514350" indent="-514350">
              <a:buAutoNum type="arabicPeriod"/>
            </a:pPr>
            <a:endParaRPr lang="en-US" dirty="0">
              <a:latin typeface="Comic Sans MS" panose="030F0702030302020204" pitchFamily="66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Comic Sans MS" panose="030F0702030302020204" pitchFamily="66" charset="0"/>
              </a:rPr>
              <a:t>Decompose this number in </a:t>
            </a:r>
            <a:r>
              <a:rPr lang="en-US" b="1" dirty="0">
                <a:latin typeface="Comic Sans MS" panose="030F0702030302020204" pitchFamily="66" charset="0"/>
              </a:rPr>
              <a:t>two </a:t>
            </a:r>
            <a:r>
              <a:rPr lang="en-US" dirty="0">
                <a:latin typeface="Comic Sans MS" panose="030F0702030302020204" pitchFamily="66" charset="0"/>
              </a:rPr>
              <a:t>different ways.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653.723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3. Mr. Charlie says, “34.543 decomposed is 30 + 4 + 0.5 + 0.4 + 0.3”.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What mistake has he made?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79757" y="1855148"/>
            <a:ext cx="1157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7236" y="3495154"/>
            <a:ext cx="8074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600 + 50 + 3 + 0.7 + 0.02 + 0.003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3713" y="4079929"/>
            <a:ext cx="8074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610 + 40 + 3 + 0.7 + 0.02 + 0.003 etc…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174" y="5876532"/>
            <a:ext cx="100174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He has not got the place value of the hundredths and thousandths correct.</a:t>
            </a:r>
          </a:p>
        </p:txBody>
      </p:sp>
    </p:spTree>
    <p:extLst>
      <p:ext uri="{BB962C8B-B14F-4D97-AF65-F5344CB8AC3E}">
        <p14:creationId xmlns:p14="http://schemas.microsoft.com/office/powerpoint/2010/main" val="419552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F56C0-FD90-48D5-89AC-4B513668C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532" y="769458"/>
            <a:ext cx="5551166" cy="60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433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4D641-2AA0-452C-830F-E5B238A24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025" y="1052213"/>
            <a:ext cx="9337054" cy="5527537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6964" y="2010377"/>
            <a:ext cx="614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337" y="2963838"/>
            <a:ext cx="614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3018" y="3815983"/>
            <a:ext cx="95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24344" y="3815982"/>
            <a:ext cx="1425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0.007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848" y="4633922"/>
            <a:ext cx="1325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4401" y="4717588"/>
            <a:ext cx="1325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9141" y="5416990"/>
            <a:ext cx="1325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758" y="5416989"/>
            <a:ext cx="1325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5701" y="5416988"/>
            <a:ext cx="1425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0.002</a:t>
            </a:r>
          </a:p>
        </p:txBody>
      </p:sp>
    </p:spTree>
    <p:extLst>
      <p:ext uri="{BB962C8B-B14F-4D97-AF65-F5344CB8AC3E}">
        <p14:creationId xmlns:p14="http://schemas.microsoft.com/office/powerpoint/2010/main" val="2065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798F2-1446-41E8-9A4A-3308A8E71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1" y="1191004"/>
            <a:ext cx="10394943" cy="5326528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1940" y="1800331"/>
            <a:ext cx="7504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600 + 70 + 4 + 0.5 + 0.09 + 0.003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1940" y="2266629"/>
            <a:ext cx="7504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800 + 70 + 0.04 + 0.002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4460" y="3549679"/>
            <a:ext cx="7504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752.37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2094" y="4080538"/>
            <a:ext cx="7504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423.024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109" y="5156828"/>
            <a:ext cx="7504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910 + 20 + 6 + 0.7 + 0.03 + 0.002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109" y="5748089"/>
            <a:ext cx="7504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900 + 30 + 6 + 0.7 + 0.02 + 0.012 etc…</a:t>
            </a:r>
          </a:p>
        </p:txBody>
      </p:sp>
    </p:spTree>
    <p:extLst>
      <p:ext uri="{BB962C8B-B14F-4D97-AF65-F5344CB8AC3E}">
        <p14:creationId xmlns:p14="http://schemas.microsoft.com/office/powerpoint/2010/main" val="97081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E80C1-AF6A-4950-9F86-AD122F84D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25" y="1646058"/>
            <a:ext cx="11535350" cy="3668242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Compose, decompose and regroup numbers, including decimals.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579" y="3258766"/>
            <a:ext cx="94988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His place value for the decimal values are not correct. The “5” is 0.05 not 0.5 and the “2” is 0.002 not 0.02.</a:t>
            </a:r>
          </a:p>
        </p:txBody>
      </p:sp>
    </p:spTree>
    <p:extLst>
      <p:ext uri="{BB962C8B-B14F-4D97-AF65-F5344CB8AC3E}">
        <p14:creationId xmlns:p14="http://schemas.microsoft.com/office/powerpoint/2010/main" val="189173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fill in missing numbers to complete composition and decomposition. 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compose, decompose and regroup numbers.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correct mistakes in composition and decomposition.</a:t>
            </a:r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0" y="200665"/>
            <a:ext cx="10588079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Compose, decompose and regroup numbers, including decimals.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846CC8-1A88-45F6-A6C6-75F1BEDD5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9050" y="1175657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272C43-10A6-4208-898F-DDD39F892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943" y="915978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7B84D7-2E4C-4E21-BF8A-990956C6C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23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2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12756</TotalTime>
  <Words>543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Comic Sans MS</vt:lpstr>
      <vt:lpstr>Twinkl</vt:lpstr>
      <vt:lpstr>Office Theme</vt:lpstr>
      <vt:lpstr>Maths </vt:lpstr>
      <vt:lpstr>PowerPoint Presentation</vt:lpstr>
      <vt:lpstr>Retrieval Practice</vt:lpstr>
      <vt:lpstr>Starter – What mistake has been made?</vt:lpstr>
      <vt:lpstr>PowerPoint Presentation</vt:lpstr>
      <vt:lpstr>PowerPoint Presentation</vt:lpstr>
      <vt:lpstr>PowerPoint Presentation</vt:lpstr>
      <vt:lpstr>PowerPoint Presentation</vt:lpstr>
      <vt:lpstr>How would you decompose this number? Is there more than one way?</vt:lpstr>
      <vt:lpstr>Check your understanding.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67</cp:revision>
  <dcterms:created xsi:type="dcterms:W3CDTF">2023-02-13T00:23:28Z</dcterms:created>
  <dcterms:modified xsi:type="dcterms:W3CDTF">2026-10-06T01:40:47Z</dcterms:modified>
</cp:coreProperties>
</file>