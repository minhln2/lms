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72" r:id="rId3"/>
    <p:sldId id="259" r:id="rId4"/>
    <p:sldId id="260" r:id="rId5"/>
    <p:sldId id="261" r:id="rId6"/>
    <p:sldId id="274" r:id="rId7"/>
    <p:sldId id="275" r:id="rId8"/>
    <p:sldId id="276" r:id="rId9"/>
    <p:sldId id="278" r:id="rId10"/>
    <p:sldId id="262" r:id="rId11"/>
    <p:sldId id="277" r:id="rId12"/>
    <p:sldId id="27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2F8ED-A99A-42F6-A780-AE0A8BD3C739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7E927-749C-4EC9-89CB-D7C0B60C98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015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2F8ED-A99A-42F6-A780-AE0A8BD3C739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7E927-749C-4EC9-89CB-D7C0B60C98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9664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2F8ED-A99A-42F6-A780-AE0A8BD3C739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7E927-749C-4EC9-89CB-D7C0B60C98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860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2F8ED-A99A-42F6-A780-AE0A8BD3C739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7E927-749C-4EC9-89CB-D7C0B60C98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7177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2F8ED-A99A-42F6-A780-AE0A8BD3C739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7E927-749C-4EC9-89CB-D7C0B60C98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830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2F8ED-A99A-42F6-A780-AE0A8BD3C739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7E927-749C-4EC9-89CB-D7C0B60C98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073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2F8ED-A99A-42F6-A780-AE0A8BD3C739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7E927-749C-4EC9-89CB-D7C0B60C98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178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2F8ED-A99A-42F6-A780-AE0A8BD3C739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7E927-749C-4EC9-89CB-D7C0B60C98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912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2F8ED-A99A-42F6-A780-AE0A8BD3C739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7E927-749C-4EC9-89CB-D7C0B60C98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608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2F8ED-A99A-42F6-A780-AE0A8BD3C739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7E927-749C-4EC9-89CB-D7C0B60C98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394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2F8ED-A99A-42F6-A780-AE0A8BD3C739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7E927-749C-4EC9-89CB-D7C0B60C98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896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52F8ED-A99A-42F6-A780-AE0A8BD3C739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07E927-749C-4EC9-89CB-D7C0B60C98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633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65230" y="-98475"/>
            <a:ext cx="5462954" cy="1667095"/>
          </a:xfrm>
        </p:spPr>
        <p:txBody>
          <a:bodyPr>
            <a:normAutofit/>
          </a:bodyPr>
          <a:lstStyle/>
          <a:p>
            <a:r>
              <a:rPr lang="en-US" sz="9600" dirty="0">
                <a:latin typeface="Comic Sans MS" panose="030F0702030302020204" pitchFamily="66" charset="0"/>
              </a:rPr>
              <a:t>Maths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7418" y="1568620"/>
            <a:ext cx="10588079" cy="4061472"/>
          </a:xfrm>
        </p:spPr>
        <p:txBody>
          <a:bodyPr>
            <a:normAutofit/>
          </a:bodyPr>
          <a:lstStyle/>
          <a:p>
            <a:pPr algn="l"/>
            <a:r>
              <a:rPr lang="en-US" sz="5400" b="1" dirty="0">
                <a:latin typeface="Comic Sans MS" panose="030F0702030302020204" pitchFamily="66" charset="0"/>
              </a:rPr>
              <a:t>WALT:</a:t>
            </a:r>
          </a:p>
          <a:p>
            <a:pPr algn="l"/>
            <a:r>
              <a:rPr lang="en-US" sz="4400" b="1" dirty="0">
                <a:latin typeface="Comic Sans MS" panose="030F0702030302020204" pitchFamily="66" charset="0"/>
              </a:rPr>
              <a:t>6Nf</a:t>
            </a:r>
            <a:r>
              <a:rPr lang="en-US" sz="4400" dirty="0">
                <a:latin typeface="Comic Sans MS" panose="030F0702030302020204" pitchFamily="66" charset="0"/>
              </a:rPr>
              <a:t>.</a:t>
            </a:r>
            <a:r>
              <a:rPr lang="en-US" sz="4400" b="1" dirty="0">
                <a:latin typeface="Comic Sans MS" panose="030F0702030302020204" pitchFamily="66" charset="0"/>
              </a:rPr>
              <a:t>09 – </a:t>
            </a:r>
            <a:r>
              <a:rPr lang="en-US" sz="4400" dirty="0">
                <a:latin typeface="Comic Sans MS" panose="030F0702030302020204" pitchFamily="66" charset="0"/>
              </a:rPr>
              <a:t>Estimate, add and subtract numbers with the same or different numbers of decimal places.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35292" y="552174"/>
            <a:ext cx="27562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Unit 8 – Addition and subtraction.</a:t>
            </a:r>
          </a:p>
        </p:txBody>
      </p:sp>
    </p:spTree>
    <p:extLst>
      <p:ext uri="{BB962C8B-B14F-4D97-AF65-F5344CB8AC3E}">
        <p14:creationId xmlns:p14="http://schemas.microsoft.com/office/powerpoint/2010/main" val="2092774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52697" y="3526971"/>
            <a:ext cx="3435532" cy="21553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Comic Sans MS" panose="030F0702030302020204" pitchFamily="66" charset="0"/>
              </a:rPr>
              <a:t>I can complete addition and subtractions using the written method. 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3526971"/>
            <a:ext cx="3396343" cy="21553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answer worded problems.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24049" y="3526971"/>
            <a:ext cx="3396343" cy="215537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explain the mistakes of others in their working out.</a:t>
            </a:r>
          </a:p>
        </p:txBody>
      </p:sp>
      <p:sp>
        <p:nvSpPr>
          <p:cNvPr id="13" name="Subtitle 2"/>
          <p:cNvSpPr txBox="1">
            <a:spLocks/>
          </p:cNvSpPr>
          <p:nvPr/>
        </p:nvSpPr>
        <p:spPr>
          <a:xfrm>
            <a:off x="150126" y="200665"/>
            <a:ext cx="11607638" cy="83804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Estimate, add and subtract numbers with the same or different numbers of decimal places.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1846CC8-1A88-45F6-A6C6-75F1BEDD52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34961" y="1207709"/>
            <a:ext cx="1102890" cy="21233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0272C43-10A6-4208-898F-DDD39F892D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8854" y="948030"/>
            <a:ext cx="1102890" cy="23052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17B84D7-2E4C-4E21-BF8A-990956C6CB4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8149" y="834565"/>
            <a:ext cx="1102890" cy="249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192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126" y="297042"/>
            <a:ext cx="10515600" cy="741667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Comic Sans MS" panose="030F0702030302020204" pitchFamily="66" charset="0"/>
              </a:rPr>
              <a:t>Retrieval Practice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150126" y="200665"/>
            <a:ext cx="11607638" cy="8380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latin typeface="Comic Sans MS" panose="030F0702030302020204" pitchFamily="66" charset="0"/>
              </a:rPr>
              <a:t>WALT: </a:t>
            </a:r>
            <a:r>
              <a:rPr lang="en-US" sz="1800" dirty="0">
                <a:latin typeface="Comic Sans MS" panose="030F0702030302020204" pitchFamily="66" charset="0"/>
              </a:rPr>
              <a:t>Estimate, add and subtract numbers with the same or different numbers of decimal places.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2AF510-BE6C-4298-A1AC-15DC7BA70C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753" y="1784282"/>
            <a:ext cx="11069425" cy="2749348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CEDD34CA-4692-4457-8B22-F78C066C8C0C}"/>
              </a:ext>
            </a:extLst>
          </p:cNvPr>
          <p:cNvSpPr/>
          <p:nvPr/>
        </p:nvSpPr>
        <p:spPr>
          <a:xfrm>
            <a:off x="1126157" y="3282214"/>
            <a:ext cx="1482290" cy="955307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392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0285" y="764167"/>
            <a:ext cx="11756572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Comic Sans MS" panose="030F0702030302020204" pitchFamily="66" charset="0"/>
              </a:rPr>
              <a:t>Starter</a:t>
            </a:r>
            <a:r>
              <a:rPr lang="en-US" sz="4000" dirty="0">
                <a:latin typeface="Comic Sans MS" panose="030F0702030302020204" pitchFamily="66" charset="0"/>
              </a:rPr>
              <a:t> – What do the following mean?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150126" y="200665"/>
            <a:ext cx="11607638" cy="8380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Estimate, add and subtract numbers with the same or different numbers of decimal places.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430444" y="1952408"/>
            <a:ext cx="11756572" cy="44212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4000" dirty="0">
                <a:latin typeface="Comic Sans MS" panose="030F0702030302020204" pitchFamily="66" charset="0"/>
              </a:rPr>
              <a:t>Compose</a:t>
            </a:r>
          </a:p>
          <a:p>
            <a:pPr>
              <a:lnSpc>
                <a:spcPct val="150000"/>
              </a:lnSpc>
            </a:pPr>
            <a:endParaRPr lang="en-US" sz="4000" dirty="0">
              <a:latin typeface="Comic Sans MS" panose="030F0702030302020204" pitchFamily="66" charset="0"/>
            </a:endParaRPr>
          </a:p>
          <a:p>
            <a:pPr>
              <a:lnSpc>
                <a:spcPct val="150000"/>
              </a:lnSpc>
            </a:pPr>
            <a:r>
              <a:rPr lang="en-US" sz="4000" dirty="0">
                <a:latin typeface="Comic Sans MS" panose="030F0702030302020204" pitchFamily="66" charset="0"/>
              </a:rPr>
              <a:t>Decompose</a:t>
            </a:r>
          </a:p>
          <a:p>
            <a:pPr>
              <a:lnSpc>
                <a:spcPct val="150000"/>
              </a:lnSpc>
            </a:pPr>
            <a:endParaRPr lang="en-US" sz="4000" dirty="0">
              <a:latin typeface="Comic Sans MS" panose="030F0702030302020204" pitchFamily="66" charset="0"/>
            </a:endParaRPr>
          </a:p>
          <a:p>
            <a:pPr>
              <a:lnSpc>
                <a:spcPct val="150000"/>
              </a:lnSpc>
            </a:pPr>
            <a:r>
              <a:rPr lang="en-US" sz="4000" dirty="0">
                <a:latin typeface="Comic Sans MS" panose="030F0702030302020204" pitchFamily="66" charset="0"/>
              </a:rPr>
              <a:t>Regroup</a:t>
            </a:r>
          </a:p>
        </p:txBody>
      </p:sp>
    </p:spTree>
    <p:extLst>
      <p:ext uri="{BB962C8B-B14F-4D97-AF65-F5344CB8AC3E}">
        <p14:creationId xmlns:p14="http://schemas.microsoft.com/office/powerpoint/2010/main" val="22392923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126" y="1016711"/>
            <a:ext cx="11780618" cy="1624888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Comic Sans MS" panose="030F0702030302020204" pitchFamily="66" charset="0"/>
              </a:rPr>
              <a:t>I do – 451.86 + 239.03 =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150126" y="200665"/>
            <a:ext cx="11607638" cy="83804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Estimate, add and subtract numbers with the same or different numbers of decimal places.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0255109"/>
              </p:ext>
            </p:extLst>
          </p:nvPr>
        </p:nvGraphicFramePr>
        <p:xfrm>
          <a:off x="3234775" y="2641599"/>
          <a:ext cx="6854911" cy="381658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148624">
                  <a:extLst>
                    <a:ext uri="{9D8B030D-6E8A-4147-A177-3AD203B41FA5}">
                      <a16:colId xmlns:a16="http://schemas.microsoft.com/office/drawing/2014/main" val="841098667"/>
                    </a:ext>
                  </a:extLst>
                </a:gridCol>
                <a:gridCol w="1148624">
                  <a:extLst>
                    <a:ext uri="{9D8B030D-6E8A-4147-A177-3AD203B41FA5}">
                      <a16:colId xmlns:a16="http://schemas.microsoft.com/office/drawing/2014/main" val="3335383597"/>
                    </a:ext>
                  </a:extLst>
                </a:gridCol>
                <a:gridCol w="1148624">
                  <a:extLst>
                    <a:ext uri="{9D8B030D-6E8A-4147-A177-3AD203B41FA5}">
                      <a16:colId xmlns:a16="http://schemas.microsoft.com/office/drawing/2014/main" val="485251169"/>
                    </a:ext>
                  </a:extLst>
                </a:gridCol>
                <a:gridCol w="314785">
                  <a:extLst>
                    <a:ext uri="{9D8B030D-6E8A-4147-A177-3AD203B41FA5}">
                      <a16:colId xmlns:a16="http://schemas.microsoft.com/office/drawing/2014/main" val="2814335354"/>
                    </a:ext>
                  </a:extLst>
                </a:gridCol>
                <a:gridCol w="1031418">
                  <a:extLst>
                    <a:ext uri="{9D8B030D-6E8A-4147-A177-3AD203B41FA5}">
                      <a16:colId xmlns:a16="http://schemas.microsoft.com/office/drawing/2014/main" val="1339095197"/>
                    </a:ext>
                  </a:extLst>
                </a:gridCol>
                <a:gridCol w="1031418">
                  <a:extLst>
                    <a:ext uri="{9D8B030D-6E8A-4147-A177-3AD203B41FA5}">
                      <a16:colId xmlns:a16="http://schemas.microsoft.com/office/drawing/2014/main" val="2649710789"/>
                    </a:ext>
                  </a:extLst>
                </a:gridCol>
                <a:gridCol w="1031418">
                  <a:extLst>
                    <a:ext uri="{9D8B030D-6E8A-4147-A177-3AD203B41FA5}">
                      <a16:colId xmlns:a16="http://schemas.microsoft.com/office/drawing/2014/main" val="3361475667"/>
                    </a:ext>
                  </a:extLst>
                </a:gridCol>
              </a:tblGrid>
              <a:tr h="731763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5400" b="1" dirty="0">
                        <a:latin typeface="Twinkl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5400" b="1" dirty="0">
                        <a:latin typeface="Twinkl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5400" b="1" dirty="0">
                        <a:latin typeface="Twinkl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5400" b="1" dirty="0">
                        <a:latin typeface="Twinkl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5400" b="1" dirty="0">
                        <a:latin typeface="Twinkl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5400" b="1" dirty="0">
                        <a:latin typeface="Twinkl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6020217"/>
                  </a:ext>
                </a:extLst>
              </a:tr>
              <a:tr h="731763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5400" b="1" dirty="0">
                        <a:latin typeface="Twinkl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5400" b="1" dirty="0">
                        <a:latin typeface="Twinkl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5400" b="1" dirty="0">
                        <a:latin typeface="Twinkl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5400" b="1" dirty="0">
                        <a:latin typeface="Twinkl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5400" b="1" dirty="0">
                        <a:latin typeface="Twinkl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5400" b="1" dirty="0">
                        <a:latin typeface="Twinkl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3457521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endParaRPr lang="en-US" sz="32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5400" b="1" dirty="0">
                        <a:latin typeface="Twinkl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5400" b="1" dirty="0">
                        <a:latin typeface="Twinkl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5400" b="1" dirty="0">
                        <a:latin typeface="Twinkl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5400" b="1" dirty="0">
                        <a:latin typeface="Twinkl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5400" b="1" dirty="0">
                        <a:latin typeface="Twinkl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5400" b="1" dirty="0">
                        <a:latin typeface="Twinkl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2728022"/>
                  </a:ext>
                </a:extLst>
              </a:tr>
              <a:tr h="107338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5400" b="1" dirty="0">
                          <a:solidFill>
                            <a:srgbClr val="FF0000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FF0000"/>
                        </a:solidFill>
                        <a:latin typeface="Twinkl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50915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82621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126" y="1016711"/>
            <a:ext cx="11780618" cy="1624888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Comic Sans MS" panose="030F0702030302020204" pitchFamily="66" charset="0"/>
              </a:rPr>
              <a:t>You do – 165.321 + 204.565 =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150126" y="200665"/>
            <a:ext cx="11607638" cy="83804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Estimate, add and subtract numbers with the same or different numbers of decimal places.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34775" y="2641599"/>
          <a:ext cx="6854911" cy="381658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148624">
                  <a:extLst>
                    <a:ext uri="{9D8B030D-6E8A-4147-A177-3AD203B41FA5}">
                      <a16:colId xmlns:a16="http://schemas.microsoft.com/office/drawing/2014/main" val="841098667"/>
                    </a:ext>
                  </a:extLst>
                </a:gridCol>
                <a:gridCol w="1148624">
                  <a:extLst>
                    <a:ext uri="{9D8B030D-6E8A-4147-A177-3AD203B41FA5}">
                      <a16:colId xmlns:a16="http://schemas.microsoft.com/office/drawing/2014/main" val="3335383597"/>
                    </a:ext>
                  </a:extLst>
                </a:gridCol>
                <a:gridCol w="1148624">
                  <a:extLst>
                    <a:ext uri="{9D8B030D-6E8A-4147-A177-3AD203B41FA5}">
                      <a16:colId xmlns:a16="http://schemas.microsoft.com/office/drawing/2014/main" val="485251169"/>
                    </a:ext>
                  </a:extLst>
                </a:gridCol>
                <a:gridCol w="314785">
                  <a:extLst>
                    <a:ext uri="{9D8B030D-6E8A-4147-A177-3AD203B41FA5}">
                      <a16:colId xmlns:a16="http://schemas.microsoft.com/office/drawing/2014/main" val="2814335354"/>
                    </a:ext>
                  </a:extLst>
                </a:gridCol>
                <a:gridCol w="1031418">
                  <a:extLst>
                    <a:ext uri="{9D8B030D-6E8A-4147-A177-3AD203B41FA5}">
                      <a16:colId xmlns:a16="http://schemas.microsoft.com/office/drawing/2014/main" val="1339095197"/>
                    </a:ext>
                  </a:extLst>
                </a:gridCol>
                <a:gridCol w="1031418">
                  <a:extLst>
                    <a:ext uri="{9D8B030D-6E8A-4147-A177-3AD203B41FA5}">
                      <a16:colId xmlns:a16="http://schemas.microsoft.com/office/drawing/2014/main" val="2649710789"/>
                    </a:ext>
                  </a:extLst>
                </a:gridCol>
                <a:gridCol w="1031418">
                  <a:extLst>
                    <a:ext uri="{9D8B030D-6E8A-4147-A177-3AD203B41FA5}">
                      <a16:colId xmlns:a16="http://schemas.microsoft.com/office/drawing/2014/main" val="3361475667"/>
                    </a:ext>
                  </a:extLst>
                </a:gridCol>
              </a:tblGrid>
              <a:tr h="731763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5400" b="1" dirty="0">
                        <a:latin typeface="Twinkl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5400" b="1" dirty="0">
                        <a:latin typeface="Twinkl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5400" b="1" dirty="0">
                        <a:latin typeface="Twinkl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5400" b="1" dirty="0">
                        <a:latin typeface="Twinkl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5400" b="1" dirty="0">
                        <a:latin typeface="Twinkl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5400" b="1" dirty="0">
                        <a:latin typeface="Twinkl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6020217"/>
                  </a:ext>
                </a:extLst>
              </a:tr>
              <a:tr h="731763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5400" b="1" dirty="0">
                        <a:latin typeface="Twinkl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5400" b="1" dirty="0">
                        <a:latin typeface="Twinkl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5400" b="1" dirty="0">
                        <a:latin typeface="Twinkl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5400" b="1" dirty="0">
                        <a:latin typeface="Twinkl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5400" b="1" dirty="0">
                        <a:latin typeface="Twinkl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5400" b="1" dirty="0">
                        <a:latin typeface="Twinkl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3457521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endParaRPr lang="en-US" sz="32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5400" b="1" dirty="0">
                        <a:latin typeface="Twinkl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5400" b="1" dirty="0">
                        <a:latin typeface="Twinkl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5400" b="1" dirty="0">
                        <a:latin typeface="Twinkl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5400" b="1" dirty="0">
                        <a:latin typeface="Twinkl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5400" b="1" dirty="0">
                        <a:latin typeface="Twinkl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5400" b="1" dirty="0">
                        <a:latin typeface="Twinkl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2728022"/>
                  </a:ext>
                </a:extLst>
              </a:tr>
              <a:tr h="107338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5400" b="1" dirty="0">
                          <a:solidFill>
                            <a:srgbClr val="FF0000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FF0000"/>
                        </a:solidFill>
                        <a:latin typeface="Twinkl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50915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68888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126" y="1016711"/>
            <a:ext cx="11780618" cy="1624888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Comic Sans MS" panose="030F0702030302020204" pitchFamily="66" charset="0"/>
              </a:rPr>
              <a:t>I do – 943.243 - 312.029 =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150126" y="200665"/>
            <a:ext cx="11607638" cy="83804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Estimate, add and subtract numbers with the same or different numbers of decimal places.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34775" y="2641599"/>
          <a:ext cx="6854911" cy="381658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148624">
                  <a:extLst>
                    <a:ext uri="{9D8B030D-6E8A-4147-A177-3AD203B41FA5}">
                      <a16:colId xmlns:a16="http://schemas.microsoft.com/office/drawing/2014/main" val="841098667"/>
                    </a:ext>
                  </a:extLst>
                </a:gridCol>
                <a:gridCol w="1148624">
                  <a:extLst>
                    <a:ext uri="{9D8B030D-6E8A-4147-A177-3AD203B41FA5}">
                      <a16:colId xmlns:a16="http://schemas.microsoft.com/office/drawing/2014/main" val="3335383597"/>
                    </a:ext>
                  </a:extLst>
                </a:gridCol>
                <a:gridCol w="1148624">
                  <a:extLst>
                    <a:ext uri="{9D8B030D-6E8A-4147-A177-3AD203B41FA5}">
                      <a16:colId xmlns:a16="http://schemas.microsoft.com/office/drawing/2014/main" val="485251169"/>
                    </a:ext>
                  </a:extLst>
                </a:gridCol>
                <a:gridCol w="314785">
                  <a:extLst>
                    <a:ext uri="{9D8B030D-6E8A-4147-A177-3AD203B41FA5}">
                      <a16:colId xmlns:a16="http://schemas.microsoft.com/office/drawing/2014/main" val="2814335354"/>
                    </a:ext>
                  </a:extLst>
                </a:gridCol>
                <a:gridCol w="1031418">
                  <a:extLst>
                    <a:ext uri="{9D8B030D-6E8A-4147-A177-3AD203B41FA5}">
                      <a16:colId xmlns:a16="http://schemas.microsoft.com/office/drawing/2014/main" val="1339095197"/>
                    </a:ext>
                  </a:extLst>
                </a:gridCol>
                <a:gridCol w="1031418">
                  <a:extLst>
                    <a:ext uri="{9D8B030D-6E8A-4147-A177-3AD203B41FA5}">
                      <a16:colId xmlns:a16="http://schemas.microsoft.com/office/drawing/2014/main" val="2649710789"/>
                    </a:ext>
                  </a:extLst>
                </a:gridCol>
                <a:gridCol w="1031418">
                  <a:extLst>
                    <a:ext uri="{9D8B030D-6E8A-4147-A177-3AD203B41FA5}">
                      <a16:colId xmlns:a16="http://schemas.microsoft.com/office/drawing/2014/main" val="3361475667"/>
                    </a:ext>
                  </a:extLst>
                </a:gridCol>
              </a:tblGrid>
              <a:tr h="731763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5400" b="1" dirty="0">
                        <a:latin typeface="Twinkl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5400" b="1" dirty="0">
                        <a:latin typeface="Twinkl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5400" b="1" dirty="0">
                        <a:latin typeface="Twinkl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5400" b="1" dirty="0">
                        <a:latin typeface="Twinkl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5400" b="1" dirty="0">
                        <a:latin typeface="Twinkl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5400" b="1" dirty="0">
                        <a:latin typeface="Twinkl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6020217"/>
                  </a:ext>
                </a:extLst>
              </a:tr>
              <a:tr h="731763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5400" b="1" dirty="0">
                        <a:latin typeface="Twinkl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5400" b="1" dirty="0">
                        <a:latin typeface="Twinkl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5400" b="1" dirty="0">
                        <a:latin typeface="Twinkl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5400" b="1" dirty="0">
                        <a:latin typeface="Twinkl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5400" b="1" dirty="0">
                        <a:latin typeface="Twinkl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5400" b="1" dirty="0">
                        <a:latin typeface="Twinkl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3457521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endParaRPr lang="en-US" sz="32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5400" b="1" dirty="0">
                        <a:latin typeface="Twinkl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5400" b="1" dirty="0">
                        <a:latin typeface="Twinkl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5400" b="1" dirty="0">
                        <a:latin typeface="Twinkl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5400" b="1" dirty="0">
                        <a:latin typeface="Twinkl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5400" b="1" dirty="0">
                        <a:latin typeface="Twinkl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5400" b="1" dirty="0">
                        <a:latin typeface="Twinkl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2728022"/>
                  </a:ext>
                </a:extLst>
              </a:tr>
              <a:tr h="107338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5400" b="1" dirty="0">
                          <a:solidFill>
                            <a:srgbClr val="FF0000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FF0000"/>
                        </a:solidFill>
                        <a:latin typeface="Twinkl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50915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13324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126" y="1016711"/>
            <a:ext cx="11780618" cy="1624888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Comic Sans MS" panose="030F0702030302020204" pitchFamily="66" charset="0"/>
              </a:rPr>
              <a:t>You do – 637.293 – 394.189  =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150126" y="200665"/>
            <a:ext cx="11607638" cy="83804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Estimate, add and subtract numbers with the same or different numbers of decimal places.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34775" y="2641599"/>
          <a:ext cx="6854911" cy="381658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148624">
                  <a:extLst>
                    <a:ext uri="{9D8B030D-6E8A-4147-A177-3AD203B41FA5}">
                      <a16:colId xmlns:a16="http://schemas.microsoft.com/office/drawing/2014/main" val="841098667"/>
                    </a:ext>
                  </a:extLst>
                </a:gridCol>
                <a:gridCol w="1148624">
                  <a:extLst>
                    <a:ext uri="{9D8B030D-6E8A-4147-A177-3AD203B41FA5}">
                      <a16:colId xmlns:a16="http://schemas.microsoft.com/office/drawing/2014/main" val="3335383597"/>
                    </a:ext>
                  </a:extLst>
                </a:gridCol>
                <a:gridCol w="1148624">
                  <a:extLst>
                    <a:ext uri="{9D8B030D-6E8A-4147-A177-3AD203B41FA5}">
                      <a16:colId xmlns:a16="http://schemas.microsoft.com/office/drawing/2014/main" val="485251169"/>
                    </a:ext>
                  </a:extLst>
                </a:gridCol>
                <a:gridCol w="314785">
                  <a:extLst>
                    <a:ext uri="{9D8B030D-6E8A-4147-A177-3AD203B41FA5}">
                      <a16:colId xmlns:a16="http://schemas.microsoft.com/office/drawing/2014/main" val="2814335354"/>
                    </a:ext>
                  </a:extLst>
                </a:gridCol>
                <a:gridCol w="1031418">
                  <a:extLst>
                    <a:ext uri="{9D8B030D-6E8A-4147-A177-3AD203B41FA5}">
                      <a16:colId xmlns:a16="http://schemas.microsoft.com/office/drawing/2014/main" val="1339095197"/>
                    </a:ext>
                  </a:extLst>
                </a:gridCol>
                <a:gridCol w="1031418">
                  <a:extLst>
                    <a:ext uri="{9D8B030D-6E8A-4147-A177-3AD203B41FA5}">
                      <a16:colId xmlns:a16="http://schemas.microsoft.com/office/drawing/2014/main" val="2649710789"/>
                    </a:ext>
                  </a:extLst>
                </a:gridCol>
                <a:gridCol w="1031418">
                  <a:extLst>
                    <a:ext uri="{9D8B030D-6E8A-4147-A177-3AD203B41FA5}">
                      <a16:colId xmlns:a16="http://schemas.microsoft.com/office/drawing/2014/main" val="3361475667"/>
                    </a:ext>
                  </a:extLst>
                </a:gridCol>
              </a:tblGrid>
              <a:tr h="731763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5400" b="1" dirty="0">
                        <a:latin typeface="Twinkl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5400" b="1" dirty="0">
                        <a:latin typeface="Twinkl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5400" b="1" dirty="0">
                        <a:latin typeface="Twinkl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5400" b="1" dirty="0">
                        <a:latin typeface="Twinkl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5400" b="1" dirty="0">
                        <a:latin typeface="Twinkl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5400" b="1" dirty="0">
                        <a:latin typeface="Twinkl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6020217"/>
                  </a:ext>
                </a:extLst>
              </a:tr>
              <a:tr h="731763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5400" b="1" dirty="0">
                        <a:latin typeface="Twinkl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5400" b="1" dirty="0">
                        <a:latin typeface="Twinkl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5400" b="1" dirty="0">
                        <a:latin typeface="Twinkl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5400" b="1" dirty="0">
                        <a:latin typeface="Twinkl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5400" b="1" dirty="0">
                        <a:latin typeface="Twinkl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5400" b="1" dirty="0">
                        <a:latin typeface="Twinkl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3457521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endParaRPr lang="en-US" sz="32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5400" b="1" dirty="0">
                        <a:latin typeface="Twinkl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5400" b="1" dirty="0">
                        <a:latin typeface="Twinkl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5400" b="1" dirty="0">
                        <a:latin typeface="Twinkl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5400" b="1" dirty="0">
                        <a:latin typeface="Twinkl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5400" b="1" dirty="0">
                        <a:latin typeface="Twinkl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5400" b="1" dirty="0">
                        <a:latin typeface="Twinkl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2728022"/>
                  </a:ext>
                </a:extLst>
              </a:tr>
              <a:tr h="107338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5400" b="1" dirty="0">
                          <a:solidFill>
                            <a:srgbClr val="FF0000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FF0000"/>
                        </a:solidFill>
                        <a:latin typeface="Twinkl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50915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80851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150126" y="200665"/>
            <a:ext cx="11607638" cy="8380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latin typeface="Comic Sans MS" panose="030F0702030302020204" pitchFamily="66" charset="0"/>
              </a:rPr>
              <a:t>WALT: </a:t>
            </a:r>
            <a:r>
              <a:rPr lang="en-US" sz="2000" dirty="0">
                <a:latin typeface="Comic Sans MS" panose="030F0702030302020204" pitchFamily="66" charset="0"/>
              </a:rPr>
              <a:t>Estimate, add and subtract numbers with the same or different numbers of decimal places.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E7B97730-BA93-4812-BB81-1B97AC1016BA}"/>
              </a:ext>
            </a:extLst>
          </p:cNvPr>
          <p:cNvSpPr txBox="1">
            <a:spLocks/>
          </p:cNvSpPr>
          <p:nvPr/>
        </p:nvSpPr>
        <p:spPr>
          <a:xfrm>
            <a:off x="150126" y="1479221"/>
            <a:ext cx="11607638" cy="45462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Mr. Josh is working out 45.203 + 54.437.</a:t>
            </a:r>
          </a:p>
          <a:p>
            <a:pPr marL="0" indent="0">
              <a:buNone/>
            </a:pPr>
            <a:endParaRPr lang="en-US" b="1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He says, “ My answer is must have 5 digits because the numbers I am adding all have 5 digits.”</a:t>
            </a:r>
          </a:p>
          <a:p>
            <a:pPr marL="0" indent="0">
              <a:buNone/>
            </a:pPr>
            <a:endParaRPr lang="en-US" b="1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Is he correct?</a:t>
            </a:r>
            <a:endParaRPr lang="en-US" dirty="0">
              <a:latin typeface="Comic Sans MS" panose="030F0702030302020204" pitchFamily="66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E40D4E6-653E-423A-8A61-C0FE81EF7A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6625" y="619687"/>
            <a:ext cx="641139" cy="1451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6026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691" y="619687"/>
            <a:ext cx="11780618" cy="1805879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Comic Sans MS" panose="030F0702030302020204" pitchFamily="66" charset="0"/>
              </a:rPr>
              <a:t>Your task –  In your books, complete the calculations using the written methods. 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150126" y="200665"/>
            <a:ext cx="11607638" cy="8380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latin typeface="Comic Sans MS" panose="030F0702030302020204" pitchFamily="66" charset="0"/>
              </a:rPr>
              <a:t>WALT: </a:t>
            </a:r>
            <a:r>
              <a:rPr lang="en-US" sz="2000" dirty="0">
                <a:latin typeface="Comic Sans MS" panose="030F0702030302020204" pitchFamily="66" charset="0"/>
              </a:rPr>
              <a:t>Estimate, add and subtract numbers with the same or different numbers of decimal places.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176FBA-D9BB-4085-B384-262CDDEB3E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41832"/>
            <a:ext cx="12441107" cy="32525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135A5A8-3777-46D7-86A3-B7E2E8445B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206319" y="1422039"/>
            <a:ext cx="686234" cy="1321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1419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150126" y="200665"/>
            <a:ext cx="11607638" cy="8380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latin typeface="Comic Sans MS" panose="030F0702030302020204" pitchFamily="66" charset="0"/>
              </a:rPr>
              <a:t>WALT: </a:t>
            </a:r>
            <a:r>
              <a:rPr lang="en-US" sz="2000" dirty="0">
                <a:latin typeface="Comic Sans MS" panose="030F0702030302020204" pitchFamily="66" charset="0"/>
              </a:rPr>
              <a:t>Estimate, add and subtract numbers with the same or different numbers of decimal places.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0E33B9-A847-4642-AC6D-6C3A9F545F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795" y="911694"/>
            <a:ext cx="6794337" cy="59463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E719FED-9824-4622-95E8-5C858F9A7A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0362" y="832527"/>
            <a:ext cx="1102890" cy="2305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783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52697" y="3526971"/>
            <a:ext cx="3435532" cy="21553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Comic Sans MS" panose="030F0702030302020204" pitchFamily="66" charset="0"/>
              </a:rPr>
              <a:t>I can create my own additions and subtractions with dice. 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3526971"/>
            <a:ext cx="3396343" cy="21553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complete my own additions and subtractions.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24049" y="3526971"/>
            <a:ext cx="3396343" cy="215537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add and subtract numbers with a different number of decimal places.</a:t>
            </a:r>
          </a:p>
        </p:txBody>
      </p:sp>
      <p:sp>
        <p:nvSpPr>
          <p:cNvPr id="13" name="Subtitle 2"/>
          <p:cNvSpPr txBox="1">
            <a:spLocks/>
          </p:cNvSpPr>
          <p:nvPr/>
        </p:nvSpPr>
        <p:spPr>
          <a:xfrm>
            <a:off x="150126" y="200665"/>
            <a:ext cx="11607638" cy="83804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Estimate, add and subtract numbers with the same or different numbers of decimal places.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1846CC8-1A88-45F6-A6C6-75F1BEDD52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34961" y="1207709"/>
            <a:ext cx="1102890" cy="21233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0272C43-10A6-4208-898F-DDD39F892D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8854" y="948030"/>
            <a:ext cx="1102890" cy="23052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17B84D7-2E4C-4E21-BF8A-990956C6CB4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8149" y="834565"/>
            <a:ext cx="1102890" cy="249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7535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1381</TotalTime>
  <Words>387</Words>
  <Application>Microsoft Office PowerPoint</Application>
  <PresentationFormat>Widescreen</PresentationFormat>
  <Paragraphs>42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Comic Sans MS</vt:lpstr>
      <vt:lpstr>Twinkl</vt:lpstr>
      <vt:lpstr>Office Theme</vt:lpstr>
      <vt:lpstr>Maths </vt:lpstr>
      <vt:lpstr>PowerPoint Presentation</vt:lpstr>
      <vt:lpstr>Retrieval Practice</vt:lpstr>
      <vt:lpstr>Starter – What do the following mean?</vt:lpstr>
      <vt:lpstr>I do – 451.86 + 239.03 =</vt:lpstr>
      <vt:lpstr>You do – 165.321 + 204.565 =</vt:lpstr>
      <vt:lpstr>I do – 943.243 - 312.029 =</vt:lpstr>
      <vt:lpstr>You do – 637.293 – 394.189  =</vt:lpstr>
      <vt:lpstr>PowerPoint Presentation</vt:lpstr>
      <vt:lpstr>Your task –  In your books, complete the calculations using the written methods.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Maths</dc:title>
  <dc:creator>Jonathan Michael Holliday (VSC-KTiH-MB)</dc:creator>
  <cp:lastModifiedBy>Colette Aisling Meade (VSC-KTiH-MB)</cp:lastModifiedBy>
  <cp:revision>25</cp:revision>
  <dcterms:created xsi:type="dcterms:W3CDTF">2024-11-26T00:19:30Z</dcterms:created>
  <dcterms:modified xsi:type="dcterms:W3CDTF">2026-10-06T02:57:35Z</dcterms:modified>
</cp:coreProperties>
</file>