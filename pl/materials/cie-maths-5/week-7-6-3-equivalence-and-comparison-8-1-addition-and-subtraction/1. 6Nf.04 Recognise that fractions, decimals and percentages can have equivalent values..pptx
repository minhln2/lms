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74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724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89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31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663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036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83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542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016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59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97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953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ACCF8-B847-4313-84B2-1F43B9B3848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97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microsoft.com/office/2007/relationships/hdphoto" Target="../media/hdphoto4.wdp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9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 err="1">
                <a:latin typeface="Comic Sans MS" panose="030F0702030302020204" pitchFamily="66" charset="0"/>
              </a:rPr>
              <a:t>Maths</a:t>
            </a:r>
            <a:r>
              <a:rPr lang="en-US" sz="88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2230" y="1568620"/>
            <a:ext cx="11659324" cy="4774124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29.09.2026</a:t>
            </a:r>
          </a:p>
          <a:p>
            <a:pPr algn="l"/>
            <a:endParaRPr lang="en-US" sz="4800" b="1" dirty="0">
              <a:latin typeface="Comic Sans MS" panose="030F0702030302020204" pitchFamily="66" charset="0"/>
            </a:endParaRPr>
          </a:p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6Nf.04 </a:t>
            </a:r>
            <a:r>
              <a:rPr lang="en-US" sz="4800" dirty="0">
                <a:latin typeface="Comic Sans MS" panose="030F0702030302020204" pitchFamily="66" charset="0"/>
              </a:rPr>
              <a:t>Recognise that fractions, decimals and percentages can have equivalent values.</a:t>
            </a:r>
            <a:endParaRPr lang="en-US" sz="4800" b="1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35292" y="552174"/>
            <a:ext cx="2756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6 – Fractions and Percentages.</a:t>
            </a:r>
          </a:p>
        </p:txBody>
      </p:sp>
    </p:spTree>
    <p:extLst>
      <p:ext uri="{BB962C8B-B14F-4D97-AF65-F5344CB8AC3E}">
        <p14:creationId xmlns:p14="http://schemas.microsoft.com/office/powerpoint/2010/main" val="483479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Recognise that fractions, decimals and percentages can have equivalent values.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I can find the fraction, decimal and percentage of a 100 square that is shaded.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convert between fractions, decimals and percentages.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order a mix of fractions, decimals and percentages.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5E2AEF-9810-417C-B661-3BB2F53279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8A0D31-876E-481B-B716-005F4FA3C4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5C072B-7276-45F1-8458-981816D209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044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900" y="1190557"/>
            <a:ext cx="2837355" cy="155264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Retrieval Practice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838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Recognise that fractions, decimals and percentages can have equivalent values.</a:t>
            </a:r>
            <a:endParaRPr lang="en-US" sz="20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17E5B3-6C7A-489D-BEAD-868F3B7F3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254" y="443721"/>
            <a:ext cx="7702539" cy="642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279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026" y="748896"/>
            <a:ext cx="11151900" cy="1325563"/>
          </a:xfrm>
        </p:spPr>
        <p:txBody>
          <a:bodyPr>
            <a:no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Starter – </a:t>
            </a:r>
            <a:r>
              <a:rPr lang="en-US" dirty="0">
                <a:latin typeface="Comic Sans MS" panose="030F0702030302020204" pitchFamily="66" charset="0"/>
              </a:rPr>
              <a:t>Which is the odd one out?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176" y="2074459"/>
            <a:ext cx="4816224" cy="44355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>
                <a:latin typeface="Comic Sans MS" panose="030F0702030302020204" pitchFamily="66" charset="0"/>
              </a:rPr>
              <a:t>50% of 100 =</a:t>
            </a:r>
          </a:p>
          <a:p>
            <a:pPr marL="0" indent="0">
              <a:buNone/>
            </a:pPr>
            <a:endParaRPr lang="en-US" sz="54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5400" dirty="0">
                <a:latin typeface="Comic Sans MS" panose="030F0702030302020204" pitchFamily="66" charset="0"/>
              </a:rPr>
              <a:t>½ of 100 =</a:t>
            </a:r>
          </a:p>
          <a:p>
            <a:pPr marL="0" indent="0">
              <a:buNone/>
            </a:pPr>
            <a:endParaRPr lang="en-US" sz="54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5400" dirty="0">
                <a:latin typeface="Comic Sans MS" panose="030F0702030302020204" pitchFamily="66" charset="0"/>
              </a:rPr>
              <a:t>100 X 0.5 =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8382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Recognise that fractions, decimals and percentages can have equivalent values.</a:t>
            </a:r>
            <a:endParaRPr lang="en-US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349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336" y="1179280"/>
            <a:ext cx="12114664" cy="195413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omic Sans MS" panose="030F0702030302020204" pitchFamily="66" charset="0"/>
              </a:rPr>
              <a:t>When we learnt about percentages, we learnt that a % can be expressed as a fraction with a denominator of 100.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98510" y="3533420"/>
                <a:ext cx="10515600" cy="165273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6000" dirty="0">
                    <a:latin typeface="Comic Sans MS" panose="030F0702030302020204" pitchFamily="66" charset="0"/>
                  </a:rPr>
                  <a:t>E.g. 50%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6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0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US" sz="60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US" sz="24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98510" y="3533420"/>
                <a:ext cx="10515600" cy="1652730"/>
              </a:xfrm>
              <a:blipFill>
                <a:blip r:embed="rId2"/>
                <a:stretch>
                  <a:fillRect l="-3478" t="-5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ubtitle 2"/>
          <p:cNvSpPr txBox="1">
            <a:spLocks/>
          </p:cNvSpPr>
          <p:nvPr/>
        </p:nvSpPr>
        <p:spPr>
          <a:xfrm>
            <a:off x="77337" y="185284"/>
            <a:ext cx="12037325" cy="838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Recognise that fractions, decimals and percentages can have equivalent values.</a:t>
            </a:r>
            <a:endParaRPr lang="en-US" sz="24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433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336" y="1179280"/>
            <a:ext cx="12114664" cy="1954130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Last lesson, we learnt how to simplify fractions.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99062" y="3289108"/>
                <a:ext cx="10515600" cy="165273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4800" dirty="0">
                    <a:latin typeface="Comic Sans MS" panose="030F0702030302020204" pitchFamily="66" charset="0"/>
                  </a:rPr>
                  <a:t>What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US" sz="4800" dirty="0">
                    <a:latin typeface="Comic Sans MS" panose="030F0702030302020204" pitchFamily="66" charset="0"/>
                  </a:rPr>
                  <a:t> in its simplest form?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9062" y="3289108"/>
                <a:ext cx="10515600" cy="1652730"/>
              </a:xfrm>
              <a:blipFill>
                <a:blip r:embed="rId2"/>
                <a:stretch>
                  <a:fillRect l="-2609" t="-3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ubtitle 2"/>
          <p:cNvSpPr txBox="1">
            <a:spLocks/>
          </p:cNvSpPr>
          <p:nvPr/>
        </p:nvSpPr>
        <p:spPr>
          <a:xfrm>
            <a:off x="77337" y="185284"/>
            <a:ext cx="12037325" cy="8382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Recognise that fractions, decimals and percentages can have equivalent values.</a:t>
            </a:r>
            <a:endParaRPr lang="en-US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271515" y="4716632"/>
                <a:ext cx="1498980" cy="14752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4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sz="4800" b="1" dirty="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515" y="4716632"/>
                <a:ext cx="1498980" cy="14752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3766782" y="5132986"/>
                <a:ext cx="10515600" cy="165273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4800" dirty="0">
                    <a:latin typeface="Comic Sans MS" panose="030F0702030302020204" pitchFamily="66" charset="0"/>
                  </a:rPr>
                  <a:t>Therefore 50%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48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6782" y="5132986"/>
                <a:ext cx="10515600" cy="1652730"/>
              </a:xfrm>
              <a:prstGeom prst="rect">
                <a:avLst/>
              </a:prstGeom>
              <a:blipFill>
                <a:blip r:embed="rId4"/>
                <a:stretch>
                  <a:fillRect l="-2667" t="-4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8491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79525"/>
            <a:ext cx="10515600" cy="1325563"/>
          </a:xfrm>
        </p:spPr>
        <p:txBody>
          <a:bodyPr>
            <a:noAutofit/>
          </a:bodyPr>
          <a:lstStyle/>
          <a:p>
            <a:r>
              <a:rPr lang="en-US" sz="4800" dirty="0">
                <a:latin typeface="Comic Sans MS" panose="030F0702030302020204" pitchFamily="66" charset="0"/>
              </a:rPr>
              <a:t>Decimals can also be equivalent to fractions and percentages.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77337" y="185284"/>
            <a:ext cx="12037325" cy="8382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Recognise that fractions, decimals and percentages can have equivalent values.</a:t>
            </a:r>
            <a:endParaRPr lang="en-US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199" y="3945631"/>
            <a:ext cx="10515600" cy="1652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dirty="0">
                <a:latin typeface="Comic Sans MS" panose="030F0702030302020204" pitchFamily="66" charset="0"/>
              </a:rPr>
              <a:t>If we write one whole to 2 decimal places, what does it look like?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78990" y="5404307"/>
            <a:ext cx="26340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1.00</a:t>
            </a:r>
          </a:p>
        </p:txBody>
      </p:sp>
    </p:spTree>
    <p:extLst>
      <p:ext uri="{BB962C8B-B14F-4D97-AF65-F5344CB8AC3E}">
        <p14:creationId xmlns:p14="http://schemas.microsoft.com/office/powerpoint/2010/main" val="280851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79525"/>
            <a:ext cx="10515600" cy="1325563"/>
          </a:xfrm>
        </p:spPr>
        <p:txBody>
          <a:bodyPr>
            <a:noAutofit/>
          </a:bodyPr>
          <a:lstStyle/>
          <a:p>
            <a:r>
              <a:rPr lang="en-US" sz="4800" dirty="0">
                <a:latin typeface="Comic Sans MS" panose="030F0702030302020204" pitchFamily="66" charset="0"/>
              </a:rPr>
              <a:t>Decimals can also be equivalent to fractions and percentages.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77337" y="185284"/>
            <a:ext cx="12037325" cy="8382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Recognise that fractions, decimals and percentages can have equivalent values.</a:t>
            </a:r>
            <a:endParaRPr lang="en-US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838199" y="3945631"/>
                <a:ext cx="10515600" cy="165273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4800" dirty="0">
                    <a:latin typeface="Comic Sans MS" panose="030F0702030302020204" pitchFamily="66" charset="0"/>
                  </a:rPr>
                  <a:t>What decimal is equivalent to 50%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4800" dirty="0">
                    <a:latin typeface="Comic Sans MS" panose="030F0702030302020204" pitchFamily="66" charset="0"/>
                  </a:rPr>
                  <a:t>  ? How do you know?</a:t>
                </a:r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945631"/>
                <a:ext cx="10515600" cy="1652730"/>
              </a:xfrm>
              <a:prstGeom prst="rect">
                <a:avLst/>
              </a:prstGeom>
              <a:blipFill>
                <a:blip r:embed="rId2"/>
                <a:stretch>
                  <a:fillRect l="-2609" t="-16974" b="-4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967785" y="5527137"/>
            <a:ext cx="26340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0.5</a:t>
            </a:r>
          </a:p>
        </p:txBody>
      </p:sp>
    </p:spTree>
    <p:extLst>
      <p:ext uri="{BB962C8B-B14F-4D97-AF65-F5344CB8AC3E}">
        <p14:creationId xmlns:p14="http://schemas.microsoft.com/office/powerpoint/2010/main" val="350493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0013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We can see the equivalence more clearly when we look on a square divided into 100 parts.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77337" y="185284"/>
            <a:ext cx="12037325" cy="838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Recognise that fractions, decimals and percentages can have equivalent values.</a:t>
            </a:r>
            <a:endParaRPr lang="en-US" sz="24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1026" name="Picture 2" descr="11 Plus: Key Stage 2 Maths: Percentages, Percent means &quot;per hundred&quot; or  &quot;out of one hundred&quot;, 11 Plus Practice papers, KS2 Practice papers, To find  the percentage of a number we divid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230" y="2525701"/>
            <a:ext cx="4560594" cy="4191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9586" y="2702257"/>
                <a:ext cx="6790898" cy="3207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Comic Sans MS" panose="030F0702030302020204" pitchFamily="66" charset="0"/>
                  </a:rPr>
                  <a:t>We can see that 50 out of 100 squares are shaded.</a:t>
                </a:r>
              </a:p>
              <a:p>
                <a:endParaRPr lang="en-US" sz="2400" dirty="0">
                  <a:latin typeface="Comic Sans MS" panose="030F0702030302020204" pitchFamily="66" charset="0"/>
                </a:endParaRPr>
              </a:p>
              <a:p>
                <a:r>
                  <a:rPr lang="en-US" sz="2400" dirty="0">
                    <a:latin typeface="Comic Sans MS" panose="030F0702030302020204" pitchFamily="66" charset="0"/>
                  </a:rPr>
                  <a:t>This is 50%</a:t>
                </a:r>
              </a:p>
              <a:p>
                <a:endParaRPr lang="en-US" sz="2400" dirty="0">
                  <a:latin typeface="Comic Sans MS" panose="030F0702030302020204" pitchFamily="66" charset="0"/>
                </a:endParaRPr>
              </a:p>
              <a:p>
                <a:r>
                  <a:rPr lang="en-US" sz="2400" dirty="0">
                    <a:latin typeface="Comic Sans MS" panose="030F0702030302020204" pitchFamily="66" charset="0"/>
                  </a:rPr>
                  <a:t>It is also fifty one hundredths (0.50 / 0.5)</a:t>
                </a:r>
              </a:p>
              <a:p>
                <a:endParaRPr lang="en-US" sz="2400" dirty="0">
                  <a:latin typeface="Comic Sans MS" panose="030F0702030302020204" pitchFamily="66" charset="0"/>
                </a:endParaRPr>
              </a:p>
              <a:p>
                <a:r>
                  <a:rPr lang="en-US" sz="2400" dirty="0">
                    <a:latin typeface="Comic Sans MS" panose="030F0702030302020204" pitchFamily="66" charset="0"/>
                  </a:rPr>
                  <a:t>It is also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Comic Sans MS" panose="030F0702030302020204" pitchFamily="66" charset="0"/>
                  </a:rPr>
                  <a:t> (simplified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Comic Sans MS" panose="030F0702030302020204" pitchFamily="66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86" y="2702257"/>
                <a:ext cx="6790898" cy="3207545"/>
              </a:xfrm>
              <a:prstGeom prst="rect">
                <a:avLst/>
              </a:prstGeom>
              <a:blipFill>
                <a:blip r:embed="rId3"/>
                <a:stretch>
                  <a:fillRect l="-1346" t="-1521" b="-1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9901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77337" y="185284"/>
            <a:ext cx="12037325" cy="838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Recognise that fractions, decimals and percentages can have equivalent values.</a:t>
            </a:r>
            <a:endParaRPr lang="en-US" sz="24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16698" y="1081093"/>
            <a:ext cx="11564623" cy="1039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dirty="0">
                <a:latin typeface="Comic Sans MS" panose="030F0702030302020204" pitchFamily="66" charset="0"/>
              </a:rPr>
              <a:t>We can also order fractions, percentages and decimals together.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927185" y="3794889"/>
                <a:ext cx="2297278" cy="8094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Comic Sans MS" panose="030F0702030302020204" pitchFamily="66" charset="0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85" y="3794889"/>
                <a:ext cx="2297278" cy="8094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823528" y="3984171"/>
            <a:ext cx="80521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1.59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9951" y="3973923"/>
            <a:ext cx="129862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0.08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2321" y="3984171"/>
            <a:ext cx="129862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150%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091C559F-8836-48F7-B0F2-77529875D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5DB7144-9420-49AD-9AFB-21CB1BC21861}"/>
              </a:ext>
            </a:extLst>
          </p:cNvPr>
          <p:cNvSpPr txBox="1">
            <a:spLocks/>
          </p:cNvSpPr>
          <p:nvPr/>
        </p:nvSpPr>
        <p:spPr>
          <a:xfrm>
            <a:off x="147640" y="2178039"/>
            <a:ext cx="11564623" cy="1039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dirty="0">
                <a:latin typeface="Comic Sans MS" panose="030F0702030302020204" pitchFamily="66" charset="0"/>
              </a:rPr>
              <a:t>But first, we need to make them all the same type of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102912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3833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Check Your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909" y="2300966"/>
            <a:ext cx="1768522" cy="545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1)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77337" y="185284"/>
            <a:ext cx="12037325" cy="838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Recognise that fractions, decimals and percentages can have equivalent values.</a:t>
            </a:r>
            <a:endParaRPr lang="en-US" sz="24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7538" l="1231" r="99385">
                        <a14:foregroundMark x1="6462" y1="44615" x2="92000" y2="44923"/>
                        <a14:foregroundMark x1="92000" y1="35692" x2="39077" y2="37846"/>
                        <a14:foregroundMark x1="9231" y1="54769" x2="93231" y2="55077"/>
                        <a14:foregroundMark x1="94154" y1="61846" x2="6462" y2="63692"/>
                        <a14:foregroundMark x1="6462" y1="63692" x2="10769" y2="94769"/>
                        <a14:foregroundMark x1="10462" y1="94769" x2="94769" y2="90769"/>
                        <a14:foregroundMark x1="94769" y1="90769" x2="91077" y2="73231"/>
                        <a14:foregroundMark x1="90769" y1="70154" x2="16308" y2="71077"/>
                        <a14:foregroundMark x1="13538" y1="72000" x2="86769" y2="87692"/>
                        <a14:foregroundMark x1="87077" y1="85231" x2="9231" y2="8061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0525" y="2025576"/>
            <a:ext cx="2827291" cy="28272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22981" y="2263893"/>
            <a:ext cx="30707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What fraction, percentage and decimal of this square has been shaded?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077431" y="2182575"/>
            <a:ext cx="1768522" cy="545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latin typeface="Comic Sans MS" panose="030F0702030302020204" pitchFamily="66" charset="0"/>
              </a:rPr>
              <a:t>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77235" y="1654635"/>
            <a:ext cx="4160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Copy and complete this table. Write the fraction in it’s simplest form.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3227" y="2728486"/>
          <a:ext cx="4681182" cy="1703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394">
                  <a:extLst>
                    <a:ext uri="{9D8B030D-6E8A-4147-A177-3AD203B41FA5}">
                      <a16:colId xmlns:a16="http://schemas.microsoft.com/office/drawing/2014/main" val="971965474"/>
                    </a:ext>
                  </a:extLst>
                </a:gridCol>
                <a:gridCol w="1560394">
                  <a:extLst>
                    <a:ext uri="{9D8B030D-6E8A-4147-A177-3AD203B41FA5}">
                      <a16:colId xmlns:a16="http://schemas.microsoft.com/office/drawing/2014/main" val="104176607"/>
                    </a:ext>
                  </a:extLst>
                </a:gridCol>
                <a:gridCol w="1560394">
                  <a:extLst>
                    <a:ext uri="{9D8B030D-6E8A-4147-A177-3AD203B41FA5}">
                      <a16:colId xmlns:a16="http://schemas.microsoft.com/office/drawing/2014/main" val="1370650676"/>
                    </a:ext>
                  </a:extLst>
                </a:gridCol>
              </a:tblGrid>
              <a:tr h="58106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inkl" panose="02000000000000000000" pitchFamily="2" charset="0"/>
                        </a:rPr>
                        <a:t>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inkl" panose="02000000000000000000" pitchFamily="2" charset="0"/>
                        </a:rPr>
                        <a:t>Percentage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inkl" panose="02000000000000000000" pitchFamily="2" charset="0"/>
                        </a:rPr>
                        <a:t>Decimal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56926"/>
                  </a:ext>
                </a:extLst>
              </a:tr>
              <a:tr h="543815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winkl" panose="02000000000000000000" pitchFamily="2" charset="0"/>
                        </a:rPr>
                        <a:t>¼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036781"/>
                  </a:ext>
                </a:extLst>
              </a:tr>
              <a:tr h="54381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841946"/>
                  </a:ext>
                </a:extLst>
              </a:tr>
            </a:tbl>
          </a:graphicData>
        </a:graphic>
      </p:graphicFrame>
      <p:sp>
        <p:nvSpPr>
          <p:cNvPr id="10" name="Content Placeholder 2"/>
          <p:cNvSpPr txBox="1">
            <a:spLocks/>
          </p:cNvSpPr>
          <p:nvPr/>
        </p:nvSpPr>
        <p:spPr>
          <a:xfrm>
            <a:off x="226324" y="5402308"/>
            <a:ext cx="2817127" cy="1039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mic Sans MS" panose="030F0702030302020204" pitchFamily="66" charset="0"/>
              </a:rPr>
              <a:t>3) Put these values in order from smallest to greatest.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603009" y="5402308"/>
                <a:ext cx="464024" cy="807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Comic Sans MS" panose="030F0702030302020204" pitchFamily="66" charset="0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009" y="5402308"/>
                <a:ext cx="464024" cy="8079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4449170" y="5617783"/>
            <a:ext cx="80521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0.79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7343" y="5617782"/>
            <a:ext cx="80521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0.9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2089" y="5617781"/>
            <a:ext cx="80521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81%</a:t>
            </a:r>
          </a:p>
        </p:txBody>
      </p:sp>
    </p:spTree>
    <p:extLst>
      <p:ext uri="{BB962C8B-B14F-4D97-AF65-F5344CB8AC3E}">
        <p14:creationId xmlns:p14="http://schemas.microsoft.com/office/powerpoint/2010/main" val="2288073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38330"/>
            <a:ext cx="10515600" cy="1325563"/>
          </a:xfrm>
        </p:spPr>
        <p:txBody>
          <a:bodyPr/>
          <a:lstStyle/>
          <a:p>
            <a:r>
              <a:rPr lang="en-US" sz="4000" b="1" dirty="0">
                <a:latin typeface="Comic Sans MS" panose="030F0702030302020204" pitchFamily="66" charset="0"/>
              </a:rPr>
              <a:t>Check Your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002" y="2300966"/>
            <a:ext cx="1768522" cy="545911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1)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77337" y="185284"/>
            <a:ext cx="12037325" cy="838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Recognise that fractions, decimals and percentages can have equivalent values.</a:t>
            </a:r>
            <a:endParaRPr lang="en-US" sz="24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7538" l="1231" r="99385">
                        <a14:foregroundMark x1="6462" y1="44615" x2="92000" y2="44923"/>
                        <a14:foregroundMark x1="92000" y1="35692" x2="39077" y2="37846"/>
                        <a14:foregroundMark x1="9231" y1="54769" x2="93231" y2="55077"/>
                        <a14:foregroundMark x1="94154" y1="61846" x2="6462" y2="63692"/>
                        <a14:foregroundMark x1="6462" y1="63692" x2="10769" y2="94769"/>
                        <a14:foregroundMark x1="10462" y1="94769" x2="94769" y2="90769"/>
                        <a14:foregroundMark x1="94769" y1="90769" x2="91077" y2="73231"/>
                        <a14:foregroundMark x1="90769" y1="70154" x2="16308" y2="71077"/>
                        <a14:foregroundMark x1="13538" y1="72000" x2="86769" y2="87692"/>
                        <a14:foregroundMark x1="87077" y1="85231" x2="9231" y2="8061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3795" y="2038040"/>
            <a:ext cx="2827291" cy="28272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05241" y="2238091"/>
            <a:ext cx="30707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What fraction, percentage and decimal of this square has been shaded?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077431" y="2182575"/>
            <a:ext cx="1768522" cy="545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latin typeface="Comic Sans MS" panose="030F0702030302020204" pitchFamily="66" charset="0"/>
              </a:rPr>
              <a:t>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77235" y="1654635"/>
            <a:ext cx="4160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Copy and complete this table. Write the fraction in it’s simplest form.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716565"/>
              </p:ext>
            </p:extLst>
          </p:nvPr>
        </p:nvGraphicFramePr>
        <p:xfrm>
          <a:off x="7313227" y="2728486"/>
          <a:ext cx="4681182" cy="1870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394">
                  <a:extLst>
                    <a:ext uri="{9D8B030D-6E8A-4147-A177-3AD203B41FA5}">
                      <a16:colId xmlns:a16="http://schemas.microsoft.com/office/drawing/2014/main" val="971965474"/>
                    </a:ext>
                  </a:extLst>
                </a:gridCol>
                <a:gridCol w="1560394">
                  <a:extLst>
                    <a:ext uri="{9D8B030D-6E8A-4147-A177-3AD203B41FA5}">
                      <a16:colId xmlns:a16="http://schemas.microsoft.com/office/drawing/2014/main" val="104176607"/>
                    </a:ext>
                  </a:extLst>
                </a:gridCol>
                <a:gridCol w="1560394">
                  <a:extLst>
                    <a:ext uri="{9D8B030D-6E8A-4147-A177-3AD203B41FA5}">
                      <a16:colId xmlns:a16="http://schemas.microsoft.com/office/drawing/2014/main" val="1370650676"/>
                    </a:ext>
                  </a:extLst>
                </a:gridCol>
              </a:tblGrid>
              <a:tr h="58106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inkl" panose="02000000000000000000" pitchFamily="2" charset="0"/>
                        </a:rPr>
                        <a:t>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inkl" panose="02000000000000000000" pitchFamily="2" charset="0"/>
                        </a:rPr>
                        <a:t>Percentage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inkl" panose="02000000000000000000" pitchFamily="2" charset="0"/>
                        </a:rPr>
                        <a:t>Decimal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56926"/>
                  </a:ext>
                </a:extLst>
              </a:tr>
              <a:tr h="543815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winkl" panose="02000000000000000000" pitchFamily="2" charset="0"/>
                        </a:rPr>
                        <a:t>¼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036781"/>
                  </a:ext>
                </a:extLst>
              </a:tr>
              <a:tr h="7106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841946"/>
                  </a:ext>
                </a:extLst>
              </a:tr>
            </a:tbl>
          </a:graphicData>
        </a:graphic>
      </p:graphicFrame>
      <p:sp>
        <p:nvSpPr>
          <p:cNvPr id="10" name="Content Placeholder 2"/>
          <p:cNvSpPr txBox="1">
            <a:spLocks/>
          </p:cNvSpPr>
          <p:nvPr/>
        </p:nvSpPr>
        <p:spPr>
          <a:xfrm>
            <a:off x="226324" y="5402308"/>
            <a:ext cx="2817127" cy="1039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mic Sans MS" panose="030F0702030302020204" pitchFamily="66" charset="0"/>
              </a:rPr>
              <a:t>3) Put these values in order from smallest to greatest.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603009" y="5402308"/>
                <a:ext cx="464024" cy="807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009" y="5402308"/>
                <a:ext cx="464024" cy="8079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4449170" y="5617783"/>
            <a:ext cx="80521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0.79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7343" y="5617782"/>
            <a:ext cx="80521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0.9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2089" y="5617781"/>
            <a:ext cx="80521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81%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067033" y="3659555"/>
                <a:ext cx="1201003" cy="554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𝟑𝟒</m:t>
                          </m:r>
                        </m:num>
                        <m:den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en-US" sz="16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033" y="3659555"/>
                <a:ext cx="1201003" cy="5549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995081" y="3668650"/>
                <a:ext cx="545910" cy="554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𝟏𝟕</m:t>
                          </m:r>
                        </m:num>
                        <m:den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𝟓𝟎</m:t>
                          </m:r>
                        </m:den>
                      </m:f>
                    </m:oMath>
                  </m:oMathPara>
                </a14:m>
                <a:endParaRPr lang="en-US" sz="16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081" y="3668650"/>
                <a:ext cx="545910" cy="5549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6285932" y="3737964"/>
            <a:ext cx="1060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0.34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8719" y="3727369"/>
            <a:ext cx="1060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8278" y="3301351"/>
            <a:ext cx="106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73535" y="3325722"/>
            <a:ext cx="106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0.25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858428" y="3958201"/>
                <a:ext cx="464024" cy="520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sz="28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8428" y="3958201"/>
                <a:ext cx="464024" cy="5204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9138278" y="3958201"/>
            <a:ext cx="106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2716" y="5154587"/>
            <a:ext cx="1135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0.79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831560" y="4985277"/>
                <a:ext cx="464024" cy="807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sz="28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1560" y="4985277"/>
                <a:ext cx="464024" cy="8079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9538088" y="5154586"/>
            <a:ext cx="1135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81%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73535" y="5136403"/>
            <a:ext cx="1135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0.9</a:t>
            </a:r>
          </a:p>
        </p:txBody>
      </p:sp>
    </p:spTree>
    <p:extLst>
      <p:ext uri="{BB962C8B-B14F-4D97-AF65-F5344CB8AC3E}">
        <p14:creationId xmlns:p14="http://schemas.microsoft.com/office/powerpoint/2010/main" val="3288391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18" grpId="0"/>
      <p:bldP spid="19" grpId="0"/>
      <p:bldP spid="20" grpId="0"/>
      <p:bldP spid="23" grpId="0"/>
      <p:bldP spid="24" grpId="0"/>
      <p:bldP spid="27" grpId="0"/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0941" y="1690996"/>
            <a:ext cx="488104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Finished everything?</a:t>
            </a:r>
          </a:p>
          <a:p>
            <a:pPr marL="0" indent="0">
              <a:buNone/>
            </a:pPr>
            <a:endParaRPr lang="en-US" sz="36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Write your own question that assesses today’s learning objective.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77337" y="185284"/>
            <a:ext cx="12037325" cy="8382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Recognise that fractions, decimals and percentages can have equivalent values.</a:t>
            </a:r>
            <a:endParaRPr lang="en-US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1FA6FC-A361-4874-9A71-90014F878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777" y="1218900"/>
            <a:ext cx="4881041" cy="545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72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B704EF-E2FB-4EC6-ADE9-56617B81F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307" y="1679678"/>
            <a:ext cx="10261394" cy="4476784"/>
          </a:xfrm>
          <a:prstGeom prst="rect">
            <a:avLst/>
          </a:prstGeom>
        </p:spPr>
      </p:pic>
      <p:sp>
        <p:nvSpPr>
          <p:cNvPr id="4" name="Subtitle 2"/>
          <p:cNvSpPr txBox="1">
            <a:spLocks/>
          </p:cNvSpPr>
          <p:nvPr/>
        </p:nvSpPr>
        <p:spPr>
          <a:xfrm>
            <a:off x="77337" y="185284"/>
            <a:ext cx="12037325" cy="8382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Recognise that fractions, decimals and percentages can have equivalent values.</a:t>
            </a:r>
            <a:endParaRPr lang="en-US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96517" y="5307318"/>
                <a:ext cx="512961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𝟐𝟓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6517" y="5307318"/>
                <a:ext cx="512961" cy="5259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366157" y="6257510"/>
                <a:ext cx="237244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157" y="6257510"/>
                <a:ext cx="237244" cy="5186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370283" y="5464980"/>
            <a:ext cx="1115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0.25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2233" y="5510131"/>
            <a:ext cx="66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25%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710753" y="5431808"/>
                <a:ext cx="512961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𝟕𝟎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753" y="5431808"/>
                <a:ext cx="512961" cy="5203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848611" y="6250675"/>
                <a:ext cx="375103" cy="518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611" y="6250675"/>
                <a:ext cx="375103" cy="5185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761628" y="5510131"/>
            <a:ext cx="66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0.7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2949" y="5519952"/>
            <a:ext cx="66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70%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139896" y="5464980"/>
                <a:ext cx="512961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𝟔𝟎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9896" y="5464980"/>
                <a:ext cx="512961" cy="5203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277754" y="6248752"/>
                <a:ext cx="237244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7754" y="6248752"/>
                <a:ext cx="237244" cy="52046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9121217" y="5510131"/>
            <a:ext cx="66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0.6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50763" y="5510131"/>
            <a:ext cx="890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60%</a:t>
            </a:r>
          </a:p>
        </p:txBody>
      </p:sp>
    </p:spTree>
    <p:extLst>
      <p:ext uri="{BB962C8B-B14F-4D97-AF65-F5344CB8AC3E}">
        <p14:creationId xmlns:p14="http://schemas.microsoft.com/office/powerpoint/2010/main" val="66891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1" grpId="0"/>
      <p:bldP spid="15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C39F67-DC06-4A6A-A660-8B28682E6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80" y="1348304"/>
            <a:ext cx="11598839" cy="5008319"/>
          </a:xfrm>
          <a:prstGeom prst="rect">
            <a:avLst/>
          </a:prstGeom>
        </p:spPr>
      </p:pic>
      <p:sp>
        <p:nvSpPr>
          <p:cNvPr id="4" name="Subtitle 2"/>
          <p:cNvSpPr txBox="1">
            <a:spLocks/>
          </p:cNvSpPr>
          <p:nvPr/>
        </p:nvSpPr>
        <p:spPr>
          <a:xfrm>
            <a:off x="77337" y="185284"/>
            <a:ext cx="12037325" cy="8382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Recognise that fractions, decimals and percentages can have equivalent values.</a:t>
            </a:r>
            <a:endParaRPr lang="en-US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41242" y="2852383"/>
            <a:ext cx="1132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0.75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8287" y="2852383"/>
            <a:ext cx="1132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75%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674960" y="3651024"/>
                <a:ext cx="682388" cy="6938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𝟖𝟗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4960" y="3651024"/>
                <a:ext cx="682388" cy="6938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9378287" y="3651024"/>
            <a:ext cx="1132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89%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1368" y="4469642"/>
            <a:ext cx="1132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8287" y="4449665"/>
            <a:ext cx="1580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120%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519318" y="5483836"/>
                <a:ext cx="682388" cy="6938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𝟐𝟓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318" y="5483836"/>
                <a:ext cx="682388" cy="6938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5810958" y="5245983"/>
            <a:ext cx="1132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0.04</a:t>
            </a:r>
          </a:p>
        </p:txBody>
      </p:sp>
    </p:spTree>
    <p:extLst>
      <p:ext uri="{BB962C8B-B14F-4D97-AF65-F5344CB8AC3E}">
        <p14:creationId xmlns:p14="http://schemas.microsoft.com/office/powerpoint/2010/main" val="3423209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718078-AC2A-4F2E-A4EC-4E14A3465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4" y="1957373"/>
            <a:ext cx="11632390" cy="3483626"/>
          </a:xfrm>
          <a:prstGeom prst="rect">
            <a:avLst/>
          </a:prstGeom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77337" y="185284"/>
            <a:ext cx="12037325" cy="8382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Twinkl" panose="02000000000000000000" pitchFamily="2" charset="0"/>
              </a:rPr>
              <a:t>WALT: </a:t>
            </a:r>
            <a:r>
              <a:rPr lang="en-US" dirty="0">
                <a:latin typeface="Twinkl" panose="02000000000000000000" pitchFamily="2" charset="0"/>
              </a:rPr>
              <a:t>Recognise that fractions, decimals and percentages can have equivalent values.</a:t>
            </a:r>
            <a:endParaRPr lang="en-US" b="1" dirty="0">
              <a:latin typeface="Twinkl" panose="02000000000000000000" pitchFamily="2" charset="0"/>
            </a:endParaRPr>
          </a:p>
          <a:p>
            <a:pPr marL="0" indent="0">
              <a:buNone/>
            </a:pPr>
            <a:endParaRPr lang="en-US" dirty="0">
              <a:latin typeface="Twinkl" panose="02000000000000000000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24764" y="3414215"/>
            <a:ext cx="1405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winkl" panose="02000000000000000000" pitchFamily="2" charset="0"/>
              </a:rPr>
              <a:t>0.25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4531" y="3414215"/>
            <a:ext cx="1405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winkl" panose="02000000000000000000" pitchFamily="2" charset="0"/>
              </a:rPr>
              <a:t>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4997" y="3414215"/>
            <a:ext cx="1405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winkl" panose="02000000000000000000" pitchFamily="2" charset="0"/>
              </a:rPr>
              <a:t>0.3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659271" y="3127983"/>
                <a:ext cx="436728" cy="8094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9271" y="3127983"/>
                <a:ext cx="436728" cy="809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461140" y="3127983"/>
                <a:ext cx="436728" cy="8094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𝟐𝟏</m:t>
                          </m:r>
                        </m:num>
                        <m:den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𝟓𝟎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140" y="3127983"/>
                <a:ext cx="436728" cy="8094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2164370" y="5499677"/>
            <a:ext cx="1624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winkl" panose="02000000000000000000" pitchFamily="2" charset="0"/>
              </a:rPr>
              <a:t>0.3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30530" y="5499677"/>
            <a:ext cx="1624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winkl" panose="02000000000000000000" pitchFamily="2" charset="0"/>
              </a:rPr>
              <a:t>0.45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114339" y="5499677"/>
                <a:ext cx="436728" cy="8094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𝟒𝟏</m:t>
                          </m:r>
                        </m:num>
                        <m:den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𝟓𝟎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4339" y="5499677"/>
                <a:ext cx="436728" cy="8094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6708619" y="5543321"/>
            <a:ext cx="1624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winkl" panose="02000000000000000000" pitchFamily="2" charset="0"/>
              </a:rPr>
              <a:t>90%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EFF0CDD-F2D9-40B0-BD1F-373402700094}"/>
                  </a:ext>
                </a:extLst>
              </p:cNvPr>
              <p:cNvSpPr txBox="1"/>
              <p:nvPr/>
            </p:nvSpPr>
            <p:spPr>
              <a:xfrm>
                <a:off x="4342115" y="5499677"/>
                <a:ext cx="459476" cy="8066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EFF0CDD-F2D9-40B0-BD1F-373402700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2115" y="5499677"/>
                <a:ext cx="459476" cy="8066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7655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Recognise that fractions, decimals and percentages can have equivalent values.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I can find the fraction, decimal and percentage of a 100 square that is shaded.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convert between fractions, decimals and percentages.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order a mix of fractions, decimals and percentages.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0F2063-622E-40F6-B049-16E0C2C80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B4B782-5729-4ACD-8545-72A4A1E709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EFA7FA-4BCF-4FB6-8D11-173EEE63F1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047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666" y="1115748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Comic Sans MS" panose="030F0702030302020204" pitchFamily="66" charset="0"/>
              </a:rPr>
              <a:t>Plenary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42666" y="2441311"/>
                <a:ext cx="10515600" cy="311986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4000" dirty="0">
                    <a:latin typeface="Comic Sans MS" panose="030F0702030302020204" pitchFamily="66" charset="0"/>
                  </a:rPr>
                  <a:t>Mr. Rhys says, “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4000" dirty="0">
                    <a:latin typeface="Comic Sans MS" panose="030F0702030302020204" pitchFamily="66" charset="0"/>
                  </a:rPr>
                  <a:t> is greater than 0.35.”</a:t>
                </a:r>
              </a:p>
              <a:p>
                <a:pPr marL="0" indent="0">
                  <a:buNone/>
                </a:pPr>
                <a:endParaRPr lang="en-US" sz="4000" dirty="0">
                  <a:latin typeface="Comic Sans MS" panose="030F0702030302020204" pitchFamily="66" charset="0"/>
                </a:endParaRPr>
              </a:p>
              <a:p>
                <a:pPr marL="0" indent="0">
                  <a:buNone/>
                </a:pPr>
                <a:r>
                  <a:rPr lang="en-US" sz="4000" dirty="0">
                    <a:latin typeface="Comic Sans MS" panose="030F0702030302020204" pitchFamily="66" charset="0"/>
                  </a:rPr>
                  <a:t>Explain why Mr. Rhys is correct.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2666" y="2441311"/>
                <a:ext cx="10515600" cy="3119864"/>
              </a:xfrm>
              <a:blipFill>
                <a:blip r:embed="rId2"/>
                <a:stretch>
                  <a:fillRect l="-2087" t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Recognise that fractions, decimals and percentages can have equivalent values.</a:t>
            </a:r>
            <a:endParaRPr lang="en-US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449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5413</TotalTime>
  <Words>758</Words>
  <Application>Microsoft Office PowerPoint</Application>
  <PresentationFormat>Widescreen</PresentationFormat>
  <Paragraphs>141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Comic Sans MS</vt:lpstr>
      <vt:lpstr>Twinkl</vt:lpstr>
      <vt:lpstr>Office Theme</vt:lpstr>
      <vt:lpstr>Maths </vt:lpstr>
      <vt:lpstr>PowerPoint Presentation</vt:lpstr>
      <vt:lpstr>Retrieval Practice</vt:lpstr>
      <vt:lpstr>Starter – Which is the odd one out?</vt:lpstr>
      <vt:lpstr>When we learnt about percentages, we learnt that a % can be expressed as a fraction with a denominator of 100.</vt:lpstr>
      <vt:lpstr>Last lesson, we learnt how to simplify fractions.</vt:lpstr>
      <vt:lpstr>Decimals can also be equivalent to fractions and percentages.</vt:lpstr>
      <vt:lpstr>Decimals can also be equivalent to fractions and percentages.</vt:lpstr>
      <vt:lpstr>We can see the equivalence more clearly when we look on a square divided into 100 parts.</vt:lpstr>
      <vt:lpstr>PowerPoint Presentation</vt:lpstr>
      <vt:lpstr>Check Your Understanding</vt:lpstr>
      <vt:lpstr>Check Your Understanding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Plenary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 Aisling Meade (VSC-KTiH-MB)</cp:lastModifiedBy>
  <cp:revision>43</cp:revision>
  <dcterms:created xsi:type="dcterms:W3CDTF">2024-10-29T00:51:24Z</dcterms:created>
  <dcterms:modified xsi:type="dcterms:W3CDTF">2026-09-29T00:54:12Z</dcterms:modified>
</cp:coreProperties>
</file>