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4" r:id="rId10"/>
    <p:sldId id="266" r:id="rId11"/>
    <p:sldId id="274" r:id="rId12"/>
    <p:sldId id="267" r:id="rId13"/>
    <p:sldId id="275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7246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4489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0318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2663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036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983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5425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016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7595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5971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953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CACCF8-B847-4313-84B2-1F43B9B3848F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EE22ED-FF79-4F93-82B4-070C8AC597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597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5.gi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07/relationships/hdphoto" Target="../media/hdphoto4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microsoft.com/office/2007/relationships/hdphoto" Target="../media/hdphoto4.wdp"/><Relationship Id="rId7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190.png"/><Relationship Id="rId7" Type="http://schemas.openxmlformats.org/officeDocument/2006/relationships/image" Target="../media/image24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29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microsoft.com/office/2007/relationships/hdphoto" Target="../media/hdphoto3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65230" y="-98475"/>
            <a:ext cx="5462954" cy="1667095"/>
          </a:xfrm>
        </p:spPr>
        <p:txBody>
          <a:bodyPr>
            <a:normAutofit/>
          </a:bodyPr>
          <a:lstStyle/>
          <a:p>
            <a:r>
              <a:rPr lang="en-US" sz="8800" dirty="0" err="1">
                <a:latin typeface="Comic Sans MS" panose="030F0702030302020204" pitchFamily="66" charset="0"/>
              </a:rPr>
              <a:t>Maths</a:t>
            </a:r>
            <a:r>
              <a:rPr lang="en-US" sz="8800" dirty="0">
                <a:latin typeface="Comic Sans MS" panose="030F0702030302020204" pitchFamily="66" charset="0"/>
              </a:rPr>
              <a:t> 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2230" y="1568620"/>
            <a:ext cx="11659324" cy="4774124"/>
          </a:xfrm>
        </p:spPr>
        <p:txBody>
          <a:bodyPr>
            <a:normAutofit/>
          </a:bodyPr>
          <a:lstStyle/>
          <a:p>
            <a:pPr algn="l"/>
            <a:r>
              <a:rPr lang="en-US" sz="4800" b="1" dirty="0">
                <a:latin typeface="Comic Sans MS" panose="030F0702030302020204" pitchFamily="66" charset="0"/>
              </a:rPr>
              <a:t>29.09.2026</a:t>
            </a:r>
          </a:p>
          <a:p>
            <a:pPr algn="l"/>
            <a:endParaRPr lang="en-US" sz="4800" b="1" dirty="0">
              <a:latin typeface="Comic Sans MS" panose="030F0702030302020204" pitchFamily="66" charset="0"/>
            </a:endParaRPr>
          </a:p>
          <a:p>
            <a:pPr algn="l"/>
            <a:r>
              <a:rPr lang="en-US" sz="4800" b="1" dirty="0">
                <a:latin typeface="Comic Sans MS" panose="030F0702030302020204" pitchFamily="66" charset="0"/>
              </a:rPr>
              <a:t>WALT:</a:t>
            </a:r>
          </a:p>
          <a:p>
            <a:pPr algn="l"/>
            <a:r>
              <a:rPr lang="en-US" sz="4800" b="1" dirty="0">
                <a:latin typeface="Comic Sans MS" panose="030F0702030302020204" pitchFamily="66" charset="0"/>
              </a:rPr>
              <a:t>6Nf.04 </a:t>
            </a:r>
            <a:r>
              <a:rPr lang="en-US" sz="4800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sz="4800" b="1" dirty="0">
              <a:latin typeface="Comic Sans MS" panose="030F0702030302020204" pitchFamily="66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135292" y="552174"/>
            <a:ext cx="275626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  <a:latin typeface="Comic Sans MS" panose="030F0702030302020204" pitchFamily="66" charset="0"/>
              </a:rPr>
              <a:t>Unit 6 – Fractions and Percentages.</a:t>
            </a:r>
          </a:p>
        </p:txBody>
      </p:sp>
    </p:spTree>
    <p:extLst>
      <p:ext uri="{BB962C8B-B14F-4D97-AF65-F5344CB8AC3E}">
        <p14:creationId xmlns:p14="http://schemas.microsoft.com/office/powerpoint/2010/main" val="483479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/>
          <p:cNvSpPr txBox="1">
            <a:spLocks/>
          </p:cNvSpPr>
          <p:nvPr/>
        </p:nvSpPr>
        <p:spPr>
          <a:xfrm>
            <a:off x="201900" y="171636"/>
            <a:ext cx="12037325" cy="12187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52697" y="3526971"/>
            <a:ext cx="3435532" cy="215537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Comic Sans MS" panose="030F0702030302020204" pitchFamily="66" charset="0"/>
              </a:rPr>
              <a:t>I can find the fraction, decimal and percentage of a 100 square that is shaded.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3526971"/>
            <a:ext cx="3396343" cy="21553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Comic Sans MS" panose="030F0702030302020204" pitchFamily="66" charset="0"/>
              </a:rPr>
              <a:t>I can convert between fractions, decimals and percentages.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24049" y="3526971"/>
            <a:ext cx="3396343" cy="2155372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Comic Sans MS" panose="030F0702030302020204" pitchFamily="66" charset="0"/>
              </a:rPr>
              <a:t>I can order a mix of fractions, decimals and percentages.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55E2AEF-9810-417C-B661-3BB2F53279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09" b="92718" l="9346" r="89720">
                        <a14:foregroundMark x1="44860" y1="92718" x2="44860" y2="9271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20662" y="1313232"/>
            <a:ext cx="1102890" cy="21233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D8A0D31-876E-481B-B716-005F4FA3C4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914" b="93885" l="9023" r="89474">
                        <a14:foregroundMark x1="31579" y1="8273" x2="31579" y2="8273"/>
                        <a14:foregroundMark x1="34586" y1="15108" x2="34586" y2="15108"/>
                        <a14:foregroundMark x1="33083" y1="12950" x2="33083" y2="12950"/>
                        <a14:foregroundMark x1="53383" y1="16906" x2="53383" y2="16906"/>
                        <a14:foregroundMark x1="66165" y1="24460" x2="66165" y2="24460"/>
                        <a14:foregroundMark x1="44361" y1="20504" x2="44361" y2="20504"/>
                        <a14:foregroundMark x1="48120" y1="18705" x2="48120" y2="18705"/>
                        <a14:foregroundMark x1="57895" y1="27338" x2="57895" y2="27338"/>
                        <a14:foregroundMark x1="54887" y1="93885" x2="54887" y2="938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4555" y="1053553"/>
            <a:ext cx="1102890" cy="23052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815C072B-7276-45F1-8458-981816D209C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904" b="97603" l="8527" r="89147">
                        <a14:foregroundMark x1="54264" y1="17808" x2="54264" y2="17808"/>
                        <a14:foregroundMark x1="66667" y1="25685" x2="66667" y2="25685"/>
                        <a14:foregroundMark x1="66667" y1="97945" x2="66667" y2="97945"/>
                        <a14:foregroundMark x1="33333" y1="8904" x2="33333" y2="8904"/>
                        <a14:foregroundMark x1="35659" y1="15068" x2="35659" y2="15068"/>
                        <a14:foregroundMark x1="35659" y1="11986" x2="35659" y2="11986"/>
                        <a14:foregroundMark x1="58140" y1="19178" x2="58140" y2="19178"/>
                        <a14:foregroundMark x1="46512" y1="19863" x2="46512" y2="19863"/>
                        <a14:foregroundMark x1="72868" y1="25342" x2="72868" y2="25342"/>
                        <a14:foregroundMark x1="68992" y1="21575" x2="68992" y2="21575"/>
                        <a14:foregroundMark x1="52713" y1="17808" x2="52713" y2="17808"/>
                        <a14:foregroundMark x1="53488" y1="16096" x2="53488" y2="16096"/>
                        <a14:foregroundMark x1="33333" y1="9247" x2="33333" y2="9247"/>
                        <a14:foregroundMark x1="24031" y1="9247" x2="24031" y2="9247"/>
                        <a14:foregroundMark x1="36434" y1="34589" x2="36434" y2="34589"/>
                        <a14:foregroundMark x1="38760" y1="32192" x2="38760" y2="3219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3850" y="940088"/>
            <a:ext cx="1102890" cy="249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0448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900" y="1190557"/>
            <a:ext cx="2837355" cy="1552642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Comic Sans MS" panose="030F0702030302020204" pitchFamily="66" charset="0"/>
              </a:rPr>
              <a:t>Retrieval Practice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201900" y="171636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>
                <a:latin typeface="Comic Sans MS" panose="030F0702030302020204" pitchFamily="66" charset="0"/>
              </a:rPr>
              <a:t>WALT: </a:t>
            </a:r>
            <a:r>
              <a:rPr lang="en-US" sz="2000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sz="2000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sz="2400" dirty="0">
              <a:latin typeface="Comic Sans MS" panose="030F0702030302020204" pitchFamily="66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917E5B3-6C7A-489D-BEAD-868F3B7F3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9254" y="443721"/>
            <a:ext cx="7702539" cy="64295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92798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026" y="748896"/>
            <a:ext cx="11151900" cy="1325563"/>
          </a:xfrm>
        </p:spPr>
        <p:txBody>
          <a:bodyPr>
            <a:noAutofit/>
          </a:bodyPr>
          <a:lstStyle/>
          <a:p>
            <a:r>
              <a:rPr lang="en-US" b="1" dirty="0">
                <a:latin typeface="Comic Sans MS" panose="030F0702030302020204" pitchFamily="66" charset="0"/>
              </a:rPr>
              <a:t>Starter – </a:t>
            </a:r>
            <a:r>
              <a:rPr lang="en-US" dirty="0">
                <a:latin typeface="Comic Sans MS" panose="030F0702030302020204" pitchFamily="66" charset="0"/>
              </a:rPr>
              <a:t>Which is the odd one out?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0176" y="2074459"/>
            <a:ext cx="4816224" cy="44355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5400" dirty="0">
                <a:latin typeface="Comic Sans MS" panose="030F0702030302020204" pitchFamily="66" charset="0"/>
              </a:rPr>
              <a:t>50% of 100 =</a:t>
            </a:r>
          </a:p>
          <a:p>
            <a:pPr marL="0" indent="0">
              <a:buNone/>
            </a:pPr>
            <a:endParaRPr lang="en-US" sz="5400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r>
              <a:rPr lang="en-US" sz="5400" dirty="0">
                <a:latin typeface="Comic Sans MS" panose="030F0702030302020204" pitchFamily="66" charset="0"/>
              </a:rPr>
              <a:t>½ of 100 =</a:t>
            </a:r>
          </a:p>
          <a:p>
            <a:pPr marL="0" indent="0">
              <a:buNone/>
            </a:pPr>
            <a:endParaRPr lang="en-US" sz="5400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r>
              <a:rPr lang="en-US" sz="5400" dirty="0">
                <a:latin typeface="Comic Sans MS" panose="030F0702030302020204" pitchFamily="66" charset="0"/>
              </a:rPr>
              <a:t>100 X 0.5 =</a:t>
            </a:r>
          </a:p>
          <a:p>
            <a:pPr marL="0" indent="0">
              <a:buNone/>
            </a:pPr>
            <a:endParaRPr lang="en-US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dirty="0">
              <a:latin typeface="Comic Sans MS" panose="030F0702030302020204" pitchFamily="66" charset="0"/>
            </a:endParaRP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201900" y="171636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03495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36" y="1179280"/>
            <a:ext cx="12114664" cy="1954130"/>
          </a:xfrm>
        </p:spPr>
        <p:txBody>
          <a:bodyPr>
            <a:normAutofit/>
          </a:bodyPr>
          <a:lstStyle/>
          <a:p>
            <a:r>
              <a:rPr lang="en-US" sz="4000" dirty="0">
                <a:latin typeface="Comic Sans MS" panose="030F0702030302020204" pitchFamily="66" charset="0"/>
              </a:rPr>
              <a:t>When we learnt about percentages, we learnt that a % can be expressed as a fraction with a denominator of 100.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98510" y="3533420"/>
                <a:ext cx="10515600" cy="165273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sz="6000" dirty="0">
                    <a:latin typeface="Comic Sans MS" panose="030F0702030302020204" pitchFamily="66" charset="0"/>
                  </a:rPr>
                  <a:t>E.g. 50%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6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a:rPr lang="en-US" sz="60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endParaRPr lang="en-US" sz="2400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98510" y="3533420"/>
                <a:ext cx="10515600" cy="1652730"/>
              </a:xfrm>
              <a:blipFill>
                <a:blip r:embed="rId2"/>
                <a:stretch>
                  <a:fillRect l="-3478" t="-55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Comic Sans MS" panose="030F0702030302020204" pitchFamily="66" charset="0"/>
              </a:rPr>
              <a:t>WALT: </a:t>
            </a:r>
            <a:r>
              <a:rPr lang="en-US" sz="2400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sz="2400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sz="2400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4337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336" y="1179280"/>
            <a:ext cx="12114664" cy="1954130"/>
          </a:xfrm>
        </p:spPr>
        <p:txBody>
          <a:bodyPr>
            <a:normAutofit/>
          </a:bodyPr>
          <a:lstStyle/>
          <a:p>
            <a:r>
              <a:rPr lang="en-US" dirty="0">
                <a:latin typeface="Comic Sans MS" panose="030F0702030302020204" pitchFamily="66" charset="0"/>
              </a:rPr>
              <a:t>Last lesson, we learnt how to simplify fractions.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1599062" y="3289108"/>
                <a:ext cx="10515600" cy="165273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4800" dirty="0">
                    <a:latin typeface="Comic Sans MS" panose="030F0702030302020204" pitchFamily="66" charset="0"/>
                  </a:rPr>
                  <a:t>What is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</m:oMath>
                </a14:m>
                <a:r>
                  <a:rPr lang="en-US" sz="4800" dirty="0">
                    <a:latin typeface="Comic Sans MS" panose="030F0702030302020204" pitchFamily="66" charset="0"/>
                  </a:rPr>
                  <a:t> in its simplest form?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99062" y="3289108"/>
                <a:ext cx="10515600" cy="1652730"/>
              </a:xfrm>
              <a:blipFill>
                <a:blip r:embed="rId2"/>
                <a:stretch>
                  <a:fillRect l="-2609" t="-36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dirty="0">
              <a:latin typeface="Comic Sans MS" panose="030F0702030302020204" pitchFamily="66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1271515" y="4716632"/>
                <a:ext cx="1498980" cy="147521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4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4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sz="4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</m:oMath>
                  </m:oMathPara>
                </a14:m>
                <a:endParaRPr lang="en-US" sz="4800" b="1" dirty="0">
                  <a:solidFill>
                    <a:srgbClr val="FF0000"/>
                  </a:solidFill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71515" y="4716632"/>
                <a:ext cx="1498980" cy="14752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/>
              <p:cNvSpPr txBox="1">
                <a:spLocks/>
              </p:cNvSpPr>
              <p:nvPr/>
            </p:nvSpPr>
            <p:spPr>
              <a:xfrm>
                <a:off x="3766782" y="5132986"/>
                <a:ext cx="10515600" cy="16527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4800" dirty="0">
                    <a:latin typeface="Comic Sans MS" panose="030F0702030302020204" pitchFamily="66" charset="0"/>
                  </a:rPr>
                  <a:t>Therefore 50% =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4800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6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6782" y="5132986"/>
                <a:ext cx="10515600" cy="1652730"/>
              </a:xfrm>
              <a:prstGeom prst="rect">
                <a:avLst/>
              </a:prstGeom>
              <a:blipFill>
                <a:blip r:embed="rId4"/>
                <a:stretch>
                  <a:fillRect l="-2667" t="-44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584913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9525"/>
            <a:ext cx="10515600" cy="1325563"/>
          </a:xfrm>
        </p:spPr>
        <p:txBody>
          <a:bodyPr>
            <a:noAutofit/>
          </a:bodyPr>
          <a:lstStyle/>
          <a:p>
            <a:r>
              <a:rPr lang="en-US" sz="4800" dirty="0">
                <a:latin typeface="Comic Sans MS" panose="030F0702030302020204" pitchFamily="66" charset="0"/>
              </a:rPr>
              <a:t>Decimals can also be equivalent to fractions and percentages.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dirty="0">
              <a:latin typeface="Comic Sans MS" panose="030F0702030302020204" pitchFamily="66" charset="0"/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838199" y="3945631"/>
            <a:ext cx="10515600" cy="165273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4800" dirty="0">
                <a:latin typeface="Comic Sans MS" panose="030F0702030302020204" pitchFamily="66" charset="0"/>
              </a:rPr>
              <a:t>If we write one whole to 2 decimal places, what does it look like?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78990" y="5404307"/>
            <a:ext cx="26340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rgbClr val="FF0000"/>
                </a:solidFill>
                <a:latin typeface="Comic Sans MS" panose="030F0702030302020204" pitchFamily="66" charset="0"/>
              </a:rPr>
              <a:t>1.00</a:t>
            </a:r>
          </a:p>
        </p:txBody>
      </p:sp>
    </p:spTree>
    <p:extLst>
      <p:ext uri="{BB962C8B-B14F-4D97-AF65-F5344CB8AC3E}">
        <p14:creationId xmlns:p14="http://schemas.microsoft.com/office/powerpoint/2010/main" val="2808515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79525"/>
            <a:ext cx="10515600" cy="1325563"/>
          </a:xfrm>
        </p:spPr>
        <p:txBody>
          <a:bodyPr>
            <a:noAutofit/>
          </a:bodyPr>
          <a:lstStyle/>
          <a:p>
            <a:r>
              <a:rPr lang="en-US" sz="4800" dirty="0">
                <a:latin typeface="Comic Sans MS" panose="030F0702030302020204" pitchFamily="66" charset="0"/>
              </a:rPr>
              <a:t>Decimals can also be equivalent to fractions and percentages.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dirty="0">
              <a:latin typeface="Comic Sans MS" panose="030F0702030302020204" pitchFamily="66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/>
              <p:cNvSpPr txBox="1">
                <a:spLocks/>
              </p:cNvSpPr>
              <p:nvPr/>
            </p:nvSpPr>
            <p:spPr>
              <a:xfrm>
                <a:off x="838199" y="3945631"/>
                <a:ext cx="10515600" cy="165273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4800" dirty="0">
                    <a:latin typeface="Comic Sans MS" panose="030F0702030302020204" pitchFamily="66" charset="0"/>
                  </a:rPr>
                  <a:t>What decimal is equivalent to 50% and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8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4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4800" dirty="0">
                    <a:latin typeface="Comic Sans MS" panose="030F0702030302020204" pitchFamily="66" charset="0"/>
                  </a:rPr>
                  <a:t>  ? How do you know?</a:t>
                </a:r>
              </a:p>
            </p:txBody>
          </p:sp>
        </mc:Choice>
        <mc:Fallback xmlns="">
          <p:sp>
            <p:nvSpPr>
              <p:cNvPr id="5" name="Content Placeholder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199" y="3945631"/>
                <a:ext cx="10515600" cy="1652730"/>
              </a:xfrm>
              <a:prstGeom prst="rect">
                <a:avLst/>
              </a:prstGeom>
              <a:blipFill>
                <a:blip r:embed="rId2"/>
                <a:stretch>
                  <a:fillRect l="-2609" t="-16974" b="-44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/>
          <p:cNvSpPr txBox="1"/>
          <p:nvPr/>
        </p:nvSpPr>
        <p:spPr>
          <a:xfrm>
            <a:off x="4967785" y="5527137"/>
            <a:ext cx="2634017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0.5</a:t>
            </a:r>
          </a:p>
        </p:txBody>
      </p:sp>
    </p:spTree>
    <p:extLst>
      <p:ext uri="{BB962C8B-B14F-4D97-AF65-F5344CB8AC3E}">
        <p14:creationId xmlns:p14="http://schemas.microsoft.com/office/powerpoint/2010/main" val="3504935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200138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Comic Sans MS" panose="030F0702030302020204" pitchFamily="66" charset="0"/>
              </a:rPr>
              <a:t>We can see the equivalence more clearly when we look on a square divided into 100 parts.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Comic Sans MS" panose="030F0702030302020204" pitchFamily="66" charset="0"/>
              </a:rPr>
              <a:t>WALT: </a:t>
            </a:r>
            <a:r>
              <a:rPr lang="en-US" sz="2400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sz="2400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sz="2400" dirty="0">
              <a:latin typeface="Comic Sans MS" panose="030F0702030302020204" pitchFamily="66" charset="0"/>
            </a:endParaRPr>
          </a:p>
        </p:txBody>
      </p:sp>
      <p:pic>
        <p:nvPicPr>
          <p:cNvPr id="1026" name="Picture 2" descr="11 Plus: Key Stage 2 Maths: Percentages, Percent means &quot;per hundred&quot; or  &quot;out of one hundred&quot;, 11 Plus Practice papers, KS2 Practice papers, To find  the percentage of a number we divid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57230" y="2525701"/>
            <a:ext cx="4560594" cy="41912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319586" y="2702257"/>
                <a:ext cx="6790898" cy="3207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Comic Sans MS" panose="030F0702030302020204" pitchFamily="66" charset="0"/>
                  </a:rPr>
                  <a:t>We can see that 50 out of 100 squares are shaded.</a:t>
                </a:r>
              </a:p>
              <a:p>
                <a:endParaRPr lang="en-US" sz="2400" dirty="0">
                  <a:latin typeface="Comic Sans MS" panose="030F0702030302020204" pitchFamily="66" charset="0"/>
                </a:endParaRPr>
              </a:p>
              <a:p>
                <a:r>
                  <a:rPr lang="en-US" sz="2400" dirty="0">
                    <a:latin typeface="Comic Sans MS" panose="030F0702030302020204" pitchFamily="66" charset="0"/>
                  </a:rPr>
                  <a:t>This is 50%</a:t>
                </a:r>
              </a:p>
              <a:p>
                <a:endParaRPr lang="en-US" sz="2400" dirty="0">
                  <a:latin typeface="Comic Sans MS" panose="030F0702030302020204" pitchFamily="66" charset="0"/>
                </a:endParaRPr>
              </a:p>
              <a:p>
                <a:r>
                  <a:rPr lang="en-US" sz="2400" dirty="0">
                    <a:latin typeface="Comic Sans MS" panose="030F0702030302020204" pitchFamily="66" charset="0"/>
                  </a:rPr>
                  <a:t>It is also fifty one hundredths (0.50 / 0.5)</a:t>
                </a:r>
              </a:p>
              <a:p>
                <a:endParaRPr lang="en-US" sz="2400" dirty="0">
                  <a:latin typeface="Comic Sans MS" panose="030F0702030302020204" pitchFamily="66" charset="0"/>
                </a:endParaRPr>
              </a:p>
              <a:p>
                <a:r>
                  <a:rPr lang="en-US" sz="2400" dirty="0">
                    <a:latin typeface="Comic Sans MS" panose="030F0702030302020204" pitchFamily="66" charset="0"/>
                  </a:rPr>
                  <a:t>It is also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50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100</m:t>
                        </m:r>
                      </m:den>
                    </m:f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Comic Sans MS" panose="030F0702030302020204" pitchFamily="66" charset="0"/>
                  </a:rPr>
                  <a:t> (simplified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sz="2400" dirty="0">
                    <a:latin typeface="Comic Sans MS" panose="030F0702030302020204" pitchFamily="66" charset="0"/>
                  </a:rPr>
                  <a:t>)</a:t>
                </a:r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86" y="2702257"/>
                <a:ext cx="6790898" cy="3207545"/>
              </a:xfrm>
              <a:prstGeom prst="rect">
                <a:avLst/>
              </a:prstGeom>
              <a:blipFill>
                <a:blip r:embed="rId3"/>
                <a:stretch>
                  <a:fillRect l="-1346" t="-1521" b="-11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19901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Comic Sans MS" panose="030F0702030302020204" pitchFamily="66" charset="0"/>
              </a:rPr>
              <a:t>WALT: </a:t>
            </a:r>
            <a:r>
              <a:rPr lang="en-US" sz="2400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sz="2400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sz="2400" dirty="0">
              <a:latin typeface="Comic Sans MS" panose="030F0702030302020204" pitchFamily="66" charset="0"/>
            </a:endParaRPr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216698" y="1081093"/>
            <a:ext cx="11564623" cy="10394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dirty="0">
                <a:latin typeface="Comic Sans MS" panose="030F0702030302020204" pitchFamily="66" charset="0"/>
              </a:rPr>
              <a:t>We can also order fractions, percentages and decimals together.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927185" y="3794889"/>
                <a:ext cx="2297278" cy="8094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US" sz="2800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185" y="3794889"/>
                <a:ext cx="2297278" cy="8094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3823528" y="3984171"/>
            <a:ext cx="80521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1.59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29951" y="3973923"/>
            <a:ext cx="129862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0.08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62321" y="3984171"/>
            <a:ext cx="129862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150%</a:t>
            </a:r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091C559F-8836-48F7-B0F2-77529875D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05DB7144-9420-49AD-9AFB-21CB1BC21861}"/>
              </a:ext>
            </a:extLst>
          </p:cNvPr>
          <p:cNvSpPr txBox="1">
            <a:spLocks/>
          </p:cNvSpPr>
          <p:nvPr/>
        </p:nvSpPr>
        <p:spPr>
          <a:xfrm>
            <a:off x="147640" y="2178039"/>
            <a:ext cx="11564623" cy="10394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3200" dirty="0">
                <a:latin typeface="Comic Sans MS" panose="030F0702030302020204" pitchFamily="66" charset="0"/>
              </a:rPr>
              <a:t>But first, we need to make them all the same type of representation.</a:t>
            </a:r>
          </a:p>
        </p:txBody>
      </p:sp>
    </p:spTree>
    <p:extLst>
      <p:ext uri="{BB962C8B-B14F-4D97-AF65-F5344CB8AC3E}">
        <p14:creationId xmlns:p14="http://schemas.microsoft.com/office/powerpoint/2010/main" val="1029128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38330"/>
            <a:ext cx="10515600" cy="1325563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Comic Sans MS" panose="030F0702030302020204" pitchFamily="66" charset="0"/>
              </a:rPr>
              <a:t>Check Your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1909" y="2300966"/>
            <a:ext cx="1768522" cy="54591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Comic Sans MS" panose="030F0702030302020204" pitchFamily="66" charset="0"/>
              </a:rPr>
              <a:t>1)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Comic Sans MS" panose="030F0702030302020204" pitchFamily="66" charset="0"/>
              </a:rPr>
              <a:t>WALT: </a:t>
            </a:r>
            <a:r>
              <a:rPr lang="en-US" sz="2400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sz="2400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sz="2400" dirty="0">
              <a:latin typeface="Comic Sans MS" panose="030F0702030302020204" pitchFamily="66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7538" l="1231" r="99385">
                        <a14:foregroundMark x1="6462" y1="44615" x2="92000" y2="44923"/>
                        <a14:foregroundMark x1="92000" y1="35692" x2="39077" y2="37846"/>
                        <a14:foregroundMark x1="9231" y1="54769" x2="93231" y2="55077"/>
                        <a14:foregroundMark x1="94154" y1="61846" x2="6462" y2="63692"/>
                        <a14:foregroundMark x1="6462" y1="63692" x2="10769" y2="94769"/>
                        <a14:foregroundMark x1="10462" y1="94769" x2="94769" y2="90769"/>
                        <a14:foregroundMark x1="94769" y1="90769" x2="91077" y2="73231"/>
                        <a14:foregroundMark x1="90769" y1="70154" x2="16308" y2="71077"/>
                        <a14:foregroundMark x1="13538" y1="72000" x2="86769" y2="87692"/>
                        <a14:foregroundMark x1="87077" y1="85231" x2="9231" y2="8061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30525" y="2025576"/>
            <a:ext cx="2827291" cy="2827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922981" y="2263893"/>
            <a:ext cx="30707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mic Sans MS" panose="030F0702030302020204" pitchFamily="66" charset="0"/>
              </a:rPr>
              <a:t>What fraction, percentage and decimal of this square has been shaded?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077431" y="2182575"/>
            <a:ext cx="1768522" cy="545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latin typeface="Comic Sans MS" panose="030F0702030302020204" pitchFamily="66" charset="0"/>
              </a:rPr>
              <a:t>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7235" y="1654635"/>
            <a:ext cx="4160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mic Sans MS" panose="030F0702030302020204" pitchFamily="66" charset="0"/>
              </a:rPr>
              <a:t>Copy and complete this table. Write the fraction in it’s simplest form.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3227" y="2728486"/>
          <a:ext cx="4681182" cy="1703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394">
                  <a:extLst>
                    <a:ext uri="{9D8B030D-6E8A-4147-A177-3AD203B41FA5}">
                      <a16:colId xmlns:a16="http://schemas.microsoft.com/office/drawing/2014/main" val="971965474"/>
                    </a:ext>
                  </a:extLst>
                </a:gridCol>
                <a:gridCol w="1560394">
                  <a:extLst>
                    <a:ext uri="{9D8B030D-6E8A-4147-A177-3AD203B41FA5}">
                      <a16:colId xmlns:a16="http://schemas.microsoft.com/office/drawing/2014/main" val="104176607"/>
                    </a:ext>
                  </a:extLst>
                </a:gridCol>
                <a:gridCol w="1560394">
                  <a:extLst>
                    <a:ext uri="{9D8B030D-6E8A-4147-A177-3AD203B41FA5}">
                      <a16:colId xmlns:a16="http://schemas.microsoft.com/office/drawing/2014/main" val="1370650676"/>
                    </a:ext>
                  </a:extLst>
                </a:gridCol>
              </a:tblGrid>
              <a:tr h="58106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winkl" panose="02000000000000000000" pitchFamily="2" charset="0"/>
                        </a:rPr>
                        <a:t>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winkl" panose="02000000000000000000" pitchFamily="2" charset="0"/>
                        </a:rPr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winkl" panose="02000000000000000000" pitchFamily="2" charset="0"/>
                        </a:rPr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356926"/>
                  </a:ext>
                </a:extLst>
              </a:tr>
              <a:tr h="543815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latin typeface="Twinkl" panose="02000000000000000000" pitchFamily="2" charset="0"/>
                        </a:rPr>
                        <a:t>¼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036781"/>
                  </a:ext>
                </a:extLst>
              </a:tr>
              <a:tr h="54381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Twinkl" panose="02000000000000000000" pitchFamily="2" charset="0"/>
                        </a:rPr>
                        <a:t>0.4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7841946"/>
                  </a:ext>
                </a:extLst>
              </a:tr>
            </a:tbl>
          </a:graphicData>
        </a:graphic>
      </p:graphicFrame>
      <p:sp>
        <p:nvSpPr>
          <p:cNvPr id="10" name="Content Placeholder 2"/>
          <p:cNvSpPr txBox="1">
            <a:spLocks/>
          </p:cNvSpPr>
          <p:nvPr/>
        </p:nvSpPr>
        <p:spPr>
          <a:xfrm>
            <a:off x="226324" y="5402308"/>
            <a:ext cx="2817127" cy="10394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Comic Sans MS" panose="030F0702030302020204" pitchFamily="66" charset="0"/>
              </a:rPr>
              <a:t>3) Put these values in order from smallest to greatest.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3603009" y="5402308"/>
                <a:ext cx="464024" cy="8079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sz="2800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3009" y="5402308"/>
                <a:ext cx="464024" cy="80791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4449170" y="5617783"/>
            <a:ext cx="80521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0.79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7343" y="5617782"/>
            <a:ext cx="80521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0.9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2089" y="5617781"/>
            <a:ext cx="80521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81%</a:t>
            </a:r>
          </a:p>
        </p:txBody>
      </p:sp>
    </p:spTree>
    <p:extLst>
      <p:ext uri="{BB962C8B-B14F-4D97-AF65-F5344CB8AC3E}">
        <p14:creationId xmlns:p14="http://schemas.microsoft.com/office/powerpoint/2010/main" val="2288073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938330"/>
            <a:ext cx="10515600" cy="1325563"/>
          </a:xfrm>
        </p:spPr>
        <p:txBody>
          <a:bodyPr/>
          <a:lstStyle/>
          <a:p>
            <a:r>
              <a:rPr lang="en-US" sz="4000" b="1" dirty="0">
                <a:latin typeface="Comic Sans MS" panose="030F0702030302020204" pitchFamily="66" charset="0"/>
              </a:rPr>
              <a:t>Check Your Understanding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7002" y="2300966"/>
            <a:ext cx="1768522" cy="545911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latin typeface="Comic Sans MS" panose="030F0702030302020204" pitchFamily="66" charset="0"/>
              </a:rPr>
              <a:t>1)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Comic Sans MS" panose="030F0702030302020204" pitchFamily="66" charset="0"/>
              </a:rPr>
              <a:t>WALT: </a:t>
            </a:r>
            <a:r>
              <a:rPr lang="en-US" sz="2400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sz="2400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sz="2400" dirty="0">
              <a:latin typeface="Comic Sans MS" panose="030F0702030302020204" pitchFamily="66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0" b="97538" l="1231" r="99385">
                        <a14:foregroundMark x1="6462" y1="44615" x2="92000" y2="44923"/>
                        <a14:foregroundMark x1="92000" y1="35692" x2="39077" y2="37846"/>
                        <a14:foregroundMark x1="9231" y1="54769" x2="93231" y2="55077"/>
                        <a14:foregroundMark x1="94154" y1="61846" x2="6462" y2="63692"/>
                        <a14:foregroundMark x1="6462" y1="63692" x2="10769" y2="94769"/>
                        <a14:foregroundMark x1="10462" y1="94769" x2="94769" y2="90769"/>
                        <a14:foregroundMark x1="94769" y1="90769" x2="91077" y2="73231"/>
                        <a14:foregroundMark x1="90769" y1="70154" x2="16308" y2="71077"/>
                        <a14:foregroundMark x1="13538" y1="72000" x2="86769" y2="87692"/>
                        <a14:foregroundMark x1="87077" y1="85231" x2="9231" y2="8061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3795" y="2038040"/>
            <a:ext cx="2827291" cy="2827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805241" y="2238091"/>
            <a:ext cx="307074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mic Sans MS" panose="030F0702030302020204" pitchFamily="66" charset="0"/>
              </a:rPr>
              <a:t>What fraction, percentage and decimal of this square has been shaded?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077431" y="2182575"/>
            <a:ext cx="1768522" cy="545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latin typeface="Comic Sans MS" panose="030F0702030302020204" pitchFamily="66" charset="0"/>
              </a:rPr>
              <a:t>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7235" y="1654635"/>
            <a:ext cx="4160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mic Sans MS" panose="030F0702030302020204" pitchFamily="66" charset="0"/>
              </a:rPr>
              <a:t>Copy and complete this table. Write the fraction in it’s simplest form.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4716565"/>
              </p:ext>
            </p:extLst>
          </p:nvPr>
        </p:nvGraphicFramePr>
        <p:xfrm>
          <a:off x="7313227" y="2728486"/>
          <a:ext cx="4681182" cy="18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394">
                  <a:extLst>
                    <a:ext uri="{9D8B030D-6E8A-4147-A177-3AD203B41FA5}">
                      <a16:colId xmlns:a16="http://schemas.microsoft.com/office/drawing/2014/main" val="971965474"/>
                    </a:ext>
                  </a:extLst>
                </a:gridCol>
                <a:gridCol w="1560394">
                  <a:extLst>
                    <a:ext uri="{9D8B030D-6E8A-4147-A177-3AD203B41FA5}">
                      <a16:colId xmlns:a16="http://schemas.microsoft.com/office/drawing/2014/main" val="104176607"/>
                    </a:ext>
                  </a:extLst>
                </a:gridCol>
                <a:gridCol w="1560394">
                  <a:extLst>
                    <a:ext uri="{9D8B030D-6E8A-4147-A177-3AD203B41FA5}">
                      <a16:colId xmlns:a16="http://schemas.microsoft.com/office/drawing/2014/main" val="1370650676"/>
                    </a:ext>
                  </a:extLst>
                </a:gridCol>
              </a:tblGrid>
              <a:tr h="58106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winkl" panose="02000000000000000000" pitchFamily="2" charset="0"/>
                        </a:rPr>
                        <a:t>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winkl" panose="02000000000000000000" pitchFamily="2" charset="0"/>
                        </a:rPr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winkl" panose="02000000000000000000" pitchFamily="2" charset="0"/>
                        </a:rPr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356926"/>
                  </a:ext>
                </a:extLst>
              </a:tr>
              <a:tr h="543815">
                <a:tc>
                  <a:txBody>
                    <a:bodyPr/>
                    <a:lstStyle/>
                    <a:p>
                      <a:pPr algn="ctr"/>
                      <a:r>
                        <a:rPr lang="en-US" sz="3200" b="1" dirty="0">
                          <a:latin typeface="Twinkl" panose="02000000000000000000" pitchFamily="2" charset="0"/>
                        </a:rPr>
                        <a:t>¼</a:t>
                      </a:r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036781"/>
                  </a:ext>
                </a:extLst>
              </a:tr>
              <a:tr h="7106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Twinkl" panose="02000000000000000000" pitchFamily="2" charset="0"/>
                        </a:rPr>
                        <a:t>0.4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7841946"/>
                  </a:ext>
                </a:extLst>
              </a:tr>
            </a:tbl>
          </a:graphicData>
        </a:graphic>
      </p:graphicFrame>
      <p:sp>
        <p:nvSpPr>
          <p:cNvPr id="10" name="Content Placeholder 2"/>
          <p:cNvSpPr txBox="1">
            <a:spLocks/>
          </p:cNvSpPr>
          <p:nvPr/>
        </p:nvSpPr>
        <p:spPr>
          <a:xfrm>
            <a:off x="226324" y="5402308"/>
            <a:ext cx="2817127" cy="10394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Comic Sans MS" panose="030F0702030302020204" pitchFamily="66" charset="0"/>
              </a:rPr>
              <a:t>3) Put these values in order from smallest to greatest.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3603009" y="5402308"/>
                <a:ext cx="464024" cy="8079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sz="2800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3009" y="5402308"/>
                <a:ext cx="464024" cy="80791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4449170" y="5617783"/>
            <a:ext cx="80521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0.79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7343" y="5617782"/>
            <a:ext cx="80521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0.9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12089" y="5617781"/>
            <a:ext cx="80521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81%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4067033" y="3659555"/>
                <a:ext cx="1201003" cy="5549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𝟑𝟒</m:t>
                          </m:r>
                        </m:num>
                        <m:den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US" sz="1600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7033" y="3659555"/>
                <a:ext cx="1201003" cy="5549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4995081" y="3668650"/>
                <a:ext cx="545910" cy="5549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𝟏𝟕</m:t>
                          </m:r>
                        </m:num>
                        <m:den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𝟓𝟎</m:t>
                          </m:r>
                        </m:den>
                      </m:f>
                    </m:oMath>
                  </m:oMathPara>
                </a14:m>
                <a:endParaRPr lang="en-US" sz="1600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95081" y="3668650"/>
                <a:ext cx="545910" cy="5549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6285932" y="3737964"/>
            <a:ext cx="10607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08719" y="3727369"/>
            <a:ext cx="10607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Comic Sans MS" panose="030F0702030302020204" pitchFamily="66" charset="0"/>
              </a:rPr>
              <a:t>34%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8278" y="3301351"/>
            <a:ext cx="1064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Comic Sans MS" panose="030F0702030302020204" pitchFamily="66" charset="0"/>
              </a:rPr>
              <a:t>25%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73535" y="3325722"/>
            <a:ext cx="1064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0.25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7858428" y="3958201"/>
                <a:ext cx="464024" cy="5204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8428" y="3958201"/>
                <a:ext cx="464024" cy="52046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/>
          <p:cNvSpPr txBox="1"/>
          <p:nvPr/>
        </p:nvSpPr>
        <p:spPr>
          <a:xfrm>
            <a:off x="9138278" y="3958201"/>
            <a:ext cx="1064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Comic Sans MS" panose="030F0702030302020204" pitchFamily="66" charset="0"/>
              </a:rPr>
              <a:t>40%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2716" y="5154587"/>
            <a:ext cx="11354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0.79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8831560" y="4985277"/>
                <a:ext cx="464024" cy="80791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1560" y="4985277"/>
                <a:ext cx="464024" cy="80791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/>
          <p:cNvSpPr txBox="1"/>
          <p:nvPr/>
        </p:nvSpPr>
        <p:spPr>
          <a:xfrm>
            <a:off x="9538088" y="5154586"/>
            <a:ext cx="11354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Comic Sans MS" panose="030F0702030302020204" pitchFamily="66" charset="0"/>
              </a:rPr>
              <a:t>81%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73535" y="5136403"/>
            <a:ext cx="11354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0.9</a:t>
            </a:r>
          </a:p>
        </p:txBody>
      </p:sp>
    </p:spTree>
    <p:extLst>
      <p:ext uri="{BB962C8B-B14F-4D97-AF65-F5344CB8AC3E}">
        <p14:creationId xmlns:p14="http://schemas.microsoft.com/office/powerpoint/2010/main" val="3288391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6" grpId="0"/>
      <p:bldP spid="17" grpId="0"/>
      <p:bldP spid="18" grpId="0"/>
      <p:bldP spid="19" grpId="0"/>
      <p:bldP spid="20" grpId="0"/>
      <p:bldP spid="23" grpId="0"/>
      <p:bldP spid="24" grpId="0"/>
      <p:bldP spid="27" grpId="0"/>
      <p:bldP spid="2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6822" y="826275"/>
            <a:ext cx="10515600" cy="1325563"/>
          </a:xfrm>
        </p:spPr>
        <p:txBody>
          <a:bodyPr/>
          <a:lstStyle/>
          <a:p>
            <a:r>
              <a:rPr lang="en-US" sz="4000" b="1" dirty="0">
                <a:latin typeface="Comic Sans MS" panose="030F0702030302020204" pitchFamily="66" charset="0"/>
              </a:rPr>
              <a:t>Starter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6324" y="2097596"/>
            <a:ext cx="1768522" cy="545911"/>
          </a:xfrm>
        </p:spPr>
        <p:txBody>
          <a:bodyPr/>
          <a:lstStyle/>
          <a:p>
            <a:pPr marL="0" indent="0">
              <a:buNone/>
            </a:pPr>
            <a:r>
              <a:rPr lang="en-US" sz="2400" dirty="0">
                <a:latin typeface="Comic Sans MS" panose="030F0702030302020204" pitchFamily="66" charset="0"/>
              </a:rPr>
              <a:t>1)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latin typeface="Comic Sans MS" panose="030F0702030302020204" pitchFamily="66" charset="0"/>
              </a:rPr>
              <a:t>WALT: </a:t>
            </a:r>
            <a:r>
              <a:rPr lang="en-US" sz="2400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sz="2400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sz="2400" dirty="0">
              <a:latin typeface="Comic Sans MS" panose="030F0702030302020204" pitchFamily="66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984090" y="1965185"/>
            <a:ext cx="3859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mic Sans MS" panose="030F0702030302020204" pitchFamily="66" charset="0"/>
              </a:rPr>
              <a:t>What fraction, percentage and decimal of this pentagon has been shaded?</a:t>
            </a:r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7077431" y="2182575"/>
            <a:ext cx="1768522" cy="54591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 dirty="0">
                <a:latin typeface="Comic Sans MS" panose="030F0702030302020204" pitchFamily="66" charset="0"/>
              </a:rPr>
              <a:t>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7235" y="1654635"/>
            <a:ext cx="41608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mic Sans MS" panose="030F0702030302020204" pitchFamily="66" charset="0"/>
              </a:rPr>
              <a:t>Copy and complete this table. Write the fraction in it’s simplest form.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9182394"/>
              </p:ext>
            </p:extLst>
          </p:nvPr>
        </p:nvGraphicFramePr>
        <p:xfrm>
          <a:off x="7313227" y="2728486"/>
          <a:ext cx="4681182" cy="1835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0394">
                  <a:extLst>
                    <a:ext uri="{9D8B030D-6E8A-4147-A177-3AD203B41FA5}">
                      <a16:colId xmlns:a16="http://schemas.microsoft.com/office/drawing/2014/main" val="971965474"/>
                    </a:ext>
                  </a:extLst>
                </a:gridCol>
                <a:gridCol w="1560394">
                  <a:extLst>
                    <a:ext uri="{9D8B030D-6E8A-4147-A177-3AD203B41FA5}">
                      <a16:colId xmlns:a16="http://schemas.microsoft.com/office/drawing/2014/main" val="104176607"/>
                    </a:ext>
                  </a:extLst>
                </a:gridCol>
                <a:gridCol w="1560394">
                  <a:extLst>
                    <a:ext uri="{9D8B030D-6E8A-4147-A177-3AD203B41FA5}">
                      <a16:colId xmlns:a16="http://schemas.microsoft.com/office/drawing/2014/main" val="1370650676"/>
                    </a:ext>
                  </a:extLst>
                </a:gridCol>
              </a:tblGrid>
              <a:tr h="581062"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winkl" panose="02000000000000000000" pitchFamily="2" charset="0"/>
                        </a:rPr>
                        <a:t>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winkl" panose="02000000000000000000" pitchFamily="2" charset="0"/>
                        </a:rPr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dirty="0">
                          <a:latin typeface="Twinkl" panose="02000000000000000000" pitchFamily="2" charset="0"/>
                        </a:rPr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356926"/>
                  </a:ext>
                </a:extLst>
              </a:tr>
              <a:tr h="543815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5036781"/>
                  </a:ext>
                </a:extLst>
              </a:tr>
              <a:tr h="71062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latin typeface="Twinkl" panose="02000000000000000000" pitchFamily="2" charset="0"/>
                        </a:rPr>
                        <a:t>1.8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7841946"/>
                  </a:ext>
                </a:extLst>
              </a:tr>
            </a:tbl>
          </a:graphicData>
        </a:graphic>
      </p:graphicFrame>
      <p:sp>
        <p:nvSpPr>
          <p:cNvPr id="10" name="Content Placeholder 2"/>
          <p:cNvSpPr txBox="1">
            <a:spLocks/>
          </p:cNvSpPr>
          <p:nvPr/>
        </p:nvSpPr>
        <p:spPr>
          <a:xfrm>
            <a:off x="226324" y="5402308"/>
            <a:ext cx="2817127" cy="10394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800" dirty="0">
                <a:latin typeface="Comic Sans MS" panose="030F0702030302020204" pitchFamily="66" charset="0"/>
              </a:rPr>
              <a:t>3) Put these values in order from smallest to greatest.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3603009" y="5402308"/>
                <a:ext cx="464024" cy="8094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sz="2800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3009" y="5402308"/>
                <a:ext cx="464024" cy="8094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4449170" y="5617783"/>
            <a:ext cx="80521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0.03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7343" y="5617782"/>
            <a:ext cx="805218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2800" dirty="0">
                <a:latin typeface="Comic Sans MS" panose="030F0702030302020204" pitchFamily="66" charset="0"/>
              </a:rPr>
              <a:t>45%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2797780" y="3197959"/>
                <a:ext cx="1201003" cy="55335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US" sz="16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US" sz="1600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97780" y="3197959"/>
                <a:ext cx="1201003" cy="5533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5035258" y="3285818"/>
            <a:ext cx="10607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62369" y="3263781"/>
            <a:ext cx="10607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  <a:latin typeface="Comic Sans MS" panose="030F0702030302020204" pitchFamily="66" charset="0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8278" y="3301351"/>
            <a:ext cx="1064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Comic Sans MS" panose="030F0702030302020204" pitchFamily="66" charset="0"/>
              </a:rPr>
              <a:t>20%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73535" y="3325722"/>
            <a:ext cx="1064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/>
              <p:cNvSpPr txBox="1"/>
              <p:nvPr/>
            </p:nvSpPr>
            <p:spPr>
              <a:xfrm>
                <a:off x="7858428" y="3958201"/>
                <a:ext cx="464024" cy="5204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𝟗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22" name="TextBox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8428" y="3958201"/>
                <a:ext cx="464024" cy="52046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/>
          <p:cNvSpPr txBox="1"/>
          <p:nvPr/>
        </p:nvSpPr>
        <p:spPr>
          <a:xfrm>
            <a:off x="9138278" y="3958201"/>
            <a:ext cx="10645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  <a:latin typeface="Comic Sans MS" panose="030F0702030302020204" pitchFamily="66" charset="0"/>
              </a:rPr>
              <a:t>180%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2715" y="5204378"/>
            <a:ext cx="11354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0.03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8831560" y="4985277"/>
                <a:ext cx="464024" cy="8094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31560" y="4985277"/>
                <a:ext cx="464024" cy="8094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TextBox 26"/>
          <p:cNvSpPr txBox="1"/>
          <p:nvPr/>
        </p:nvSpPr>
        <p:spPr>
          <a:xfrm>
            <a:off x="9538088" y="5154586"/>
            <a:ext cx="11354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Comic Sans MS" panose="030F0702030302020204" pitchFamily="66" charset="0"/>
              </a:rPr>
              <a:t>45%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53E8CAC-8926-4B1A-BFD1-D826E3BAC56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706" y="2137441"/>
            <a:ext cx="1701887" cy="16637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9583639-CA16-493E-B2CD-286F91AEDCBC}"/>
                  </a:ext>
                </a:extLst>
              </p:cNvPr>
              <p:cNvSpPr txBox="1"/>
              <p:nvPr/>
            </p:nvSpPr>
            <p:spPr>
              <a:xfrm>
                <a:off x="7858427" y="3313201"/>
                <a:ext cx="464024" cy="51860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US" sz="2800" b="1" dirty="0">
                  <a:solidFill>
                    <a:schemeClr val="tx1"/>
                  </a:solidFill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9583639-CA16-493E-B2CD-286F91AEDC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58427" y="3313201"/>
                <a:ext cx="464024" cy="5186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9896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7" grpId="0"/>
      <p:bldP spid="18" grpId="0"/>
      <p:bldP spid="19" grpId="0"/>
      <p:bldP spid="20" grpId="0"/>
      <p:bldP spid="23" grpId="0"/>
      <p:bldP spid="24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00941" y="1690996"/>
            <a:ext cx="4881041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600" dirty="0">
                <a:latin typeface="Comic Sans MS" panose="030F0702030302020204" pitchFamily="66" charset="0"/>
              </a:rPr>
              <a:t>Finished everything?</a:t>
            </a:r>
          </a:p>
          <a:p>
            <a:pPr marL="0" indent="0">
              <a:buNone/>
            </a:pPr>
            <a:endParaRPr lang="en-US" sz="3600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r>
              <a:rPr lang="en-US" sz="3600" dirty="0">
                <a:latin typeface="Comic Sans MS" panose="030F0702030302020204" pitchFamily="66" charset="0"/>
              </a:rPr>
              <a:t>Write your own question that assesses today’s learning objective.</a:t>
            </a: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dirty="0">
              <a:latin typeface="Comic Sans MS" panose="030F0702030302020204" pitchFamily="66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1FA6FC-A361-4874-9A71-90014F8784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777" y="1218900"/>
            <a:ext cx="4881041" cy="5453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2725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B704EF-E2FB-4EC6-ADE9-56617B81F0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307" y="1679678"/>
            <a:ext cx="10261394" cy="4476784"/>
          </a:xfrm>
          <a:prstGeom prst="rect">
            <a:avLst/>
          </a:prstGeom>
        </p:spPr>
      </p:pic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dirty="0">
              <a:latin typeface="Comic Sans MS" panose="030F0702030302020204" pitchFamily="66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1496517" y="5307318"/>
                <a:ext cx="512961" cy="5259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𝟐𝟓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US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6517" y="5307318"/>
                <a:ext cx="512961" cy="52597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1366157" y="6257510"/>
                <a:ext cx="237244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</m:t>
                          </m:r>
                        </m:den>
                      </m:f>
                    </m:oMath>
                  </m:oMathPara>
                </a14:m>
                <a:endParaRPr lang="en-US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157" y="6257510"/>
                <a:ext cx="237244" cy="5186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2370283" y="5464980"/>
            <a:ext cx="11158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mic Sans MS" panose="030F0702030302020204" pitchFamily="66" charset="0"/>
              </a:rPr>
              <a:t>0.25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72233" y="5510131"/>
            <a:ext cx="668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mic Sans MS" panose="030F0702030302020204" pitchFamily="66" charset="0"/>
              </a:rPr>
              <a:t>25%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4710753" y="5431808"/>
                <a:ext cx="512961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𝟕𝟎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US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0753" y="5431808"/>
                <a:ext cx="512961" cy="5203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4848611" y="6250675"/>
                <a:ext cx="375103" cy="51854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𝟕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US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8611" y="6250675"/>
                <a:ext cx="375103" cy="5185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/>
          <p:cNvSpPr txBox="1"/>
          <p:nvPr/>
        </p:nvSpPr>
        <p:spPr>
          <a:xfrm>
            <a:off x="5761628" y="5510131"/>
            <a:ext cx="668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mic Sans MS" panose="030F0702030302020204" pitchFamily="66" charset="0"/>
              </a:rPr>
              <a:t>0.7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2949" y="5519952"/>
            <a:ext cx="668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mic Sans MS" panose="030F0702030302020204" pitchFamily="66" charset="0"/>
              </a:rPr>
              <a:t>70%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/>
              <p:cNvSpPr txBox="1"/>
              <p:nvPr/>
            </p:nvSpPr>
            <p:spPr>
              <a:xfrm>
                <a:off x="8139896" y="5464980"/>
                <a:ext cx="512961" cy="5203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𝟔𝟎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US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5" name="TextBox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9896" y="5464980"/>
                <a:ext cx="512961" cy="5203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/>
              <p:cNvSpPr txBox="1"/>
              <p:nvPr/>
            </p:nvSpPr>
            <p:spPr>
              <a:xfrm>
                <a:off x="8277754" y="6248752"/>
                <a:ext cx="237244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𝟑</m:t>
                          </m:r>
                        </m:num>
                        <m:den>
                          <m:r>
                            <a:rPr lang="en-US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US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6" name="TextBox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7754" y="6248752"/>
                <a:ext cx="237244" cy="52046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/>
          <p:cNvSpPr txBox="1"/>
          <p:nvPr/>
        </p:nvSpPr>
        <p:spPr>
          <a:xfrm>
            <a:off x="9121217" y="5510131"/>
            <a:ext cx="6687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mic Sans MS" panose="030F0702030302020204" pitchFamily="66" charset="0"/>
              </a:rPr>
              <a:t>0.6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50763" y="5510131"/>
            <a:ext cx="8902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latin typeface="Comic Sans MS" panose="030F0702030302020204" pitchFamily="66" charset="0"/>
              </a:rPr>
              <a:t>60%</a:t>
            </a:r>
          </a:p>
        </p:txBody>
      </p:sp>
    </p:spTree>
    <p:extLst>
      <p:ext uri="{BB962C8B-B14F-4D97-AF65-F5344CB8AC3E}">
        <p14:creationId xmlns:p14="http://schemas.microsoft.com/office/powerpoint/2010/main" val="668913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10" grpId="0"/>
      <p:bldP spid="11" grpId="0"/>
      <p:bldP spid="15" grpId="0"/>
      <p:bldP spid="1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0C39F67-DC06-4A6A-A660-8B28682E6E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80" y="1348304"/>
            <a:ext cx="11598839" cy="5008319"/>
          </a:xfrm>
          <a:prstGeom prst="rect">
            <a:avLst/>
          </a:prstGeom>
        </p:spPr>
      </p:pic>
      <p:sp>
        <p:nvSpPr>
          <p:cNvPr id="4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  <a:p>
            <a:pPr marL="0" indent="0">
              <a:buNone/>
            </a:pPr>
            <a:endParaRPr lang="en-US" dirty="0">
              <a:latin typeface="Comic Sans MS" panose="030F0702030302020204" pitchFamily="66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841242" y="2852383"/>
            <a:ext cx="1132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0.75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78287" y="2852383"/>
            <a:ext cx="1132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75%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/>
              <p:cNvSpPr txBox="1"/>
              <p:nvPr/>
            </p:nvSpPr>
            <p:spPr>
              <a:xfrm>
                <a:off x="2674960" y="3651024"/>
                <a:ext cx="682388" cy="6938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𝟖𝟗</m:t>
                          </m:r>
                        </m:num>
                        <m:den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𝟏𝟎𝟎</m:t>
                          </m:r>
                        </m:den>
                      </m:f>
                    </m:oMath>
                  </m:oMathPara>
                </a14:m>
                <a:endParaRPr lang="en-US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9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4960" y="3651024"/>
                <a:ext cx="682388" cy="69384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378287" y="3651024"/>
            <a:ext cx="1132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89%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1368" y="4469642"/>
            <a:ext cx="1132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1.2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8287" y="4449665"/>
            <a:ext cx="15808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120%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/>
              <p:cNvSpPr txBox="1"/>
              <p:nvPr/>
            </p:nvSpPr>
            <p:spPr>
              <a:xfrm>
                <a:off x="2519318" y="5483836"/>
                <a:ext cx="682388" cy="69384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sz="2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𝟐𝟓</m:t>
                          </m:r>
                        </m:den>
                      </m:f>
                    </m:oMath>
                  </m:oMathPara>
                </a14:m>
                <a:endParaRPr lang="en-US" b="1" dirty="0">
                  <a:latin typeface="Comic Sans MS" panose="030F0702030302020204" pitchFamily="66" charset="0"/>
                </a:endParaRPr>
              </a:p>
            </p:txBody>
          </p:sp>
        </mc:Choice>
        <mc:Fallback xmlns=""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9318" y="5483836"/>
                <a:ext cx="682388" cy="6938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5810958" y="5245983"/>
            <a:ext cx="11327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F0000"/>
                </a:solidFill>
                <a:latin typeface="Comic Sans MS" panose="030F0702030302020204" pitchFamily="66" charset="0"/>
              </a:rPr>
              <a:t>0.04</a:t>
            </a:r>
          </a:p>
        </p:txBody>
      </p:sp>
    </p:spTree>
    <p:extLst>
      <p:ext uri="{BB962C8B-B14F-4D97-AF65-F5344CB8AC3E}">
        <p14:creationId xmlns:p14="http://schemas.microsoft.com/office/powerpoint/2010/main" val="3423209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718078-AC2A-4F2E-A4EC-4E14A3465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04" y="1957373"/>
            <a:ext cx="11632390" cy="3483626"/>
          </a:xfrm>
          <a:prstGeom prst="rect">
            <a:avLst/>
          </a:prstGeom>
        </p:spPr>
      </p:pic>
      <p:sp>
        <p:nvSpPr>
          <p:cNvPr id="5" name="Subtitle 2"/>
          <p:cNvSpPr txBox="1">
            <a:spLocks/>
          </p:cNvSpPr>
          <p:nvPr/>
        </p:nvSpPr>
        <p:spPr>
          <a:xfrm>
            <a:off x="77337" y="185284"/>
            <a:ext cx="12037325" cy="83829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Twinkl" panose="02000000000000000000" pitchFamily="2" charset="0"/>
              </a:rPr>
              <a:t>WALT: </a:t>
            </a:r>
            <a:r>
              <a:rPr lang="en-US" dirty="0">
                <a:latin typeface="Twinkl" panose="02000000000000000000" pitchFamily="2" charset="0"/>
              </a:rPr>
              <a:t>Recognise that fractions, decimals and percentages can have equivalent values.</a:t>
            </a:r>
            <a:endParaRPr lang="en-US" b="1" dirty="0">
              <a:latin typeface="Twinkl" panose="02000000000000000000" pitchFamily="2" charset="0"/>
            </a:endParaRPr>
          </a:p>
          <a:p>
            <a:pPr marL="0" indent="0">
              <a:buNone/>
            </a:pPr>
            <a:endParaRPr lang="en-US" dirty="0">
              <a:latin typeface="Twinkl" panose="02000000000000000000" pitchFamily="2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724764" y="3414215"/>
            <a:ext cx="1405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Twinkl" panose="02000000000000000000" pitchFamily="2" charset="0"/>
              </a:rPr>
              <a:t>0.25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4531" y="3414215"/>
            <a:ext cx="1405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Twinkl" panose="02000000000000000000" pitchFamily="2" charset="0"/>
              </a:rPr>
              <a:t>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44997" y="3414215"/>
            <a:ext cx="14057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Twinkl" panose="02000000000000000000" pitchFamily="2" charset="0"/>
              </a:rPr>
              <a:t>0.3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/>
              <p:cNvSpPr txBox="1"/>
              <p:nvPr/>
            </p:nvSpPr>
            <p:spPr>
              <a:xfrm>
                <a:off x="5659271" y="3127983"/>
                <a:ext cx="436728" cy="8094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</m:t>
                          </m:r>
                        </m:den>
                      </m:f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59271" y="3127983"/>
                <a:ext cx="436728" cy="8094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/>
              <p:cNvSpPr txBox="1"/>
              <p:nvPr/>
            </p:nvSpPr>
            <p:spPr>
              <a:xfrm>
                <a:off x="6461140" y="3127983"/>
                <a:ext cx="436728" cy="8094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𝟐𝟏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𝟓𝟎</m:t>
                          </m:r>
                        </m:den>
                      </m:f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1140" y="3127983"/>
                <a:ext cx="436728" cy="80945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/>
          <p:cNvSpPr txBox="1"/>
          <p:nvPr/>
        </p:nvSpPr>
        <p:spPr>
          <a:xfrm>
            <a:off x="2164370" y="5499677"/>
            <a:ext cx="16240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Twinkl" panose="02000000000000000000" pitchFamily="2" charset="0"/>
              </a:rPr>
              <a:t>0.3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9633" y="5543320"/>
            <a:ext cx="16240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Twinkl" panose="02000000000000000000" pitchFamily="2" charset="0"/>
              </a:rPr>
              <a:t>0.45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/>
              <p:cNvSpPr txBox="1"/>
              <p:nvPr/>
            </p:nvSpPr>
            <p:spPr>
              <a:xfrm>
                <a:off x="5265018" y="5487534"/>
                <a:ext cx="436728" cy="8094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𝟒𝟏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𝟓𝟎</m:t>
                          </m:r>
                        </m:den>
                      </m:f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4" name="Text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65018" y="5487534"/>
                <a:ext cx="436728" cy="80945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/>
          <p:cNvSpPr txBox="1"/>
          <p:nvPr/>
        </p:nvSpPr>
        <p:spPr>
          <a:xfrm>
            <a:off x="6708619" y="5543321"/>
            <a:ext cx="16240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FF0000"/>
                </a:solidFill>
                <a:latin typeface="Twinkl" panose="02000000000000000000" pitchFamily="2" charset="0"/>
              </a:rPr>
              <a:t>90%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FF0CDD-F2D9-40B0-BD1F-373402700094}"/>
                  </a:ext>
                </a:extLst>
              </p:cNvPr>
              <p:cNvSpPr txBox="1"/>
              <p:nvPr/>
            </p:nvSpPr>
            <p:spPr>
              <a:xfrm>
                <a:off x="1295588" y="5401615"/>
                <a:ext cx="459476" cy="80663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𝟐</m:t>
                          </m:r>
                        </m:num>
                        <m:den>
                          <m:r>
                            <a:rPr lang="en-US" sz="28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𝟏𝟎</m:t>
                          </m:r>
                        </m:den>
                      </m:f>
                    </m:oMath>
                  </m:oMathPara>
                </a14:m>
                <a:endParaRPr lang="en-US" b="1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4EFF0CDD-F2D9-40B0-BD1F-37340270009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5588" y="5401615"/>
                <a:ext cx="459476" cy="80663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7655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4" grpId="0"/>
      <p:bldP spid="1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/>
          <p:cNvSpPr txBox="1">
            <a:spLocks/>
          </p:cNvSpPr>
          <p:nvPr/>
        </p:nvSpPr>
        <p:spPr>
          <a:xfrm>
            <a:off x="201900" y="171636"/>
            <a:ext cx="12037325" cy="12187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52697" y="3526971"/>
            <a:ext cx="3435532" cy="215537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latin typeface="Comic Sans MS" panose="030F0702030302020204" pitchFamily="66" charset="0"/>
              </a:rPr>
              <a:t>I can find the fraction, decimal and percentage of a 100 square that is shaded.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3526971"/>
            <a:ext cx="3396343" cy="2155372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Comic Sans MS" panose="030F0702030302020204" pitchFamily="66" charset="0"/>
              </a:rPr>
              <a:t>I can convert between fractions, decimals and percentages.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24049" y="3526971"/>
            <a:ext cx="3396343" cy="2155372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Comic Sans MS" panose="030F0702030302020204" pitchFamily="66" charset="0"/>
              </a:rPr>
              <a:t>I can order a mix of fractions, decimals and percentages.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00F2063-622E-40F6-B049-16E0C2C80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709" b="92718" l="9346" r="89720">
                        <a14:foregroundMark x1="44860" y1="92718" x2="44860" y2="92718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320662" y="1313232"/>
            <a:ext cx="1102890" cy="212332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B4B782-5729-4ACD-8545-72A4A1E7095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914" b="93885" l="9023" r="89474">
                        <a14:foregroundMark x1="31579" y1="8273" x2="31579" y2="8273"/>
                        <a14:foregroundMark x1="34586" y1="15108" x2="34586" y2="15108"/>
                        <a14:foregroundMark x1="33083" y1="12950" x2="33083" y2="12950"/>
                        <a14:foregroundMark x1="53383" y1="16906" x2="53383" y2="16906"/>
                        <a14:foregroundMark x1="66165" y1="24460" x2="66165" y2="24460"/>
                        <a14:foregroundMark x1="44361" y1="20504" x2="44361" y2="20504"/>
                        <a14:foregroundMark x1="48120" y1="18705" x2="48120" y2="18705"/>
                        <a14:foregroundMark x1="57895" y1="27338" x2="57895" y2="27338"/>
                        <a14:foregroundMark x1="54887" y1="93885" x2="54887" y2="9388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4555" y="1053553"/>
            <a:ext cx="1102890" cy="230529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2EFA7FA-4BCF-4FB6-8D11-173EEE63F1A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8904" b="97603" l="8527" r="89147">
                        <a14:foregroundMark x1="54264" y1="17808" x2="54264" y2="17808"/>
                        <a14:foregroundMark x1="66667" y1="25685" x2="66667" y2="25685"/>
                        <a14:foregroundMark x1="66667" y1="97945" x2="66667" y2="97945"/>
                        <a14:foregroundMark x1="33333" y1="8904" x2="33333" y2="8904"/>
                        <a14:foregroundMark x1="35659" y1="15068" x2="35659" y2="15068"/>
                        <a14:foregroundMark x1="35659" y1="11986" x2="35659" y2="11986"/>
                        <a14:foregroundMark x1="58140" y1="19178" x2="58140" y2="19178"/>
                        <a14:foregroundMark x1="46512" y1="19863" x2="46512" y2="19863"/>
                        <a14:foregroundMark x1="72868" y1="25342" x2="72868" y2="25342"/>
                        <a14:foregroundMark x1="68992" y1="21575" x2="68992" y2="21575"/>
                        <a14:foregroundMark x1="52713" y1="17808" x2="52713" y2="17808"/>
                        <a14:foregroundMark x1="53488" y1="16096" x2="53488" y2="16096"/>
                        <a14:foregroundMark x1="33333" y1="9247" x2="33333" y2="9247"/>
                        <a14:foregroundMark x1="24031" y1="9247" x2="24031" y2="9247"/>
                        <a14:foregroundMark x1="36434" y1="34589" x2="36434" y2="34589"/>
                        <a14:foregroundMark x1="38760" y1="32192" x2="38760" y2="3219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3850" y="940088"/>
            <a:ext cx="1102890" cy="2496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04784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2666" y="1115748"/>
            <a:ext cx="10515600" cy="1325563"/>
          </a:xfrm>
        </p:spPr>
        <p:txBody>
          <a:bodyPr>
            <a:normAutofit/>
          </a:bodyPr>
          <a:lstStyle/>
          <a:p>
            <a:r>
              <a:rPr lang="en-US" sz="4800" b="1" dirty="0">
                <a:latin typeface="Comic Sans MS" panose="030F0702030302020204" pitchFamily="66" charset="0"/>
              </a:rPr>
              <a:t>Plenary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742666" y="2441311"/>
                <a:ext cx="10515600" cy="311986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4000" dirty="0">
                    <a:latin typeface="Comic Sans MS" panose="030F0702030302020204" pitchFamily="66" charset="0"/>
                  </a:rPr>
                  <a:t>Mr. Rhys says, “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4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en-US" sz="4000" b="0" i="1" smtClean="0"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lang="en-US" sz="4000" dirty="0">
                    <a:latin typeface="Comic Sans MS" panose="030F0702030302020204" pitchFamily="66" charset="0"/>
                  </a:rPr>
                  <a:t> is greater than 0.35.”</a:t>
                </a:r>
              </a:p>
              <a:p>
                <a:pPr marL="0" indent="0">
                  <a:buNone/>
                </a:pPr>
                <a:endParaRPr lang="en-US" sz="4000" dirty="0">
                  <a:latin typeface="Comic Sans MS" panose="030F0702030302020204" pitchFamily="66" charset="0"/>
                </a:endParaRPr>
              </a:p>
              <a:p>
                <a:pPr marL="0" indent="0">
                  <a:buNone/>
                </a:pPr>
                <a:r>
                  <a:rPr lang="en-US" sz="4000" dirty="0">
                    <a:latin typeface="Comic Sans MS" panose="030F0702030302020204" pitchFamily="66" charset="0"/>
                  </a:rPr>
                  <a:t>Explain why Mr. Rhys is correct.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66" y="2441311"/>
                <a:ext cx="10515600" cy="3119864"/>
              </a:xfrm>
              <a:blipFill>
                <a:blip r:embed="rId2"/>
                <a:stretch>
                  <a:fillRect l="-2087" t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ubtitle 2"/>
          <p:cNvSpPr txBox="1">
            <a:spLocks/>
          </p:cNvSpPr>
          <p:nvPr/>
        </p:nvSpPr>
        <p:spPr>
          <a:xfrm>
            <a:off x="201900" y="171636"/>
            <a:ext cx="12037325" cy="12187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>
                <a:latin typeface="Comic Sans MS" panose="030F0702030302020204" pitchFamily="66" charset="0"/>
              </a:rPr>
              <a:t>WALT: </a:t>
            </a:r>
            <a:r>
              <a:rPr lang="en-US" dirty="0">
                <a:latin typeface="Comic Sans MS" panose="030F0702030302020204" pitchFamily="66" charset="0"/>
              </a:rPr>
              <a:t>Recognise that fractions, decimals and percentages can have equivalent values.</a:t>
            </a:r>
            <a:endParaRPr lang="en-US" b="1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24495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5417</TotalTime>
  <Words>840</Words>
  <Application>Microsoft Office PowerPoint</Application>
  <PresentationFormat>Widescreen</PresentationFormat>
  <Paragraphs>167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Comic Sans MS</vt:lpstr>
      <vt:lpstr>Twinkl</vt:lpstr>
      <vt:lpstr>Office Theme</vt:lpstr>
      <vt:lpstr>Maths </vt:lpstr>
      <vt:lpstr>PowerPoint Presentation</vt:lpstr>
      <vt:lpstr>Retrieval Practice</vt:lpstr>
      <vt:lpstr>Starter – Which is the odd one out?</vt:lpstr>
      <vt:lpstr>When we learnt about percentages, we learnt that a % can be expressed as a fraction with a denominator of 100.</vt:lpstr>
      <vt:lpstr>Last lesson, we learnt how to simplify fractions.</vt:lpstr>
      <vt:lpstr>Decimals can also be equivalent to fractions and percentages.</vt:lpstr>
      <vt:lpstr>Decimals can also be equivalent to fractions and percentages.</vt:lpstr>
      <vt:lpstr>We can see the equivalence more clearly when we look on a square divided into 100 parts.</vt:lpstr>
      <vt:lpstr>PowerPoint Presentation</vt:lpstr>
      <vt:lpstr>Check Your Understanding</vt:lpstr>
      <vt:lpstr>Check Your Understanding</vt:lpstr>
      <vt:lpstr>Starter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Plenary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Maths</dc:title>
  <dc:creator>Jonathan Michael Holliday (VSC-KTiH-MB)</dc:creator>
  <cp:lastModifiedBy>Colette Aisling Meade (VSC-KTiH-MB)</cp:lastModifiedBy>
  <cp:revision>45</cp:revision>
  <dcterms:created xsi:type="dcterms:W3CDTF">2024-10-29T00:51:24Z</dcterms:created>
  <dcterms:modified xsi:type="dcterms:W3CDTF">2026-10-01T08:50:10Z</dcterms:modified>
</cp:coreProperties>
</file>