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70" r:id="rId6"/>
    <p:sldId id="261" r:id="rId7"/>
    <p:sldId id="262" r:id="rId8"/>
    <p:sldId id="272" r:id="rId9"/>
    <p:sldId id="263" r:id="rId10"/>
    <p:sldId id="264" r:id="rId11"/>
    <p:sldId id="265" r:id="rId12"/>
    <p:sldId id="266" r:id="rId13"/>
    <p:sldId id="267" r:id="rId14"/>
    <p:sldId id="271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0C977-1397-4C8D-84A9-AA55A685980F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F7C67-1C53-4945-9D3B-8ACB234ED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354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0C977-1397-4C8D-84A9-AA55A685980F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F7C67-1C53-4945-9D3B-8ACB234ED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495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0C977-1397-4C8D-84A9-AA55A685980F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F7C67-1C53-4945-9D3B-8ACB234ED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564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0C977-1397-4C8D-84A9-AA55A685980F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F7C67-1C53-4945-9D3B-8ACB234ED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425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0C977-1397-4C8D-84A9-AA55A685980F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F7C67-1C53-4945-9D3B-8ACB234ED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90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0C977-1397-4C8D-84A9-AA55A685980F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F7C67-1C53-4945-9D3B-8ACB234ED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486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0C977-1397-4C8D-84A9-AA55A685980F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F7C67-1C53-4945-9D3B-8ACB234ED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8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0C977-1397-4C8D-84A9-AA55A685980F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F7C67-1C53-4945-9D3B-8ACB234ED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324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0C977-1397-4C8D-84A9-AA55A685980F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F7C67-1C53-4945-9D3B-8ACB234ED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161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0C977-1397-4C8D-84A9-AA55A685980F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F7C67-1C53-4945-9D3B-8ACB234ED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0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0C977-1397-4C8D-84A9-AA55A685980F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F7C67-1C53-4945-9D3B-8ACB234ED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779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B0C977-1397-4C8D-84A9-AA55A685980F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CF7C67-1C53-4945-9D3B-8ACB234ED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360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8800" dirty="0" err="1">
                <a:latin typeface="Comic Sans MS" panose="030F0702030302020204" pitchFamily="66" charset="0"/>
              </a:rPr>
              <a:t>Maths</a:t>
            </a:r>
            <a:r>
              <a:rPr lang="en-US" sz="8800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2230" y="1568620"/>
            <a:ext cx="11659324" cy="4774124"/>
          </a:xfrm>
        </p:spPr>
        <p:txBody>
          <a:bodyPr>
            <a:noAutofit/>
          </a:bodyPr>
          <a:lstStyle/>
          <a:p>
            <a:pPr algn="l"/>
            <a:r>
              <a:rPr lang="en-US" sz="4800" b="1" dirty="0">
                <a:latin typeface="Comic Sans MS" panose="030F0702030302020204" pitchFamily="66" charset="0"/>
              </a:rPr>
              <a:t>WALT:</a:t>
            </a:r>
          </a:p>
          <a:p>
            <a:pPr algn="l"/>
            <a:r>
              <a:rPr lang="en-US" sz="4800" b="1" dirty="0">
                <a:latin typeface="Comic Sans MS" panose="030F0702030302020204" pitchFamily="66" charset="0"/>
              </a:rPr>
              <a:t>6Nf.08 </a:t>
            </a:r>
            <a:r>
              <a:rPr lang="en-US" sz="4800" dirty="0">
                <a:latin typeface="Comic Sans MS" panose="030F0702030302020204" pitchFamily="66" charset="0"/>
              </a:rPr>
              <a:t>Understand the relative size of quantities to compare and order numbers with one or two decimal places, proper fractions with different denominators and percentages using the symbols &lt; = and &gt;.</a:t>
            </a:r>
            <a:endParaRPr lang="en-US" sz="4800" b="1" dirty="0"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35292" y="552174"/>
            <a:ext cx="2756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6 – Fractions and Percentages.</a:t>
            </a:r>
          </a:p>
        </p:txBody>
      </p:sp>
    </p:spTree>
    <p:extLst>
      <p:ext uri="{BB962C8B-B14F-4D97-AF65-F5344CB8AC3E}">
        <p14:creationId xmlns:p14="http://schemas.microsoft.com/office/powerpoint/2010/main" val="1709518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121870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 the relative size of quantities to compare and order numbers with one or two decimal places, proper fractions with different denominators and percentages using the symbols &lt; = and &gt;.</a:t>
            </a:r>
            <a:endParaRPr lang="en-US" b="1" dirty="0">
              <a:latin typeface="Comic Sans MS" panose="030F0702030302020204" pitchFamily="66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Comic Sans MS" panose="030F0702030302020204" pitchFamily="66" charset="0"/>
              </a:rPr>
              <a:t>I can compare values using &lt; = and &gt;.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order values.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correct and explain mistakes when comparing and ordering values.</a:t>
            </a:r>
          </a:p>
        </p:txBody>
      </p:sp>
      <p:pic>
        <p:nvPicPr>
          <p:cNvPr id="9" name="Google Shape;142;p7">
            <a:extLst>
              <a:ext uri="{FF2B5EF4-FFF2-40B4-BE49-F238E27FC236}">
                <a16:creationId xmlns:a16="http://schemas.microsoft.com/office/drawing/2014/main" id="{02264FC2-329E-425F-9B94-31063990989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20662" y="1313232"/>
            <a:ext cx="1102890" cy="2123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43;p7">
            <a:extLst>
              <a:ext uri="{FF2B5EF4-FFF2-40B4-BE49-F238E27FC236}">
                <a16:creationId xmlns:a16="http://schemas.microsoft.com/office/drawing/2014/main" id="{2FB5EB05-27FD-47E8-82F8-F9846E7569D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44555" y="1053553"/>
            <a:ext cx="1102890" cy="2305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44;p7">
            <a:extLst>
              <a:ext uri="{FF2B5EF4-FFF2-40B4-BE49-F238E27FC236}">
                <a16:creationId xmlns:a16="http://schemas.microsoft.com/office/drawing/2014/main" id="{D69ABD84-CBA2-4C8F-AFFE-C8DFA4B4E0C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19252" y="1203471"/>
            <a:ext cx="1077488" cy="21553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9611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969" y="764583"/>
            <a:ext cx="5966888" cy="1552642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omic Sans MS" panose="030F0702030302020204" pitchFamily="66" charset="0"/>
              </a:rPr>
              <a:t>Retrieval Practice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910" y="1691469"/>
            <a:ext cx="9557303" cy="5057349"/>
          </a:xfrm>
          <a:prstGeom prst="rect">
            <a:avLst/>
          </a:prstGeom>
        </p:spPr>
      </p:pic>
      <p:cxnSp>
        <p:nvCxnSpPr>
          <p:cNvPr id="17" name="Straight Connector 16"/>
          <p:cNvCxnSpPr/>
          <p:nvPr/>
        </p:nvCxnSpPr>
        <p:spPr>
          <a:xfrm>
            <a:off x="5581934" y="4220143"/>
            <a:ext cx="532263" cy="58386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644555" y="5485547"/>
            <a:ext cx="84070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15,943 doesn’t end in a 5 or a 0. Every multiple of 5 ends in a 5 or a 0.</a:t>
            </a: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201900" y="171636"/>
            <a:ext cx="12037325" cy="1218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Understand the relative size of quantities to compare and order numbers with one or two decimal places, proper fractions with different denominators and percentages using the symbols &lt; = and &gt;.</a:t>
            </a:r>
            <a:endParaRPr lang="en-US" sz="20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327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90338"/>
            <a:ext cx="10515600" cy="1325563"/>
          </a:xfrm>
        </p:spPr>
        <p:txBody>
          <a:bodyPr/>
          <a:lstStyle/>
          <a:p>
            <a:r>
              <a:rPr lang="en-US" b="1" dirty="0">
                <a:latin typeface="Comic Sans MS" panose="030F0702030302020204" pitchFamily="66" charset="0"/>
              </a:rPr>
              <a:t>Starter</a:t>
            </a:r>
            <a:r>
              <a:rPr lang="en-US" dirty="0">
                <a:latin typeface="Comic Sans MS" panose="030F0702030302020204" pitchFamily="66" charset="0"/>
              </a:rPr>
              <a:t> – Which of these values is the largest?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121870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 the relative size of quantities to compare and order numbers with one or two decimal places, proper fractions with different denominators and percentages using the symbols &lt; = and &gt;.</a:t>
            </a:r>
            <a:endParaRPr lang="en-US" b="1" dirty="0">
              <a:latin typeface="Comic Sans MS" panose="030F0702030302020204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9935" y="3698543"/>
            <a:ext cx="20744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Comic Sans MS" panose="030F0702030302020204" pitchFamily="66" charset="0"/>
              </a:rPr>
              <a:t>0.4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3458" y="3698542"/>
            <a:ext cx="20744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Comic Sans MS" panose="030F0702030302020204" pitchFamily="66" charset="0"/>
              </a:rPr>
              <a:t>5%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8570794" y="3421542"/>
                <a:ext cx="1094096" cy="13849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4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800" b="1" i="1" smtClean="0">
                              <a:latin typeface="Cambria Math" panose="02040503050406030204" pitchFamily="18" charset="0"/>
                            </a:rPr>
                            <m:t>𝟒𝟎</m:t>
                          </m:r>
                        </m:num>
                        <m:den>
                          <m:r>
                            <a:rPr lang="en-US" sz="4800" b="1" i="1" smtClean="0">
                              <a:latin typeface="Cambria Math" panose="02040503050406030204" pitchFamily="18" charset="0"/>
                            </a:rPr>
                            <m:t>𝟗𝟗</m:t>
                          </m:r>
                        </m:den>
                      </m:f>
                    </m:oMath>
                  </m:oMathPara>
                </a14:m>
                <a:endParaRPr lang="en-US" sz="4800" b="1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0794" y="3421542"/>
                <a:ext cx="1094096" cy="13849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itle 1"/>
          <p:cNvSpPr txBox="1">
            <a:spLocks/>
          </p:cNvSpPr>
          <p:nvPr/>
        </p:nvSpPr>
        <p:spPr>
          <a:xfrm>
            <a:off x="690349" y="512639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omic Sans MS" panose="030F0702030302020204" pitchFamily="66" charset="0"/>
              </a:rPr>
              <a:t>How do you know?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8256896" y="3193576"/>
            <a:ext cx="1733265" cy="1932820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143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4F478-B512-4D39-9917-F523F815A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What do the following symbols mean?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0DF06-2D11-47C4-A910-B07A7A5EC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4384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>
                <a:latin typeface="Comic Sans MS" panose="030F0702030302020204" pitchFamily="66" charset="0"/>
              </a:rPr>
              <a:t> =</a:t>
            </a:r>
          </a:p>
          <a:p>
            <a:pPr marL="0" indent="0">
              <a:buNone/>
            </a:pPr>
            <a:endParaRPr lang="en-US" sz="54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5400" dirty="0">
                <a:latin typeface="Comic Sans MS" panose="030F0702030302020204" pitchFamily="66" charset="0"/>
              </a:rPr>
              <a:t>&lt;</a:t>
            </a:r>
          </a:p>
          <a:p>
            <a:pPr marL="0" indent="0">
              <a:buNone/>
            </a:pPr>
            <a:endParaRPr lang="en-US" sz="54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5400" dirty="0">
                <a:latin typeface="Comic Sans MS" panose="030F0702030302020204" pitchFamily="66" charset="0"/>
              </a:rPr>
              <a:t>&gt;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C2B4D39-05B8-4397-97CA-054940577897}"/>
              </a:ext>
            </a:extLst>
          </p:cNvPr>
          <p:cNvSpPr txBox="1">
            <a:spLocks/>
          </p:cNvSpPr>
          <p:nvPr/>
        </p:nvSpPr>
        <p:spPr>
          <a:xfrm>
            <a:off x="7772402" y="1665288"/>
            <a:ext cx="4318000" cy="1738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1500" b="1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greater than</a:t>
            </a:r>
            <a:endParaRPr lang="en-US" sz="115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9D05FA6-842B-4041-A692-A45D1FD70415}"/>
              </a:ext>
            </a:extLst>
          </p:cNvPr>
          <p:cNvSpPr txBox="1">
            <a:spLocks/>
          </p:cNvSpPr>
          <p:nvPr/>
        </p:nvSpPr>
        <p:spPr>
          <a:xfrm>
            <a:off x="7772402" y="2990851"/>
            <a:ext cx="4318000" cy="1738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1500" b="1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less than</a:t>
            </a:r>
            <a:endParaRPr lang="en-US" sz="115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375F00F-5B03-4487-BFE1-4988D2EEC7D8}"/>
              </a:ext>
            </a:extLst>
          </p:cNvPr>
          <p:cNvSpPr txBox="1">
            <a:spLocks/>
          </p:cNvSpPr>
          <p:nvPr/>
        </p:nvSpPr>
        <p:spPr>
          <a:xfrm>
            <a:off x="7772402" y="4602164"/>
            <a:ext cx="4318000" cy="1738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115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927417E-377C-4EDA-AD63-9409F09B4F19}"/>
              </a:ext>
            </a:extLst>
          </p:cNvPr>
          <p:cNvSpPr txBox="1">
            <a:spLocks/>
          </p:cNvSpPr>
          <p:nvPr/>
        </p:nvSpPr>
        <p:spPr>
          <a:xfrm>
            <a:off x="7772402" y="4525965"/>
            <a:ext cx="4318000" cy="1738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1500" b="1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equal to</a:t>
            </a:r>
            <a:endParaRPr lang="en-US" sz="115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586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12694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We can compare decimals, fractions and percentages using the &lt; = and &gt; symbols.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135086"/>
            <a:ext cx="11266713" cy="28822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To do this we can convert them so they are in the same format.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1218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latin typeface="Comic Sans MS" panose="030F0702030302020204" pitchFamily="66" charset="0"/>
              </a:rPr>
              <a:t>WALT: </a:t>
            </a:r>
            <a:r>
              <a:rPr lang="en-US" sz="1800" dirty="0">
                <a:latin typeface="Comic Sans MS" panose="030F0702030302020204" pitchFamily="66" charset="0"/>
              </a:rPr>
              <a:t>Understand the relative size of quantities to compare and order numbers with one or two decimal places, proper fractions with different denominators and percentages using the symbols &lt; = and &gt;.</a:t>
            </a:r>
            <a:endParaRPr lang="en-US" sz="1800" b="1" dirty="0"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72114" y="4634588"/>
            <a:ext cx="19013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Comic Sans MS" panose="030F0702030302020204" pitchFamily="66" charset="0"/>
              </a:rPr>
              <a:t>0.8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37827" y="4634588"/>
            <a:ext cx="19013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Comic Sans MS" panose="030F0702030302020204" pitchFamily="66" charset="0"/>
              </a:rPr>
              <a:t>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72113" y="5742584"/>
            <a:ext cx="22497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Comic Sans MS" panose="030F0702030302020204" pitchFamily="66" charset="0"/>
              </a:rPr>
              <a:t>80%</a:t>
            </a:r>
          </a:p>
        </p:txBody>
      </p:sp>
    </p:spTree>
    <p:extLst>
      <p:ext uri="{BB962C8B-B14F-4D97-AF65-F5344CB8AC3E}">
        <p14:creationId xmlns:p14="http://schemas.microsoft.com/office/powerpoint/2010/main" val="1188964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03122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omic Sans MS" panose="030F0702030302020204" pitchFamily="66" charset="0"/>
              </a:rPr>
              <a:t>We can compare decimals, fractions and percentages using the &lt; = and &gt; symbols.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135086"/>
            <a:ext cx="11266713" cy="28822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latin typeface="Comic Sans MS" panose="030F0702030302020204" pitchFamily="66" charset="0"/>
              </a:rPr>
              <a:t>To do this we can convert them so they are in the same format.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1218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 the relative size of quantities to compare and order numbers with one or two decimal places, proper fractions with different denominators and percentages using the symbols &lt; = and &gt;.</a:t>
            </a:r>
            <a:endParaRPr lang="en-US" sz="2400" b="1" dirty="0"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72114" y="4634588"/>
            <a:ext cx="19013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Comic Sans MS" panose="030F0702030302020204" pitchFamily="66" charset="0"/>
              </a:rPr>
              <a:t>0.8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37827" y="4634588"/>
            <a:ext cx="19013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Comic Sans MS" panose="030F0702030302020204" pitchFamily="66" charset="0"/>
              </a:rPr>
              <a:t>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3655" y="5742584"/>
            <a:ext cx="22497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Comic Sans MS" panose="030F0702030302020204" pitchFamily="66" charset="0"/>
              </a:rPr>
              <a:t>0.09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31540" y="4576195"/>
            <a:ext cx="69668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354463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899" y="911084"/>
            <a:ext cx="11903013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We can compare decimals, fractions and percentages using the &lt; = and &gt; symbols.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1218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latin typeface="Comic Sans MS" panose="030F0702030302020204" pitchFamily="66" charset="0"/>
              </a:rPr>
              <a:t>WALT: </a:t>
            </a:r>
            <a:r>
              <a:rPr lang="en-US" sz="1800" dirty="0">
                <a:latin typeface="Comic Sans MS" panose="030F0702030302020204" pitchFamily="66" charset="0"/>
              </a:rPr>
              <a:t>Understand the relative size of quantities to compare and order numbers with one or two decimal places, proper fractions with different denominators and percentages using the symbols &lt; = and &gt;.</a:t>
            </a:r>
            <a:endParaRPr lang="en-US" sz="1800" b="1" dirty="0"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2544" y="2796162"/>
            <a:ext cx="19013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Comic Sans MS" panose="030F0702030302020204" pitchFamily="66" charset="0"/>
              </a:rPr>
              <a:t>60%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80681" y="2796161"/>
            <a:ext cx="24204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Comic Sans MS" panose="030F0702030302020204" pitchFamily="66" charset="0"/>
              </a:rPr>
              <a:t>0.06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BA21570-1AC6-49D4-9A84-5326E5BFFE95}"/>
                  </a:ext>
                </a:extLst>
              </p:cNvPr>
              <p:cNvSpPr txBox="1"/>
              <p:nvPr/>
            </p:nvSpPr>
            <p:spPr>
              <a:xfrm>
                <a:off x="4183172" y="2796161"/>
                <a:ext cx="3825656" cy="10175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20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BA21570-1AC6-49D4-9A84-5326E5BFFE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172" y="2796161"/>
                <a:ext cx="3825656" cy="10175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6360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14" y="1390338"/>
            <a:ext cx="7202714" cy="889270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omic Sans MS" panose="030F0702030302020204" pitchFamily="66" charset="0"/>
              </a:rPr>
              <a:t>Check your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11" y="2152682"/>
            <a:ext cx="11208657" cy="30044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1. Use the &lt; = and &gt; symbols to compare these values.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1218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 the relative size of quantities to compare and order numbers with one or two decimal places, proper fractions with different denominators and percentages using the symbols &lt; = and &gt;.</a:t>
            </a:r>
            <a:endParaRPr lang="en-US" sz="2400" b="1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3648443"/>
                  </p:ext>
                </p:extLst>
              </p:nvPr>
            </p:nvGraphicFramePr>
            <p:xfrm>
              <a:off x="2156562" y="2805152"/>
              <a:ext cx="8128000" cy="2301494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3530927010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8222749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0.99</a:t>
                          </a:r>
                          <a:endParaRPr lang="en-US" sz="2800" dirty="0">
                            <a:latin typeface="Twinkl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90%</a:t>
                          </a:r>
                          <a:endParaRPr lang="en-US" sz="2800" dirty="0">
                            <a:latin typeface="Twinkl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784461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80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800" dirty="0">
                            <a:latin typeface="Twinkl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50%</a:t>
                          </a:r>
                          <a:endParaRPr lang="en-US" sz="2800" dirty="0">
                            <a:latin typeface="Twinkl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19518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0.75</a:t>
                          </a:r>
                          <a:endParaRPr lang="en-US" sz="2800" dirty="0">
                            <a:latin typeface="Twinkl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80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800" dirty="0">
                            <a:latin typeface="Twinkl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264876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3648443"/>
                  </p:ext>
                </p:extLst>
              </p:nvPr>
            </p:nvGraphicFramePr>
            <p:xfrm>
              <a:off x="2156562" y="2805152"/>
              <a:ext cx="8128000" cy="2301494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3530927010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822274987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0.99</a:t>
                          </a:r>
                          <a:endParaRPr lang="en-US" sz="2800" dirty="0">
                            <a:latin typeface="Twinkl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90%</a:t>
                          </a:r>
                          <a:endParaRPr lang="en-US" sz="2800" dirty="0">
                            <a:latin typeface="Twinkl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78446169"/>
                      </a:ext>
                    </a:extLst>
                  </a:tr>
                  <a:tr h="8930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0" t="-63946" r="-100150" b="-1006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50%</a:t>
                          </a:r>
                          <a:endParaRPr lang="en-US" sz="2800" dirty="0">
                            <a:latin typeface="Twinkl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1951842"/>
                      </a:ext>
                    </a:extLst>
                  </a:tr>
                  <a:tr h="8902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0.75</a:t>
                          </a:r>
                          <a:endParaRPr lang="en-US" sz="2800" dirty="0">
                            <a:latin typeface="Twinkl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00" t="-165068" r="-300" b="-13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648769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Content Placeholder 2"/>
          <p:cNvSpPr txBox="1">
            <a:spLocks/>
          </p:cNvSpPr>
          <p:nvPr/>
        </p:nvSpPr>
        <p:spPr>
          <a:xfrm>
            <a:off x="446310" y="5157141"/>
            <a:ext cx="11208657" cy="3004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dirty="0">
                <a:latin typeface="Comic Sans MS" panose="030F0702030302020204" pitchFamily="66" charset="0"/>
              </a:rPr>
              <a:t>2. Put these values in order from smallest to greatest.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4299" y="5919485"/>
            <a:ext cx="12785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mic Sans MS" panose="030F0702030302020204" pitchFamily="66" charset="0"/>
              </a:rPr>
              <a:t>0.55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724867" y="5734180"/>
                <a:ext cx="717267" cy="8094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US" sz="1600" b="1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4867" y="5734180"/>
                <a:ext cx="717267" cy="8094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2694728" y="5919485"/>
            <a:ext cx="12785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mic Sans MS" panose="030F0702030302020204" pitchFamily="66" charset="0"/>
              </a:rPr>
              <a:t>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9993" y="5919484"/>
            <a:ext cx="12785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9749" y="5919484"/>
            <a:ext cx="12785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0.55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8224661" y="5734180"/>
                <a:ext cx="717267" cy="8094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US" sz="1600" b="1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4661" y="5734180"/>
                <a:ext cx="717267" cy="8094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4619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121870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 the relative size of quantities to compare and order numbers with one or two decimal places, proper fractions with different denominators and percentages using the symbols &lt; = and &gt;.</a:t>
            </a:r>
            <a:endParaRPr lang="en-US" b="1" dirty="0">
              <a:latin typeface="Comic Sans MS" panose="030F0702030302020204" pitchFamily="66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8FC860-2759-4AA5-9D87-66D596C89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860" y="1698507"/>
            <a:ext cx="4464279" cy="457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136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4D85AFD-D5DE-4AEE-924D-050C47BE4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699" y="1385250"/>
            <a:ext cx="9930601" cy="5086037"/>
          </a:xfrm>
          <a:prstGeom prst="rect">
            <a:avLst/>
          </a:prstGeom>
        </p:spPr>
      </p:pic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121870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 the relative size of quantities to compare and order numbers with one or two decimal places, proper fractions with different denominators and percentages using the symbols &lt; = and &gt;.</a:t>
            </a:r>
            <a:endParaRPr lang="en-US" b="1" dirty="0">
              <a:latin typeface="Comic Sans MS" panose="030F0702030302020204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15658" y="2902857"/>
            <a:ext cx="653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winkl" panose="02000000000000000000" pitchFamily="2" charset="0"/>
              </a:rPr>
              <a:t>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28744" y="2715901"/>
            <a:ext cx="653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winkl" panose="02000000000000000000" pitchFamily="2" charset="0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15658" y="4066711"/>
            <a:ext cx="653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winkl" panose="02000000000000000000" pitchFamily="2" charset="0"/>
              </a:rPr>
              <a:t>=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9544" y="3946056"/>
            <a:ext cx="653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winkl" panose="02000000000000000000" pitchFamily="2" charset="0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5658" y="5343118"/>
            <a:ext cx="653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winkl" panose="02000000000000000000" pitchFamily="2" charset="0"/>
              </a:rPr>
              <a:t>&lt;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28744" y="5365093"/>
            <a:ext cx="653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winkl" panose="02000000000000000000" pitchFamily="2" charset="0"/>
              </a:rPr>
              <a:t>&lt;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2DC211BA-E563-4307-952B-0F7DF3F70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981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73CC9E-DACD-4847-90CC-9DEF7A496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12" y="1507223"/>
            <a:ext cx="8445587" cy="5095928"/>
          </a:xfrm>
          <a:prstGeom prst="rect">
            <a:avLst/>
          </a:prstGeom>
        </p:spPr>
      </p:pic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121870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 the relative size of quantities to compare and order numbers with one or two decimal places, proper fractions with different denominators and percentages using the symbols &lt; = and &gt;.</a:t>
            </a:r>
            <a:endParaRPr lang="en-US" b="1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863771" y="2844799"/>
                <a:ext cx="3788229" cy="981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>
                    <a:solidFill>
                      <a:srgbClr val="FF0000"/>
                    </a:solidFill>
                    <a:latin typeface="Twinkl" panose="02000000000000000000" pitchFamily="2" charset="0"/>
                  </a:rPr>
                  <a:t>0.3, 34%,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US" sz="4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endParaRPr lang="en-US" sz="4000" b="1" dirty="0">
                  <a:solidFill>
                    <a:srgbClr val="FF0000"/>
                  </a:solidFill>
                  <a:latin typeface="Twinkl" panose="02000000000000000000" pitchFamily="2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3771" y="2844799"/>
                <a:ext cx="3788229" cy="981423"/>
              </a:xfrm>
              <a:prstGeom prst="rect">
                <a:avLst/>
              </a:prstGeom>
              <a:blipFill>
                <a:blip r:embed="rId3"/>
                <a:stretch>
                  <a:fillRect l="-5797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863770" y="4055187"/>
                <a:ext cx="3788229" cy="981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>
                    <a:solidFill>
                      <a:srgbClr val="FF0000"/>
                    </a:solidFill>
                    <a:latin typeface="Twinkl" panose="02000000000000000000" pitchFamily="2" charset="0"/>
                  </a:rPr>
                  <a:t>8%,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𝟕𝟎</m:t>
                        </m:r>
                      </m:num>
                      <m:den>
                        <m:r>
                          <a:rPr lang="en-US" sz="4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𝟏𝟎𝟏</m:t>
                        </m:r>
                      </m:den>
                    </m:f>
                    <m:r>
                      <a:rPr lang="en-US" sz="4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, </m:t>
                    </m:r>
                  </m:oMath>
                </a14:m>
                <a:r>
                  <a:rPr lang="en-US" sz="4000" b="1" dirty="0">
                    <a:solidFill>
                      <a:srgbClr val="FF0000"/>
                    </a:solidFill>
                    <a:latin typeface="Twinkl" panose="02000000000000000000" pitchFamily="2" charset="0"/>
                  </a:rPr>
                  <a:t>0.7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3770" y="4055187"/>
                <a:ext cx="3788229" cy="981423"/>
              </a:xfrm>
              <a:prstGeom prst="rect">
                <a:avLst/>
              </a:prstGeom>
              <a:blipFill>
                <a:blip r:embed="rId4"/>
                <a:stretch>
                  <a:fillRect l="-5797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863770" y="5280683"/>
                <a:ext cx="3788229" cy="981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4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lang="en-US" sz="4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, </m:t>
                    </m:r>
                  </m:oMath>
                </a14:m>
                <a:r>
                  <a:rPr lang="en-US" sz="4000" b="1" dirty="0">
                    <a:solidFill>
                      <a:srgbClr val="FF0000"/>
                    </a:solidFill>
                    <a:latin typeface="Twinkl" panose="02000000000000000000" pitchFamily="2" charset="0"/>
                  </a:rPr>
                  <a:t>103%, 1.3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3770" y="5280683"/>
                <a:ext cx="3788229" cy="981423"/>
              </a:xfrm>
              <a:prstGeom prst="rect">
                <a:avLst/>
              </a:prstGeom>
              <a:blipFill>
                <a:blip r:embed="rId5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3339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7F1DCF-695D-4DF9-B7B8-F248EB100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30" y="1704957"/>
            <a:ext cx="11552695" cy="3448085"/>
          </a:xfrm>
          <a:prstGeom prst="rect">
            <a:avLst/>
          </a:prstGeom>
        </p:spPr>
      </p:pic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121870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 the relative size of quantities to compare and order numbers with one or two decimal places, proper fractions with different denominators and percentages using the symbols &lt; = and &gt;.</a:t>
            </a:r>
            <a:endParaRPr lang="en-US" b="1" dirty="0">
              <a:latin typeface="Comic Sans MS" panose="030F0702030302020204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41713" y="3265714"/>
            <a:ext cx="1011645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Ms. Alice is wrong because 0.5 is not 5 hundredths it is 5 tenths which is equivalent to 50 hundredths. 0.43 is 43 hundredths. 50 hundredths is more than 43 hundredths. Therefore 0.5 is greater than 0.43.</a:t>
            </a:r>
          </a:p>
        </p:txBody>
      </p:sp>
    </p:spTree>
    <p:extLst>
      <p:ext uri="{BB962C8B-B14F-4D97-AF65-F5344CB8AC3E}">
        <p14:creationId xmlns:p14="http://schemas.microsoft.com/office/powerpoint/2010/main" val="3051715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121870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 the relative size of quantities to compare and order numbers with one or two decimal places, proper fractions with different denominators and percentages using the symbols &lt; = and &gt;.</a:t>
            </a:r>
            <a:endParaRPr lang="en-US" b="1" dirty="0">
              <a:latin typeface="Comic Sans MS" panose="030F0702030302020204" pitchFamily="66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Comic Sans MS" panose="030F0702030302020204" pitchFamily="66" charset="0"/>
              </a:rPr>
              <a:t>I can compare values using &lt; = and &gt;.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order values.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correct and explain mistakes when comparing and ordering values.</a:t>
            </a:r>
          </a:p>
        </p:txBody>
      </p:sp>
      <p:pic>
        <p:nvPicPr>
          <p:cNvPr id="9" name="Google Shape;142;p7">
            <a:extLst>
              <a:ext uri="{FF2B5EF4-FFF2-40B4-BE49-F238E27FC236}">
                <a16:creationId xmlns:a16="http://schemas.microsoft.com/office/drawing/2014/main" id="{02264FC2-329E-425F-9B94-31063990989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20662" y="1313232"/>
            <a:ext cx="1102890" cy="2123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43;p7">
            <a:extLst>
              <a:ext uri="{FF2B5EF4-FFF2-40B4-BE49-F238E27FC236}">
                <a16:creationId xmlns:a16="http://schemas.microsoft.com/office/drawing/2014/main" id="{2FB5EB05-27FD-47E8-82F8-F9846E7569D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44555" y="1053553"/>
            <a:ext cx="1102890" cy="2305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44;p7">
            <a:extLst>
              <a:ext uri="{FF2B5EF4-FFF2-40B4-BE49-F238E27FC236}">
                <a16:creationId xmlns:a16="http://schemas.microsoft.com/office/drawing/2014/main" id="{D69ABD84-CBA2-4C8F-AFFE-C8DFA4B4E0C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19252" y="1203471"/>
            <a:ext cx="1077488" cy="21553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60958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602" y="947425"/>
            <a:ext cx="10515600" cy="1325563"/>
          </a:xfrm>
        </p:spPr>
        <p:txBody>
          <a:bodyPr/>
          <a:lstStyle/>
          <a:p>
            <a:r>
              <a:rPr lang="en-US" b="1" dirty="0">
                <a:latin typeface="Comic Sans MS" panose="030F0702030302020204" pitchFamily="66" charset="0"/>
              </a:rPr>
              <a:t>Plenary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121870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 the relative size of quantities to compare and order numbers with one or two decimal places, proper fractions with different denominators and percentages using the symbols &lt; = and &gt;.</a:t>
            </a:r>
            <a:endParaRPr lang="en-US" b="1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602" y="2166127"/>
            <a:ext cx="11015920" cy="27187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80456" y="5268686"/>
            <a:ext cx="97477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omic Sans MS" panose="030F0702030302020204" pitchFamily="66" charset="0"/>
              </a:rPr>
              <a:t>What can you do if you are not sure about any of these “I can….” statements?</a:t>
            </a:r>
          </a:p>
        </p:txBody>
      </p:sp>
    </p:spTree>
    <p:extLst>
      <p:ext uri="{BB962C8B-B14F-4D97-AF65-F5344CB8AC3E}">
        <p14:creationId xmlns:p14="http://schemas.microsoft.com/office/powerpoint/2010/main" val="922278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822</Words>
  <Application>Microsoft Office PowerPoint</Application>
  <PresentationFormat>Widescreen</PresentationFormat>
  <Paragraphs>81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Comic Sans MS</vt:lpstr>
      <vt:lpstr>Twinkl</vt:lpstr>
      <vt:lpstr>Office Theme</vt:lpstr>
      <vt:lpstr>Maths </vt:lpstr>
      <vt:lpstr>PowerPoint Presentation</vt:lpstr>
      <vt:lpstr>Retrieval Practice</vt:lpstr>
      <vt:lpstr>Starter – Which of these values is the largest?</vt:lpstr>
      <vt:lpstr>What do the following symbols mean?</vt:lpstr>
      <vt:lpstr>We can compare decimals, fractions and percentages using the &lt; = and &gt; symbols.</vt:lpstr>
      <vt:lpstr>We can compare decimals, fractions and percentages using the &lt; = and &gt; symbols.</vt:lpstr>
      <vt:lpstr>We can compare decimals, fractions and percentages using the &lt; = and &gt; symbols.</vt:lpstr>
      <vt:lpstr>Check your understanding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Plenary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Maths </dc:title>
  <dc:creator>Jonathan Michael Holliday (VSC-KTiH-MB)</dc:creator>
  <cp:lastModifiedBy>Colette Aisling Meade (VSC-KTiH-MB)</cp:lastModifiedBy>
  <cp:revision>14</cp:revision>
  <dcterms:created xsi:type="dcterms:W3CDTF">2024-11-05T01:53:17Z</dcterms:created>
  <dcterms:modified xsi:type="dcterms:W3CDTF">2026-09-29T00:07:29Z</dcterms:modified>
</cp:coreProperties>
</file>