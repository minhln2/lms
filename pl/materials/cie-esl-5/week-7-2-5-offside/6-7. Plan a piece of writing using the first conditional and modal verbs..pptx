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0" r:id="rId11"/>
    <p:sldId id="271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33" d="100"/>
          <a:sy n="33" d="100"/>
        </p:scale>
        <p:origin x="220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335D-B5BC-4152-9E57-BF434BC7279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5C85-709D-44CC-8794-F6D61F35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840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335D-B5BC-4152-9E57-BF434BC7279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5C85-709D-44CC-8794-F6D61F35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74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335D-B5BC-4152-9E57-BF434BC7279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5C85-709D-44CC-8794-F6D61F35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24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335D-B5BC-4152-9E57-BF434BC7279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5C85-709D-44CC-8794-F6D61F35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347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335D-B5BC-4152-9E57-BF434BC7279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5C85-709D-44CC-8794-F6D61F35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988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335D-B5BC-4152-9E57-BF434BC7279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5C85-709D-44CC-8794-F6D61F35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758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335D-B5BC-4152-9E57-BF434BC7279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5C85-709D-44CC-8794-F6D61F35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551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335D-B5BC-4152-9E57-BF434BC7279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5C85-709D-44CC-8794-F6D61F35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56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335D-B5BC-4152-9E57-BF434BC7279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5C85-709D-44CC-8794-F6D61F35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51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335D-B5BC-4152-9E57-BF434BC7279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5C85-709D-44CC-8794-F6D61F35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47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335D-B5BC-4152-9E57-BF434BC7279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5C85-709D-44CC-8794-F6D61F35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14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 bwMode="auto">
          <a:xfrm>
            <a:off x="609598" y="438152"/>
            <a:ext cx="10960100" cy="5957887"/>
          </a:xfrm>
          <a:prstGeom prst="roundRect">
            <a:avLst>
              <a:gd name="adj" fmla="val 2649"/>
            </a:avLst>
          </a:prstGeom>
          <a:solidFill>
            <a:schemeClr val="bg1"/>
          </a:solidFill>
          <a:ln w="57150" cap="rnd">
            <a:solidFill>
              <a:srgbClr val="0065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>
                <a:latin typeface="Twinkl" pitchFamily="50" charset="0"/>
              </a:rPr>
              <a:t> 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609598" y="438151"/>
            <a:ext cx="10960100" cy="994306"/>
          </a:xfrm>
          <a:prstGeom prst="roundRect">
            <a:avLst>
              <a:gd name="adj" fmla="val 9641"/>
            </a:avLst>
          </a:prstGeom>
        </p:spPr>
        <p:txBody>
          <a:bodyPr>
            <a:noAutofit/>
          </a:bodyPr>
          <a:lstStyle>
            <a:lvl1pPr>
              <a:defRPr sz="3600">
                <a:latin typeface="Twinkl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903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A4335D-B5BC-4152-9E57-BF434BC7279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75C85-709D-44CC-8794-F6D61F35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39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88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1069" y="1568620"/>
            <a:ext cx="11700485" cy="4061472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latin typeface="Comic Sans MS" panose="030F0702030302020204" pitchFamily="66" charset="0"/>
              </a:rPr>
              <a:t>WALT: </a:t>
            </a:r>
          </a:p>
          <a:p>
            <a:pPr algn="l"/>
            <a:r>
              <a:rPr lang="en-US" sz="4400" dirty="0">
                <a:latin typeface="Comic Sans MS" panose="030F0702030302020204" pitchFamily="66" charset="0"/>
              </a:rPr>
              <a:t>Plan a piece of writing using the first conditional and modal verbs.</a:t>
            </a:r>
          </a:p>
          <a:p>
            <a:pPr algn="l"/>
            <a:endParaRPr lang="en-US" sz="4400" b="1" dirty="0">
              <a:latin typeface="Comic Sans MS" panose="030F0702030302020204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2 – Sport</a:t>
            </a:r>
          </a:p>
        </p:txBody>
      </p:sp>
    </p:spTree>
    <p:extLst>
      <p:ext uri="{BB962C8B-B14F-4D97-AF65-F5344CB8AC3E}">
        <p14:creationId xmlns:p14="http://schemas.microsoft.com/office/powerpoint/2010/main" val="1973159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Plan a piece of writing using the first conditional and modal verbs.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Comic Sans MS" panose="030F0702030302020204" pitchFamily="66" charset="0"/>
              </a:rPr>
              <a:t>I can choose which project I want to complete.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identify the success criteria for the project.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think of some example sentences that fit my project and meet the SC.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A865F9-5DD0-48FC-B578-C404C133D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166E33-002E-4CF0-A581-A551D50AB5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D22AD69-E09A-4D72-831E-A72C43B2C4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000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778" y="638080"/>
            <a:ext cx="10515600" cy="1325563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Retrieval Practice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114010"/>
            <a:ext cx="11715676" cy="1048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Plan a piece of writing using the first conditional and modal verbs.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78" y="1686219"/>
            <a:ext cx="11547552" cy="491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652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58611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omic Sans MS" panose="030F0702030302020204" pitchFamily="66" charset="0"/>
              </a:rPr>
              <a:t>Starter</a:t>
            </a:r>
            <a:r>
              <a:rPr lang="en-US" sz="3600" dirty="0">
                <a:latin typeface="Comic Sans MS" panose="030F0702030302020204" pitchFamily="66" charset="0"/>
              </a:rPr>
              <a:t> – Answer the questions about football on the next slide with your partner.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114010"/>
            <a:ext cx="11715676" cy="1048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Plan a piece of writing using the first conditional and modal verbs.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E655AC-3E71-41DD-A23A-38586EC39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76" y="2616157"/>
            <a:ext cx="4944164" cy="3006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ED5A47-CF78-4379-978F-AE9AF8B5E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008" y="2184174"/>
            <a:ext cx="4450792" cy="360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276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8E0466C5-775E-BAAF-853B-4730814D13F4}"/>
              </a:ext>
            </a:extLst>
          </p:cNvPr>
          <p:cNvGrpSpPr/>
          <p:nvPr/>
        </p:nvGrpSpPr>
        <p:grpSpPr>
          <a:xfrm>
            <a:off x="3517038" y="1368140"/>
            <a:ext cx="5157924" cy="913585"/>
            <a:chOff x="1859280" y="1493520"/>
            <a:chExt cx="5157924" cy="67818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334FF1-720C-188F-9FF4-4C08E31ED919}"/>
                </a:ext>
              </a:extLst>
            </p:cNvPr>
            <p:cNvSpPr/>
            <p:nvPr/>
          </p:nvSpPr>
          <p:spPr>
            <a:xfrm>
              <a:off x="1859280" y="1493520"/>
              <a:ext cx="5157924" cy="67818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65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omic Sans MS" panose="030F0702030302020204" pitchFamily="66" charset="0"/>
              </a:endParaRPr>
            </a:p>
          </p:txBody>
        </p:sp>
        <p:sp>
          <p:nvSpPr>
            <p:cNvPr id="5" name="Text"/>
            <p:cNvSpPr/>
            <p:nvPr/>
          </p:nvSpPr>
          <p:spPr>
            <a:xfrm>
              <a:off x="2034540" y="1611809"/>
              <a:ext cx="4800186" cy="456942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r>
                <a:rPr lang="en-GB" sz="2000" b="1" dirty="0">
                  <a:latin typeface="Comic Sans MS" panose="030F0702030302020204" pitchFamily="66" charset="0"/>
                </a:rPr>
                <a:t>Both teams should wear the same colour.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BCADEDD-8F6F-AE59-DB15-6A4AEFAF6E3E}"/>
              </a:ext>
            </a:extLst>
          </p:cNvPr>
          <p:cNvGrpSpPr/>
          <p:nvPr/>
        </p:nvGrpSpPr>
        <p:grpSpPr>
          <a:xfrm>
            <a:off x="3517038" y="2633426"/>
            <a:ext cx="5157923" cy="913585"/>
            <a:chOff x="2426969" y="2649410"/>
            <a:chExt cx="5157923" cy="67818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46FB2BB-53C8-2C3C-771D-BF3CEECF6BED}"/>
                </a:ext>
              </a:extLst>
            </p:cNvPr>
            <p:cNvSpPr/>
            <p:nvPr/>
          </p:nvSpPr>
          <p:spPr>
            <a:xfrm>
              <a:off x="2426969" y="2649410"/>
              <a:ext cx="5157923" cy="67818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65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omic Sans MS" panose="030F0702030302020204" pitchFamily="66" charset="0"/>
              </a:endParaRPr>
            </a:p>
          </p:txBody>
        </p:sp>
        <p:sp>
          <p:nvSpPr>
            <p:cNvPr id="3" name="Text">
              <a:extLst>
                <a:ext uri="{FF2B5EF4-FFF2-40B4-BE49-F238E27FC236}">
                  <a16:creationId xmlns:a16="http://schemas.microsoft.com/office/drawing/2014/main" id="{2631BB7D-259C-B2DE-4A56-16F0DC36EA7E}"/>
                </a:ext>
              </a:extLst>
            </p:cNvPr>
            <p:cNvSpPr/>
            <p:nvPr/>
          </p:nvSpPr>
          <p:spPr>
            <a:xfrm>
              <a:off x="2602230" y="2889660"/>
              <a:ext cx="4137660" cy="228472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r>
                <a:rPr lang="en-GB" sz="2000" b="1" dirty="0">
                  <a:latin typeface="Comic Sans MS" panose="030F0702030302020204" pitchFamily="66" charset="0"/>
                </a:rPr>
                <a:t>Players must wear shin guards.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45DE691-5A7F-4216-9F9C-2648505106E0}"/>
              </a:ext>
            </a:extLst>
          </p:cNvPr>
          <p:cNvGrpSpPr/>
          <p:nvPr/>
        </p:nvGrpSpPr>
        <p:grpSpPr>
          <a:xfrm>
            <a:off x="3517038" y="3898711"/>
            <a:ext cx="5135880" cy="855712"/>
            <a:chOff x="830580" y="3657549"/>
            <a:chExt cx="7564594" cy="85571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A2410D0-4EAE-7228-C206-52C85EC49308}"/>
                </a:ext>
              </a:extLst>
            </p:cNvPr>
            <p:cNvSpPr/>
            <p:nvPr/>
          </p:nvSpPr>
          <p:spPr>
            <a:xfrm>
              <a:off x="830580" y="3657549"/>
              <a:ext cx="7564594" cy="85571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65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GB">
                <a:latin typeface="Comic Sans MS" panose="030F0702030302020204" pitchFamily="66" charset="0"/>
              </a:endParaRPr>
            </a:p>
          </p:txBody>
        </p:sp>
        <p:sp>
          <p:nvSpPr>
            <p:cNvPr id="6" name="Text">
              <a:extLst>
                <a:ext uri="{FF2B5EF4-FFF2-40B4-BE49-F238E27FC236}">
                  <a16:creationId xmlns:a16="http://schemas.microsoft.com/office/drawing/2014/main" id="{B38A08AA-58ED-90F5-1AEB-9F1032F1AC20}"/>
                </a:ext>
              </a:extLst>
            </p:cNvPr>
            <p:cNvSpPr/>
            <p:nvPr/>
          </p:nvSpPr>
          <p:spPr>
            <a:xfrm>
              <a:off x="1088719" y="3789082"/>
              <a:ext cx="6946084" cy="615553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r>
                <a:rPr lang="en-GB" sz="2000" b="1" dirty="0">
                  <a:latin typeface="Comic Sans MS" panose="030F0702030302020204" pitchFamily="66" charset="0"/>
                </a:rPr>
                <a:t>World cup stadiums must be able to hold 40,000 people.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051A0D1D-3E45-85E6-E3D4-8CBDE6B7663D}"/>
              </a:ext>
            </a:extLst>
          </p:cNvPr>
          <p:cNvSpPr/>
          <p:nvPr/>
        </p:nvSpPr>
        <p:spPr>
          <a:xfrm>
            <a:off x="6627874" y="3326448"/>
            <a:ext cx="1864610" cy="441125"/>
          </a:xfrm>
          <a:prstGeom prst="rect">
            <a:avLst/>
          </a:prstGeom>
          <a:solidFill>
            <a:srgbClr val="0065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Comic Sans MS" panose="030F0702030302020204" pitchFamily="66" charset="0"/>
              </a:rPr>
              <a:t>True</a:t>
            </a:r>
          </a:p>
        </p:txBody>
      </p:sp>
      <p:sp>
        <p:nvSpPr>
          <p:cNvPr id="21" name="Title"/>
          <p:cNvSpPr>
            <a:spLocks noGrp="1"/>
          </p:cNvSpPr>
          <p:nvPr>
            <p:ph type="title"/>
          </p:nvPr>
        </p:nvSpPr>
        <p:spPr>
          <a:xfrm>
            <a:off x="1195506" y="210639"/>
            <a:ext cx="9800991" cy="994306"/>
          </a:xfrm>
          <a:solidFill>
            <a:srgbClr val="00659C"/>
          </a:solidFill>
        </p:spPr>
        <p:txBody>
          <a:bodyPr vert="horz" lIns="91440" tIns="45720" rIns="91440" bIns="180000" rtlCol="0" anchor="ctr">
            <a:noAutofit/>
          </a:bodyPr>
          <a:lstStyle/>
          <a:p>
            <a:pPr>
              <a:spcBef>
                <a:spcPts val="0"/>
              </a:spcBef>
            </a:pPr>
            <a:r>
              <a:rPr lang="en-GB" sz="4400" dirty="0">
                <a:solidFill>
                  <a:schemeClr val="bg1"/>
                </a:solidFill>
                <a:latin typeface="Comic Sans MS" panose="030F0702030302020204" pitchFamily="66" charset="0"/>
              </a:rPr>
              <a:t>Warm Up</a:t>
            </a:r>
            <a:endParaRPr lang="en-GB" sz="72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662D6C2-E696-BA6D-0124-11D037CB0C88}"/>
              </a:ext>
            </a:extLst>
          </p:cNvPr>
          <p:cNvSpPr txBox="1">
            <a:spLocks/>
          </p:cNvSpPr>
          <p:nvPr/>
        </p:nvSpPr>
        <p:spPr>
          <a:xfrm>
            <a:off x="1195505" y="210639"/>
            <a:ext cx="9800991" cy="994306"/>
          </a:xfrm>
          <a:prstGeom prst="roundRect">
            <a:avLst>
              <a:gd name="adj" fmla="val 9641"/>
            </a:avLst>
          </a:prstGeom>
          <a:solidFill>
            <a:srgbClr val="00659C"/>
          </a:solidFill>
          <a:ln w="25400">
            <a:noFill/>
          </a:ln>
        </p:spPr>
        <p:txBody>
          <a:bodyPr vert="horz" lIns="252000" tIns="252000" rIns="252000" bIns="180000" rtlCol="0" anchor="ctr" anchorCtr="1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1C1C1C"/>
                </a:solidFill>
                <a:latin typeface="Twinkl" pitchFamily="2" charset="0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4000" dirty="0">
                <a:solidFill>
                  <a:schemeClr val="bg1"/>
                </a:solidFill>
                <a:latin typeface="Comic Sans MS" panose="030F0702030302020204" pitchFamily="66" charset="0"/>
              </a:rPr>
              <a:t>True or false?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4B5763E4-3419-3E94-1A2A-2D46B4FCCF29}"/>
              </a:ext>
            </a:extLst>
          </p:cNvPr>
          <p:cNvSpPr txBox="1">
            <a:spLocks/>
          </p:cNvSpPr>
          <p:nvPr/>
        </p:nvSpPr>
        <p:spPr>
          <a:xfrm>
            <a:off x="1002558" y="319763"/>
            <a:ext cx="10160393" cy="776058"/>
          </a:xfrm>
          <a:prstGeom prst="roundRect">
            <a:avLst>
              <a:gd name="adj" fmla="val 9641"/>
            </a:avLst>
          </a:prstGeom>
          <a:noFill/>
          <a:ln w="38100">
            <a:solidFill>
              <a:schemeClr val="bg1"/>
            </a:solidFill>
            <a:prstDash val="dash"/>
          </a:ln>
        </p:spPr>
        <p:txBody>
          <a:bodyPr vert="horz" lIns="252000" tIns="252000" rIns="252000" bIns="180000" rtlCol="0" anchor="ctr" anchorCtr="1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1C1C1C"/>
                </a:solidFill>
                <a:latin typeface="Twinkl" pitchFamily="2" charset="0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-GB" sz="66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70EB46F-7A6E-0EFA-CF88-E9270B7030C2}"/>
              </a:ext>
            </a:extLst>
          </p:cNvPr>
          <p:cNvGrpSpPr/>
          <p:nvPr/>
        </p:nvGrpSpPr>
        <p:grpSpPr>
          <a:xfrm>
            <a:off x="3517038" y="5106123"/>
            <a:ext cx="5135880" cy="1034206"/>
            <a:chOff x="1005840" y="5208353"/>
            <a:chExt cx="7101840" cy="67818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810B5D5-87B4-F150-AD70-0D117970D599}"/>
                </a:ext>
              </a:extLst>
            </p:cNvPr>
            <p:cNvSpPr/>
            <p:nvPr/>
          </p:nvSpPr>
          <p:spPr>
            <a:xfrm>
              <a:off x="1005840" y="5208353"/>
              <a:ext cx="7101840" cy="67818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65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GB">
                <a:latin typeface="Comic Sans MS" panose="030F0702030302020204" pitchFamily="66" charset="0"/>
              </a:endParaRPr>
            </a:p>
          </p:txBody>
        </p:sp>
        <p:sp>
          <p:nvSpPr>
            <p:cNvPr id="7" name="Text">
              <a:extLst>
                <a:ext uri="{FF2B5EF4-FFF2-40B4-BE49-F238E27FC236}">
                  <a16:creationId xmlns:a16="http://schemas.microsoft.com/office/drawing/2014/main" id="{6FDA7169-EADE-2299-C758-391FFDF50580}"/>
                </a:ext>
              </a:extLst>
            </p:cNvPr>
            <p:cNvSpPr/>
            <p:nvPr/>
          </p:nvSpPr>
          <p:spPr>
            <a:xfrm>
              <a:off x="1248188" y="5349196"/>
              <a:ext cx="6387047" cy="403649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r>
                <a:rPr lang="en-GB" sz="2000" b="1" dirty="0">
                  <a:latin typeface="Comic Sans MS" panose="030F0702030302020204" pitchFamily="66" charset="0"/>
                </a:rPr>
                <a:t>Players must leave the pitch if they receive a yellow card. 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70FB84DE-52FD-0EB5-0106-139ED1B6AE3F}"/>
              </a:ext>
            </a:extLst>
          </p:cNvPr>
          <p:cNvSpPr/>
          <p:nvPr/>
        </p:nvSpPr>
        <p:spPr>
          <a:xfrm>
            <a:off x="6627874" y="2072726"/>
            <a:ext cx="1864610" cy="441125"/>
          </a:xfrm>
          <a:prstGeom prst="rect">
            <a:avLst/>
          </a:prstGeom>
          <a:solidFill>
            <a:srgbClr val="0065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Comic Sans MS" panose="030F0702030302020204" pitchFamily="66" charset="0"/>
              </a:rPr>
              <a:t>False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1128A0-F7A1-7F88-7AD0-49BC6E614277}"/>
              </a:ext>
            </a:extLst>
          </p:cNvPr>
          <p:cNvSpPr/>
          <p:nvPr/>
        </p:nvSpPr>
        <p:spPr>
          <a:xfrm>
            <a:off x="6627874" y="4503945"/>
            <a:ext cx="1864610" cy="441125"/>
          </a:xfrm>
          <a:prstGeom prst="rect">
            <a:avLst/>
          </a:prstGeom>
          <a:solidFill>
            <a:srgbClr val="0065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Comic Sans MS" panose="030F0702030302020204" pitchFamily="66" charset="0"/>
              </a:rPr>
              <a:t>True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AFC60A-2CA1-C227-9CFC-B2ED81860431}"/>
              </a:ext>
            </a:extLst>
          </p:cNvPr>
          <p:cNvSpPr/>
          <p:nvPr/>
        </p:nvSpPr>
        <p:spPr>
          <a:xfrm>
            <a:off x="6627874" y="5860259"/>
            <a:ext cx="1864610" cy="441125"/>
          </a:xfrm>
          <a:prstGeom prst="rect">
            <a:avLst/>
          </a:prstGeom>
          <a:solidFill>
            <a:srgbClr val="0065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Comic Sans MS" panose="030F0702030302020204" pitchFamily="66" charset="0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789124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animBg="1"/>
      <p:bldP spid="13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21467"/>
            <a:ext cx="10515600" cy="1325563"/>
          </a:xfrm>
        </p:spPr>
        <p:txBody>
          <a:bodyPr/>
          <a:lstStyle/>
          <a:p>
            <a:r>
              <a:rPr lang="en-US" sz="4000" dirty="0">
                <a:latin typeface="Comic Sans MS" panose="030F0702030302020204" pitchFamily="66" charset="0"/>
              </a:rPr>
              <a:t>This lesson you are going to plan your project.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112851"/>
            <a:ext cx="8601645" cy="276234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4400" dirty="0">
                <a:latin typeface="Comic Sans MS" panose="030F0702030302020204" pitchFamily="66" charset="0"/>
              </a:rPr>
              <a:t>Project A – create a poster about a type of sport.</a:t>
            </a:r>
          </a:p>
          <a:p>
            <a:pPr marL="0" indent="0">
              <a:buNone/>
            </a:pPr>
            <a:endParaRPr lang="en-US" sz="44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400" dirty="0">
                <a:latin typeface="Comic Sans MS" panose="030F0702030302020204" pitchFamily="66" charset="0"/>
              </a:rPr>
              <a:t>Project B – make a commentary of a sports event. 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Plan a piece of writing using the first conditional and modal verbs.</a:t>
            </a:r>
          </a:p>
        </p:txBody>
      </p:sp>
    </p:spTree>
    <p:extLst>
      <p:ext uri="{BB962C8B-B14F-4D97-AF65-F5344CB8AC3E}">
        <p14:creationId xmlns:p14="http://schemas.microsoft.com/office/powerpoint/2010/main" val="1136826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Plan a piece of writing using the first conditional and modal verbs.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757" y="1372624"/>
            <a:ext cx="10399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Project A – create a poster about a type of sport</a:t>
            </a:r>
          </a:p>
        </p:txBody>
      </p:sp>
    </p:spTree>
    <p:extLst>
      <p:ext uri="{BB962C8B-B14F-4D97-AF65-F5344CB8AC3E}">
        <p14:creationId xmlns:p14="http://schemas.microsoft.com/office/powerpoint/2010/main" val="3505538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Twinkl" panose="02000000000000000000" pitchFamily="2" charset="0"/>
              </a:rPr>
              <a:t>WALT: </a:t>
            </a:r>
            <a:r>
              <a:rPr lang="en-US" dirty="0">
                <a:latin typeface="Twinkl" panose="02000000000000000000" pitchFamily="2" charset="0"/>
              </a:rPr>
              <a:t>Plan a piece of writing using the first conditional and modal verbs.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1608" y="1320447"/>
            <a:ext cx="10399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800" dirty="0">
                <a:latin typeface="Comic Sans MS" panose="030F0702030302020204" pitchFamily="66" charset="0"/>
              </a:rPr>
              <a:t>Project B – make a commentary of a sports event. </a:t>
            </a:r>
          </a:p>
        </p:txBody>
      </p:sp>
    </p:spTree>
    <p:extLst>
      <p:ext uri="{BB962C8B-B14F-4D97-AF65-F5344CB8AC3E}">
        <p14:creationId xmlns:p14="http://schemas.microsoft.com/office/powerpoint/2010/main" val="2034422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Plan a piece of writing using the first conditional and modal verbs.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762" y="2618739"/>
            <a:ext cx="10171005" cy="39458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5674" y="1417726"/>
            <a:ext cx="9498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These are the success criteria you need to meet in your project.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236E92-DFE0-4D5D-B97D-0805425648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5674" y="2780320"/>
            <a:ext cx="611088" cy="11764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17FB23-BB86-48E0-96B5-28CE897859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49" y="4118387"/>
            <a:ext cx="611088" cy="12773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8A7D8CA-5106-49F0-AE22-0FE2232D06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130" y="5474763"/>
            <a:ext cx="611088" cy="138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237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Twinkl" panose="02000000000000000000" pitchFamily="2" charset="0"/>
              </a:rPr>
              <a:t>WALT: </a:t>
            </a:r>
            <a:r>
              <a:rPr lang="en-US" dirty="0">
                <a:latin typeface="Twinkl" panose="02000000000000000000" pitchFamily="2" charset="0"/>
              </a:rPr>
              <a:t>Plan a piece of writing using the first conditional and modal verbs.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762" y="2618739"/>
            <a:ext cx="10171005" cy="39458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4742" y="1407901"/>
            <a:ext cx="94988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winkl" panose="02000000000000000000" pitchFamily="2" charset="0"/>
              </a:rPr>
              <a:t>Discuss with your partner the success criteria now. How could you meet them in your project?</a:t>
            </a:r>
          </a:p>
          <a:p>
            <a:endParaRPr lang="en-US" sz="2800" dirty="0">
              <a:latin typeface="Twinkl" panose="020000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236E92-DFE0-4D5D-B97D-0805425648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5674" y="2780320"/>
            <a:ext cx="611088" cy="11764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17FB23-BB86-48E0-96B5-28CE897859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49" y="4118387"/>
            <a:ext cx="611088" cy="12773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8A7D8CA-5106-49F0-AE22-0FE2232D06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130" y="5474763"/>
            <a:ext cx="611088" cy="138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732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Plan a piece of writing using the first conditional and modal verbs.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Comic Sans MS" panose="030F0702030302020204" pitchFamily="66" charset="0"/>
              </a:rPr>
              <a:t>I can choose which project I want to complete.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identify the success criteria for the project.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think of some example sentences that fit my project and meet the SC.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A865F9-5DD0-48FC-B578-C404C133D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166E33-002E-4CF0-A581-A551D50AB5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D22AD69-E09A-4D72-831E-A72C43B2C4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878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754" y="1320468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Comic Sans MS" panose="030F0702030302020204" pitchFamily="66" charset="0"/>
              </a:rPr>
              <a:t>Plenary </a:t>
            </a:r>
            <a:r>
              <a:rPr lang="en-US" sz="4800" dirty="0">
                <a:latin typeface="Comic Sans MS" panose="030F0702030302020204" pitchFamily="66" charset="0"/>
              </a:rPr>
              <a:t>– Show me out of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415" y="2667773"/>
            <a:ext cx="10515600" cy="2751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>
                <a:latin typeface="Comic Sans MS" panose="030F0702030302020204" pitchFamily="66" charset="0"/>
              </a:rPr>
              <a:t>How ready do you feel to complete the project next lesson?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Plan a piece of writing using the first conditional and modal verbs.</a:t>
            </a:r>
          </a:p>
        </p:txBody>
      </p:sp>
      <p:pic>
        <p:nvPicPr>
          <p:cNvPr id="1026" name="Picture 2" descr="Counting Hands Stock Photo - Download Image Now - Number 10, Counting, Cut  Out - iStock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06" b="100000" l="2451" r="95261">
                        <a14:foregroundMark x1="74346" y1="16912" x2="71569" y2="921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617" y="3170977"/>
            <a:ext cx="5530533" cy="368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5531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411</Words>
  <Application>Microsoft Office PowerPoint</Application>
  <PresentationFormat>Widescreen</PresentationFormat>
  <Paragraphs>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Comic Sans MS</vt:lpstr>
      <vt:lpstr>Twinkl</vt:lpstr>
      <vt:lpstr>Office Theme</vt:lpstr>
      <vt:lpstr>English </vt:lpstr>
      <vt:lpstr>PowerPoint Presentation</vt:lpstr>
      <vt:lpstr>Retrieval Practice</vt:lpstr>
      <vt:lpstr>Starter – Answer the questions about football on the next slide with your partner.</vt:lpstr>
      <vt:lpstr>Warm Up</vt:lpstr>
      <vt:lpstr>This lesson you are going to plan your project.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Plenary – Show me out of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</dc:title>
  <dc:creator>Jonathan Michael Holliday (VSC-KTiH-MB)</dc:creator>
  <cp:lastModifiedBy>Colette</cp:lastModifiedBy>
  <cp:revision>11</cp:revision>
  <dcterms:created xsi:type="dcterms:W3CDTF">2024-09-25T00:56:13Z</dcterms:created>
  <dcterms:modified xsi:type="dcterms:W3CDTF">2025-09-23T15:22:22Z</dcterms:modified>
</cp:coreProperties>
</file>