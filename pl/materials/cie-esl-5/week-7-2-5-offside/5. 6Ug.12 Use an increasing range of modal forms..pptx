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2" r:id="rId6"/>
    <p:sldId id="265" r:id="rId7"/>
    <p:sldId id="266" r:id="rId8"/>
    <p:sldId id="267" r:id="rId9"/>
    <p:sldId id="268" r:id="rId10"/>
    <p:sldId id="269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49" d="100"/>
          <a:sy n="49" d="100"/>
        </p:scale>
        <p:origin x="184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1F66C-F995-42F6-8555-7C8CE149D690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B3083C-46D0-47F2-9F7C-3A8FCDBA76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57991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1F66C-F995-42F6-8555-7C8CE149D690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B3083C-46D0-47F2-9F7C-3A8FCDBA76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74346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1F66C-F995-42F6-8555-7C8CE149D690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B3083C-46D0-47F2-9F7C-3A8FCDBA76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94294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1F66C-F995-42F6-8555-7C8CE149D690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B3083C-46D0-47F2-9F7C-3A8FCDBA76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62551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1F66C-F995-42F6-8555-7C8CE149D690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B3083C-46D0-47F2-9F7C-3A8FCDBA76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33415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1F66C-F995-42F6-8555-7C8CE149D690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B3083C-46D0-47F2-9F7C-3A8FCDBA76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15866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1F66C-F995-42F6-8555-7C8CE149D690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B3083C-46D0-47F2-9F7C-3A8FCDBA76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56137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1F66C-F995-42F6-8555-7C8CE149D690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B3083C-46D0-47F2-9F7C-3A8FCDBA76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30041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1F66C-F995-42F6-8555-7C8CE149D690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B3083C-46D0-47F2-9F7C-3A8FCDBA76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54908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1F66C-F995-42F6-8555-7C8CE149D690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B3083C-46D0-47F2-9F7C-3A8FCDBA76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96619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1F66C-F995-42F6-8555-7C8CE149D690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B3083C-46D0-47F2-9F7C-3A8FCDBA76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21446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F1F66C-F995-42F6-8555-7C8CE149D690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B3083C-46D0-47F2-9F7C-3A8FCDBA76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90505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microsoft.com/office/2007/relationships/hdphoto" Target="../media/hdphoto3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microsoft.com/office/2007/relationships/hdphoto" Target="../media/hdphoto2.wdp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microsoft.com/office/2007/relationships/hdphoto" Target="../media/hdphoto3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microsoft.com/office/2007/relationships/hdphoto" Target="../media/hdphoto2.wdp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microsoft.com/office/2007/relationships/hdphoto" Target="../media/hdphoto3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microsoft.com/office/2007/relationships/hdphoto" Target="../media/hdphoto2.wdp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165230" y="-98475"/>
            <a:ext cx="5462954" cy="1667095"/>
          </a:xfrm>
        </p:spPr>
        <p:txBody>
          <a:bodyPr>
            <a:normAutofit/>
          </a:bodyPr>
          <a:lstStyle/>
          <a:p>
            <a:r>
              <a:rPr lang="en-US" sz="8800" dirty="0">
                <a:latin typeface="Comic Sans MS" panose="030F0702030302020204" pitchFamily="66" charset="0"/>
              </a:rPr>
              <a:t>English 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37418" y="1568620"/>
            <a:ext cx="10990125" cy="4061472"/>
          </a:xfrm>
        </p:spPr>
        <p:txBody>
          <a:bodyPr>
            <a:normAutofit/>
          </a:bodyPr>
          <a:lstStyle/>
          <a:p>
            <a:pPr algn="l"/>
            <a:r>
              <a:rPr lang="en-US" sz="4800" b="1" dirty="0">
                <a:latin typeface="Comic Sans MS" panose="030F0702030302020204" pitchFamily="66" charset="0"/>
              </a:rPr>
              <a:t>WALT:</a:t>
            </a:r>
          </a:p>
          <a:p>
            <a:pPr algn="l"/>
            <a:r>
              <a:rPr lang="en-US" sz="4400" b="1" dirty="0">
                <a:latin typeface="Comic Sans MS" panose="030F0702030302020204" pitchFamily="66" charset="0"/>
              </a:rPr>
              <a:t>6Ug.12 </a:t>
            </a:r>
            <a:r>
              <a:rPr lang="en-US" sz="4400" dirty="0">
                <a:latin typeface="Comic Sans MS" panose="030F0702030302020204" pitchFamily="66" charset="0"/>
              </a:rPr>
              <a:t>Use an increasing range of modal forms.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35292" y="552174"/>
            <a:ext cx="275626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FF0000"/>
                </a:solidFill>
                <a:latin typeface="Comic Sans MS" panose="030F0702030302020204" pitchFamily="66" charset="0"/>
              </a:rPr>
              <a:t>Unit 2 – Sport</a:t>
            </a:r>
          </a:p>
        </p:txBody>
      </p:sp>
    </p:spTree>
    <p:extLst>
      <p:ext uri="{BB962C8B-B14F-4D97-AF65-F5344CB8AC3E}">
        <p14:creationId xmlns:p14="http://schemas.microsoft.com/office/powerpoint/2010/main" val="8663386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204716" y="234752"/>
            <a:ext cx="11715676" cy="10034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>
                <a:latin typeface="Comic Sans MS" panose="030F0702030302020204" pitchFamily="66" charset="0"/>
              </a:rPr>
              <a:t>WALT: </a:t>
            </a:r>
            <a:r>
              <a:rPr lang="en-US" dirty="0">
                <a:latin typeface="Comic Sans MS" panose="030F0702030302020204" pitchFamily="66" charset="0"/>
              </a:rPr>
              <a:t>Use an increasing range of modal forms.</a:t>
            </a:r>
          </a:p>
        </p:txBody>
      </p:sp>
      <p:sp>
        <p:nvSpPr>
          <p:cNvPr id="7" name="Rectangle 6"/>
          <p:cNvSpPr/>
          <p:nvPr/>
        </p:nvSpPr>
        <p:spPr>
          <a:xfrm>
            <a:off x="352697" y="3526971"/>
            <a:ext cx="3435532" cy="2155372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b="1" dirty="0">
              <a:latin typeface="Comic Sans MS" panose="030F0702030302020204" pitchFamily="66" charset="0"/>
            </a:endParaRPr>
          </a:p>
          <a:p>
            <a:pPr algn="ctr"/>
            <a:r>
              <a:rPr lang="en-US" sz="2800" b="1" dirty="0">
                <a:latin typeface="Comic Sans MS" panose="030F0702030302020204" pitchFamily="66" charset="0"/>
              </a:rPr>
              <a:t>I can use “should”, “must” and “need to” give advice or instructions.</a:t>
            </a:r>
          </a:p>
          <a:p>
            <a:pPr algn="ctr"/>
            <a:r>
              <a:rPr lang="en-US" sz="2400" b="1" dirty="0">
                <a:latin typeface="Comic Sans MS" panose="030F0702030302020204" pitchFamily="66" charset="0"/>
              </a:rPr>
              <a:t> </a:t>
            </a:r>
          </a:p>
        </p:txBody>
      </p:sp>
      <p:sp>
        <p:nvSpPr>
          <p:cNvPr id="8" name="Rectangle 7"/>
          <p:cNvSpPr/>
          <p:nvPr/>
        </p:nvSpPr>
        <p:spPr>
          <a:xfrm>
            <a:off x="4480560" y="3526971"/>
            <a:ext cx="3396343" cy="2155372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  <a:latin typeface="Comic Sans MS" panose="030F0702030302020204" pitchFamily="66" charset="0"/>
              </a:rPr>
              <a:t>I can use “shouldn’t”, “mustn’t” and “don’t need” to give advice or instructions.</a:t>
            </a:r>
          </a:p>
          <a:p>
            <a:pPr algn="ctr"/>
            <a:endParaRPr lang="en-US" sz="2400" b="1" dirty="0">
              <a:solidFill>
                <a:schemeClr val="tx1"/>
              </a:solidFill>
              <a:latin typeface="Comic Sans MS" panose="030F0702030302020204" pitchFamily="66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8524049" y="3526971"/>
            <a:ext cx="3396343" cy="2155372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tx1"/>
                </a:solidFill>
                <a:latin typeface="Comic Sans MS" panose="030F0702030302020204" pitchFamily="66" charset="0"/>
              </a:rPr>
              <a:t>I can give reasons for my advice or instructions.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69234" y="3523282"/>
            <a:ext cx="32210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b="1" dirty="0">
              <a:latin typeface="Comic Sans MS" panose="030F0702030302020204" pitchFamily="66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3228475-F04A-4EAC-AAA7-AE7C54ACDC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709" b="92718" l="9346" r="89720">
                        <a14:foregroundMark x1="44860" y1="92718" x2="44860" y2="9271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320662" y="1313232"/>
            <a:ext cx="1102890" cy="212332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111BF37-7230-4FD6-B3A4-41E4DC3551A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7914" b="93885" l="9023" r="89474">
                        <a14:foregroundMark x1="31579" y1="8273" x2="31579" y2="8273"/>
                        <a14:foregroundMark x1="34586" y1="15108" x2="34586" y2="15108"/>
                        <a14:foregroundMark x1="33083" y1="12950" x2="33083" y2="12950"/>
                        <a14:foregroundMark x1="53383" y1="16906" x2="53383" y2="16906"/>
                        <a14:foregroundMark x1="66165" y1="24460" x2="66165" y2="24460"/>
                        <a14:foregroundMark x1="44361" y1="20504" x2="44361" y2="20504"/>
                        <a14:foregroundMark x1="48120" y1="18705" x2="48120" y2="18705"/>
                        <a14:foregroundMark x1="57895" y1="27338" x2="57895" y2="27338"/>
                        <a14:foregroundMark x1="54887" y1="93885" x2="54887" y2="9388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44555" y="1053553"/>
            <a:ext cx="1102890" cy="230529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F6D0D9E-6B85-469E-B5AB-4C1260E5650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8904" b="97603" l="8527" r="89147">
                        <a14:foregroundMark x1="54264" y1="17808" x2="54264" y2="17808"/>
                        <a14:foregroundMark x1="66667" y1="25685" x2="66667" y2="25685"/>
                        <a14:foregroundMark x1="66667" y1="97945" x2="66667" y2="97945"/>
                        <a14:foregroundMark x1="33333" y1="8904" x2="33333" y2="8904"/>
                        <a14:foregroundMark x1="35659" y1="15068" x2="35659" y2="15068"/>
                        <a14:foregroundMark x1="35659" y1="11986" x2="35659" y2="11986"/>
                        <a14:foregroundMark x1="58140" y1="19178" x2="58140" y2="19178"/>
                        <a14:foregroundMark x1="46512" y1="19863" x2="46512" y2="19863"/>
                        <a14:foregroundMark x1="72868" y1="25342" x2="72868" y2="25342"/>
                        <a14:foregroundMark x1="68992" y1="21575" x2="68992" y2="21575"/>
                        <a14:foregroundMark x1="52713" y1="17808" x2="52713" y2="17808"/>
                        <a14:foregroundMark x1="53488" y1="16096" x2="53488" y2="16096"/>
                        <a14:foregroundMark x1="33333" y1="9247" x2="33333" y2="9247"/>
                        <a14:foregroundMark x1="24031" y1="9247" x2="24031" y2="9247"/>
                        <a14:foregroundMark x1="36434" y1="34589" x2="36434" y2="34589"/>
                        <a14:foregroundMark x1="38760" y1="32192" x2="38760" y2="3219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93850" y="940088"/>
            <a:ext cx="1102890" cy="2496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74684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486936"/>
            <a:ext cx="11324870" cy="3030583"/>
          </a:xfrm>
        </p:spPr>
        <p:txBody>
          <a:bodyPr>
            <a:normAutofit/>
          </a:bodyPr>
          <a:lstStyle/>
          <a:p>
            <a:r>
              <a:rPr lang="en-US" sz="2400" b="1" dirty="0">
                <a:latin typeface="Comic Sans MS" panose="030F0702030302020204" pitchFamily="66" charset="0"/>
              </a:rPr>
              <a:t>Retrieval Practice – </a:t>
            </a:r>
            <a:br>
              <a:rPr lang="en-US" sz="2400" b="1" dirty="0">
                <a:latin typeface="Comic Sans MS" panose="030F0702030302020204" pitchFamily="66" charset="0"/>
              </a:rPr>
            </a:br>
            <a:br>
              <a:rPr lang="en-US" sz="2400" b="1" dirty="0">
                <a:latin typeface="Comic Sans MS" panose="030F0702030302020204" pitchFamily="66" charset="0"/>
              </a:rPr>
            </a:br>
            <a:r>
              <a:rPr lang="en-US" sz="2400" dirty="0">
                <a:latin typeface="Comic Sans MS" panose="030F0702030302020204" pitchFamily="66" charset="0"/>
              </a:rPr>
              <a:t>On your whiteboards, write as many prepositions as you can.</a:t>
            </a:r>
            <a:br>
              <a:rPr lang="en-US" sz="2400" dirty="0">
                <a:latin typeface="Comic Sans MS" panose="030F0702030302020204" pitchFamily="66" charset="0"/>
              </a:rPr>
            </a:br>
            <a:br>
              <a:rPr lang="en-US" sz="2400" dirty="0">
                <a:latin typeface="Comic Sans MS" panose="030F0702030302020204" pitchFamily="66" charset="0"/>
              </a:rPr>
            </a:br>
            <a:r>
              <a:rPr lang="en-US" sz="2400" dirty="0">
                <a:latin typeface="Comic Sans MS" panose="030F0702030302020204" pitchFamily="66" charset="0"/>
              </a:rPr>
              <a:t>You have 30 seconds.  </a:t>
            </a:r>
          </a:p>
        </p:txBody>
      </p:sp>
      <p:sp>
        <p:nvSpPr>
          <p:cNvPr id="6" name="Rectangle 5"/>
          <p:cNvSpPr/>
          <p:nvPr/>
        </p:nvSpPr>
        <p:spPr>
          <a:xfrm>
            <a:off x="-1" y="71438"/>
            <a:ext cx="12467771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latin typeface="Comic Sans MS" panose="030F0702030302020204" pitchFamily="66" charset="0"/>
              </a:rPr>
              <a:t>WALT: </a:t>
            </a:r>
            <a:r>
              <a:rPr lang="en-US" sz="2000" dirty="0">
                <a:latin typeface="Comic Sans MS" panose="030F0702030302020204" pitchFamily="66" charset="0"/>
              </a:rPr>
              <a:t>Use an increasing range of modal forms. </a:t>
            </a:r>
            <a:endParaRPr lang="en-US" sz="2400" dirty="0">
              <a:latin typeface="Comic Sans MS" panose="030F0702030302020204" pitchFamily="66" charset="0"/>
            </a:endParaRPr>
          </a:p>
          <a:p>
            <a:r>
              <a:rPr lang="en-US" sz="2400" dirty="0">
                <a:latin typeface="Comic Sans MS" panose="030F0702030302020204" pitchFamily="66" charset="0"/>
              </a:rPr>
              <a:t>.</a:t>
            </a:r>
            <a:endParaRPr lang="en-US" sz="1400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48530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887639"/>
            <a:ext cx="10515600" cy="1325563"/>
          </a:xfrm>
        </p:spPr>
        <p:txBody>
          <a:bodyPr>
            <a:normAutofit/>
          </a:bodyPr>
          <a:lstStyle/>
          <a:p>
            <a:r>
              <a:rPr lang="en-US" b="1" dirty="0">
                <a:latin typeface="Comic Sans MS" panose="030F0702030302020204" pitchFamily="66" charset="0"/>
              </a:rPr>
              <a:t>Starter </a:t>
            </a:r>
            <a:r>
              <a:rPr lang="en-US" dirty="0">
                <a:latin typeface="Comic Sans MS" panose="030F0702030302020204" pitchFamily="66" charset="0"/>
              </a:rPr>
              <a:t>– From the prepositions, which fits best?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0286" y="2452913"/>
            <a:ext cx="11611428" cy="372404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3600" dirty="0">
                <a:latin typeface="Comic Sans MS" panose="030F0702030302020204" pitchFamily="66" charset="0"/>
              </a:rPr>
              <a:t>England is ______ to France.</a:t>
            </a:r>
          </a:p>
          <a:p>
            <a:pPr marL="0" indent="0">
              <a:buNone/>
            </a:pPr>
            <a:endParaRPr lang="en-US" sz="3600" dirty="0">
              <a:latin typeface="Comic Sans MS" panose="030F0702030302020204" pitchFamily="66" charset="0"/>
            </a:endParaRPr>
          </a:p>
          <a:p>
            <a:pPr marL="0" indent="0">
              <a:buNone/>
            </a:pPr>
            <a:r>
              <a:rPr lang="en-US" sz="3600" dirty="0">
                <a:latin typeface="Comic Sans MS" panose="030F0702030302020204" pitchFamily="66" charset="0"/>
              </a:rPr>
              <a:t>The girl ran ________ the rain.</a:t>
            </a:r>
          </a:p>
          <a:p>
            <a:pPr marL="0" indent="0">
              <a:buNone/>
            </a:pPr>
            <a:endParaRPr lang="en-US" sz="3600" dirty="0">
              <a:latin typeface="Comic Sans MS" panose="030F0702030302020204" pitchFamily="66" charset="0"/>
            </a:endParaRPr>
          </a:p>
          <a:p>
            <a:pPr marL="0" indent="0">
              <a:buNone/>
            </a:pPr>
            <a:r>
              <a:rPr lang="en-US" sz="3600" dirty="0">
                <a:latin typeface="Comic Sans MS" panose="030F0702030302020204" pitchFamily="66" charset="0"/>
              </a:rPr>
              <a:t>Vietnam is ____________ China.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1438"/>
            <a:ext cx="12192000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latin typeface="Comic Sans MS" panose="030F0702030302020204" pitchFamily="66" charset="0"/>
              </a:rPr>
              <a:t>WALT: </a:t>
            </a:r>
            <a:r>
              <a:rPr lang="en-US" sz="2400" dirty="0">
                <a:latin typeface="Comic Sans MS" panose="030F0702030302020204" pitchFamily="66" charset="0"/>
              </a:rPr>
              <a:t>Use an increasing range of modal forms. Give a sequence of instructions.</a:t>
            </a:r>
          </a:p>
          <a:p>
            <a:endParaRPr lang="en-US" sz="2800" dirty="0">
              <a:latin typeface="Comic Sans MS" panose="030F0702030302020204" pitchFamily="66" charset="0"/>
            </a:endParaRPr>
          </a:p>
          <a:p>
            <a:endParaRPr lang="en-US" sz="1400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68367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976857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Comic Sans MS" panose="030F0702030302020204" pitchFamily="66" charset="0"/>
              </a:rPr>
              <a:t>TTYP – What is a modal verb?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544671"/>
            <a:ext cx="10515600" cy="3738563"/>
          </a:xfrm>
        </p:spPr>
        <p:txBody>
          <a:bodyPr>
            <a:normAutofit fontScale="77500" lnSpcReduction="20000"/>
          </a:bodyPr>
          <a:lstStyle/>
          <a:p>
            <a:pPr marL="0" indent="0" fontAlgn="base">
              <a:buNone/>
            </a:pPr>
            <a:r>
              <a:rPr lang="en-US" sz="4000" dirty="0">
                <a:latin typeface="Comic Sans MS" panose="030F0702030302020204" pitchFamily="66" charset="0"/>
              </a:rPr>
              <a:t>Modal verbs are verbs that indicate likelihood, ability, permission or obligation.</a:t>
            </a:r>
          </a:p>
          <a:p>
            <a:pPr fontAlgn="base"/>
            <a:endParaRPr lang="en-US" sz="4000" dirty="0">
              <a:latin typeface="Comic Sans MS" panose="030F0702030302020204" pitchFamily="66" charset="0"/>
            </a:endParaRPr>
          </a:p>
          <a:p>
            <a:pPr fontAlgn="base"/>
            <a:r>
              <a:rPr lang="en-US" sz="4000" dirty="0">
                <a:latin typeface="Comic Sans MS" panose="030F0702030302020204" pitchFamily="66" charset="0"/>
              </a:rPr>
              <a:t>can/could</a:t>
            </a:r>
          </a:p>
          <a:p>
            <a:pPr fontAlgn="base"/>
            <a:r>
              <a:rPr lang="en-US" sz="4000" dirty="0">
                <a:latin typeface="Comic Sans MS" panose="030F0702030302020204" pitchFamily="66" charset="0"/>
              </a:rPr>
              <a:t>may/might</a:t>
            </a:r>
          </a:p>
          <a:p>
            <a:pPr fontAlgn="base"/>
            <a:r>
              <a:rPr lang="en-US" sz="4000" dirty="0">
                <a:latin typeface="Comic Sans MS" panose="030F0702030302020204" pitchFamily="66" charset="0"/>
              </a:rPr>
              <a:t>will/would</a:t>
            </a:r>
          </a:p>
          <a:p>
            <a:pPr fontAlgn="base"/>
            <a:r>
              <a:rPr lang="en-US" sz="4000" dirty="0">
                <a:latin typeface="Comic Sans MS" panose="030F0702030302020204" pitchFamily="66" charset="0"/>
              </a:rPr>
              <a:t>shall/should</a:t>
            </a:r>
          </a:p>
          <a:p>
            <a:pPr fontAlgn="base"/>
            <a:r>
              <a:rPr lang="en-US" sz="4000" dirty="0">
                <a:latin typeface="Comic Sans MS" panose="030F0702030302020204" pitchFamily="66" charset="0"/>
              </a:rPr>
              <a:t>must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1438"/>
            <a:ext cx="12192000" cy="8925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latin typeface="Comic Sans MS" panose="030F0702030302020204" pitchFamily="66" charset="0"/>
              </a:rPr>
              <a:t>WALT: </a:t>
            </a:r>
            <a:r>
              <a:rPr lang="en-US" sz="2400" dirty="0">
                <a:latin typeface="Comic Sans MS" panose="030F0702030302020204" pitchFamily="66" charset="0"/>
              </a:rPr>
              <a:t>Use an increasing range of modal forms. Give a sequence of instructions.</a:t>
            </a:r>
          </a:p>
          <a:p>
            <a:endParaRPr lang="en-US" sz="2800" dirty="0">
              <a:latin typeface="Comic Sans MS" panose="030F0702030302020204" pitchFamily="66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E469804-0BB2-4C71-858D-FDF84DE0AC69}"/>
              </a:ext>
            </a:extLst>
          </p:cNvPr>
          <p:cNvSpPr/>
          <p:nvPr/>
        </p:nvSpPr>
        <p:spPr>
          <a:xfrm>
            <a:off x="600891" y="2302420"/>
            <a:ext cx="10752909" cy="411144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93504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855206"/>
            <a:ext cx="10515600" cy="1325563"/>
          </a:xfrm>
        </p:spPr>
        <p:txBody>
          <a:bodyPr>
            <a:normAutofit/>
          </a:bodyPr>
          <a:lstStyle/>
          <a:p>
            <a:endParaRPr lang="en-US" sz="3200" dirty="0">
              <a:latin typeface="Comic Sans MS" panose="030F0702030302020204" pitchFamily="66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71438"/>
            <a:ext cx="12192000" cy="8925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latin typeface="Comic Sans MS" panose="030F0702030302020204" pitchFamily="66" charset="0"/>
              </a:rPr>
              <a:t>WALT: </a:t>
            </a:r>
            <a:r>
              <a:rPr lang="en-US" sz="2400" dirty="0">
                <a:latin typeface="Comic Sans MS" panose="030F0702030302020204" pitchFamily="66" charset="0"/>
              </a:rPr>
              <a:t>Use an increasing range of modal forms. Give a sequence of instructions.</a:t>
            </a:r>
          </a:p>
          <a:p>
            <a:endParaRPr lang="en-US" sz="2800" dirty="0">
              <a:latin typeface="Comic Sans MS" panose="030F0702030302020204" pitchFamily="66" charset="0"/>
            </a:endParaRP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8C70C2A5-75B3-4526-885D-F758F40EB99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59827" y="689139"/>
            <a:ext cx="8072346" cy="2983259"/>
          </a:xfrm>
        </p:spPr>
      </p:pic>
    </p:spTree>
    <p:extLst>
      <p:ext uri="{BB962C8B-B14F-4D97-AF65-F5344CB8AC3E}">
        <p14:creationId xmlns:p14="http://schemas.microsoft.com/office/powerpoint/2010/main" val="33018194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855206"/>
            <a:ext cx="10515600" cy="1325563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Comic Sans MS" panose="030F0702030302020204" pitchFamily="66" charset="0"/>
              </a:rPr>
              <a:t>Be careful when using </a:t>
            </a:r>
            <a:r>
              <a:rPr lang="en-US" sz="3200" b="1" dirty="0">
                <a:solidFill>
                  <a:srgbClr val="FF0000"/>
                </a:solidFill>
                <a:latin typeface="Comic Sans MS" panose="030F0702030302020204" pitchFamily="66" charset="0"/>
              </a:rPr>
              <a:t>mustn’t</a:t>
            </a:r>
            <a:r>
              <a:rPr lang="en-US" sz="3200" dirty="0">
                <a:latin typeface="Comic Sans MS" panose="030F0702030302020204" pitchFamily="66" charset="0"/>
              </a:rPr>
              <a:t> and </a:t>
            </a:r>
            <a:r>
              <a:rPr lang="en-US" sz="3200" b="1" dirty="0">
                <a:solidFill>
                  <a:srgbClr val="FF0000"/>
                </a:solidFill>
                <a:latin typeface="Comic Sans MS" panose="030F0702030302020204" pitchFamily="66" charset="0"/>
              </a:rPr>
              <a:t>don’t need</a:t>
            </a:r>
            <a:r>
              <a:rPr lang="en-US" sz="3200" dirty="0">
                <a:latin typeface="Comic Sans MS" panose="030F0702030302020204" pitchFamily="66" charset="0"/>
              </a:rPr>
              <a:t>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7628" y="2587169"/>
            <a:ext cx="11426371" cy="357890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  <a:latin typeface="Comic Sans MS" panose="030F0702030302020204" pitchFamily="66" charset="0"/>
              </a:rPr>
              <a:t>Mustn’t </a:t>
            </a:r>
            <a:r>
              <a:rPr lang="en-US" dirty="0">
                <a:latin typeface="Comic Sans MS" panose="030F0702030302020204" pitchFamily="66" charset="0"/>
              </a:rPr>
              <a:t>is used to say you are not allowed to do something.</a:t>
            </a:r>
          </a:p>
          <a:p>
            <a:pPr marL="0" indent="0">
              <a:buNone/>
            </a:pPr>
            <a:r>
              <a:rPr lang="en-US" dirty="0">
                <a:latin typeface="Comic Sans MS" panose="030F0702030302020204" pitchFamily="66" charset="0"/>
              </a:rPr>
              <a:t>Example: You mustn’t run in the corridor.</a:t>
            </a:r>
          </a:p>
          <a:p>
            <a:pPr marL="0" indent="0">
              <a:buNone/>
            </a:pPr>
            <a:endParaRPr lang="en-US" dirty="0">
              <a:latin typeface="Comic Sans MS" panose="030F0702030302020204" pitchFamily="66" charset="0"/>
            </a:endParaRPr>
          </a:p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  <a:latin typeface="Comic Sans MS" panose="030F0702030302020204" pitchFamily="66" charset="0"/>
              </a:rPr>
              <a:t>Don’t need </a:t>
            </a:r>
            <a:r>
              <a:rPr lang="en-US" dirty="0">
                <a:latin typeface="Comic Sans MS" panose="030F0702030302020204" pitchFamily="66" charset="0"/>
              </a:rPr>
              <a:t>is used when you don’t have to do something but you can if you want.</a:t>
            </a:r>
          </a:p>
          <a:p>
            <a:pPr marL="0" indent="0">
              <a:buNone/>
            </a:pPr>
            <a:r>
              <a:rPr lang="en-US" dirty="0">
                <a:latin typeface="Comic Sans MS" panose="030F0702030302020204" pitchFamily="66" charset="0"/>
              </a:rPr>
              <a:t>Example: You don’t need to bring post it notes to school.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1438"/>
            <a:ext cx="12192000" cy="8925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latin typeface="Comic Sans MS" panose="030F0702030302020204" pitchFamily="66" charset="0"/>
              </a:rPr>
              <a:t>WALT: </a:t>
            </a:r>
            <a:r>
              <a:rPr lang="en-US" sz="2400" dirty="0">
                <a:latin typeface="Comic Sans MS" panose="030F0702030302020204" pitchFamily="66" charset="0"/>
              </a:rPr>
              <a:t>Use an increasing range of modal forms. Give a sequence of instructions.</a:t>
            </a:r>
          </a:p>
          <a:p>
            <a:endParaRPr lang="en-US" sz="2800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44096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855206"/>
            <a:ext cx="10515600" cy="1325563"/>
          </a:xfrm>
        </p:spPr>
        <p:txBody>
          <a:bodyPr/>
          <a:lstStyle/>
          <a:p>
            <a:r>
              <a:rPr lang="en-US" sz="4000" dirty="0">
                <a:latin typeface="Comic Sans MS" panose="030F0702030302020204" pitchFamily="66" charset="0"/>
              </a:rPr>
              <a:t>Write some advice or instructions for your partner in your notebooks.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1438"/>
            <a:ext cx="12192000" cy="8925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latin typeface="Comic Sans MS" panose="030F0702030302020204" pitchFamily="66" charset="0"/>
              </a:rPr>
              <a:t>WALT: </a:t>
            </a:r>
            <a:r>
              <a:rPr lang="en-US" sz="2400" dirty="0">
                <a:latin typeface="Comic Sans MS" panose="030F0702030302020204" pitchFamily="66" charset="0"/>
              </a:rPr>
              <a:t>Use an increasing range of modal forms. Give a sequence of instructions.</a:t>
            </a:r>
          </a:p>
          <a:p>
            <a:endParaRPr lang="en-US" sz="2800" dirty="0">
              <a:latin typeface="Comic Sans MS" panose="030F0702030302020204" pitchFamily="66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682121" y="2185806"/>
            <a:ext cx="1050987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Comic Sans MS" panose="030F0702030302020204" pitchFamily="66" charset="0"/>
              </a:rPr>
              <a:t>Use </a:t>
            </a:r>
            <a:r>
              <a:rPr lang="en-US" sz="2400" b="1" dirty="0">
                <a:solidFill>
                  <a:srgbClr val="FF0000"/>
                </a:solidFill>
                <a:latin typeface="Comic Sans MS" panose="030F0702030302020204" pitchFamily="66" charset="0"/>
              </a:rPr>
              <a:t>should</a:t>
            </a:r>
            <a:r>
              <a:rPr lang="en-US" sz="2400" dirty="0">
                <a:latin typeface="Comic Sans MS" panose="030F0702030302020204" pitchFamily="66" charset="0"/>
              </a:rPr>
              <a:t>, </a:t>
            </a:r>
            <a:r>
              <a:rPr lang="en-US" sz="2400" b="1" dirty="0">
                <a:solidFill>
                  <a:srgbClr val="FF0000"/>
                </a:solidFill>
                <a:latin typeface="Comic Sans MS" panose="030F0702030302020204" pitchFamily="66" charset="0"/>
              </a:rPr>
              <a:t>must</a:t>
            </a:r>
            <a:r>
              <a:rPr lang="en-US" sz="2400" dirty="0">
                <a:latin typeface="Comic Sans MS" panose="030F0702030302020204" pitchFamily="66" charset="0"/>
              </a:rPr>
              <a:t> and </a:t>
            </a:r>
            <a:r>
              <a:rPr lang="en-US" sz="2400" b="1" dirty="0">
                <a:solidFill>
                  <a:srgbClr val="FF0000"/>
                </a:solidFill>
                <a:latin typeface="Comic Sans MS" panose="030F0702030302020204" pitchFamily="66" charset="0"/>
              </a:rPr>
              <a:t>need</a:t>
            </a:r>
            <a:r>
              <a:rPr lang="en-US" sz="2400" dirty="0">
                <a:latin typeface="Comic Sans MS" panose="030F0702030302020204" pitchFamily="66" charset="0"/>
              </a:rPr>
              <a:t> to give a sequence of advice or instructions.</a:t>
            </a:r>
          </a:p>
          <a:p>
            <a:r>
              <a:rPr lang="en-US" sz="2400" b="1" dirty="0">
                <a:latin typeface="Comic Sans MS" panose="030F0702030302020204" pitchFamily="66" charset="0"/>
              </a:rPr>
              <a:t>Example:</a:t>
            </a:r>
            <a:r>
              <a:rPr lang="en-US" sz="2400" dirty="0">
                <a:latin typeface="Comic Sans MS" panose="030F0702030302020204" pitchFamily="66" charset="0"/>
              </a:rPr>
              <a:t> You need to brush your teeth twice a day.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82120" y="3780298"/>
            <a:ext cx="1050987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Comic Sans MS" panose="030F0702030302020204" pitchFamily="66" charset="0"/>
              </a:rPr>
              <a:t>Include </a:t>
            </a:r>
            <a:r>
              <a:rPr lang="en-US" sz="2400" b="1" dirty="0">
                <a:solidFill>
                  <a:srgbClr val="FF0000"/>
                </a:solidFill>
                <a:latin typeface="Comic Sans MS" panose="030F0702030302020204" pitchFamily="66" charset="0"/>
              </a:rPr>
              <a:t>shouldn’t</a:t>
            </a:r>
            <a:r>
              <a:rPr lang="en-US" sz="2400" dirty="0">
                <a:latin typeface="Comic Sans MS" panose="030F0702030302020204" pitchFamily="66" charset="0"/>
              </a:rPr>
              <a:t>, </a:t>
            </a:r>
            <a:r>
              <a:rPr lang="en-US" sz="2400" b="1" dirty="0">
                <a:solidFill>
                  <a:srgbClr val="FF0000"/>
                </a:solidFill>
                <a:latin typeface="Comic Sans MS" panose="030F0702030302020204" pitchFamily="66" charset="0"/>
              </a:rPr>
              <a:t>mustn’t</a:t>
            </a:r>
            <a:r>
              <a:rPr lang="en-US" sz="2400" dirty="0">
                <a:latin typeface="Comic Sans MS" panose="030F0702030302020204" pitchFamily="66" charset="0"/>
              </a:rPr>
              <a:t> and </a:t>
            </a:r>
            <a:r>
              <a:rPr lang="en-US" sz="2400" b="1" dirty="0">
                <a:solidFill>
                  <a:srgbClr val="FF0000"/>
                </a:solidFill>
                <a:latin typeface="Comic Sans MS" panose="030F0702030302020204" pitchFamily="66" charset="0"/>
              </a:rPr>
              <a:t>don’t need </a:t>
            </a:r>
            <a:r>
              <a:rPr lang="en-US" sz="2400" dirty="0">
                <a:latin typeface="Comic Sans MS" panose="030F0702030302020204" pitchFamily="66" charset="0"/>
              </a:rPr>
              <a:t>in your advice or instructions.</a:t>
            </a:r>
          </a:p>
          <a:p>
            <a:r>
              <a:rPr lang="en-US" sz="2400" b="1" dirty="0">
                <a:latin typeface="Comic Sans MS" panose="030F0702030302020204" pitchFamily="66" charset="0"/>
              </a:rPr>
              <a:t>Example:</a:t>
            </a:r>
            <a:r>
              <a:rPr lang="en-US" sz="2400" dirty="0">
                <a:latin typeface="Comic Sans MS" panose="030F0702030302020204" pitchFamily="66" charset="0"/>
              </a:rPr>
              <a:t> You </a:t>
            </a:r>
            <a:r>
              <a:rPr lang="en-US" sz="2400" b="1" dirty="0">
                <a:solidFill>
                  <a:srgbClr val="FF0000"/>
                </a:solidFill>
                <a:latin typeface="Comic Sans MS" panose="030F0702030302020204" pitchFamily="66" charset="0"/>
              </a:rPr>
              <a:t>shouldn’t </a:t>
            </a:r>
            <a:r>
              <a:rPr lang="en-US" sz="2400" dirty="0">
                <a:latin typeface="Comic Sans MS" panose="030F0702030302020204" pitchFamily="66" charset="0"/>
              </a:rPr>
              <a:t>eat too much chocolate.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82119" y="5283482"/>
            <a:ext cx="1050987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Comic Sans MS" panose="030F0702030302020204" pitchFamily="66" charset="0"/>
              </a:rPr>
              <a:t>Give reasons for your advice or instructions.</a:t>
            </a:r>
          </a:p>
          <a:p>
            <a:r>
              <a:rPr lang="en-US" sz="2400" b="1" dirty="0">
                <a:latin typeface="Comic Sans MS" panose="030F0702030302020204" pitchFamily="66" charset="0"/>
              </a:rPr>
              <a:t>Example:</a:t>
            </a:r>
            <a:r>
              <a:rPr lang="en-US" sz="2400" dirty="0">
                <a:latin typeface="Comic Sans MS" panose="030F0702030302020204" pitchFamily="66" charset="0"/>
              </a:rPr>
              <a:t> You </a:t>
            </a:r>
            <a:r>
              <a:rPr lang="en-US" sz="2400" b="1" dirty="0">
                <a:solidFill>
                  <a:srgbClr val="FF0000"/>
                </a:solidFill>
                <a:latin typeface="Comic Sans MS" panose="030F0702030302020204" pitchFamily="66" charset="0"/>
              </a:rPr>
              <a:t>should </a:t>
            </a:r>
            <a:r>
              <a:rPr lang="en-US" sz="2400" dirty="0">
                <a:latin typeface="Comic Sans MS" panose="030F0702030302020204" pitchFamily="66" charset="0"/>
              </a:rPr>
              <a:t>exercise every day to make your body fit and strong..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3577D4A-A761-4E90-A17B-69A6EEF068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709" b="92718" l="9346" r="89720">
                        <a14:foregroundMark x1="44860" y1="92718" x2="44860" y2="9271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22470" y="1852565"/>
            <a:ext cx="688521" cy="132556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3C3A94C-3813-43C8-A878-54113A668EA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7914" b="93885" l="9023" r="89474">
                        <a14:foregroundMark x1="31579" y1="8273" x2="31579" y2="8273"/>
                        <a14:foregroundMark x1="34586" y1="15108" x2="34586" y2="15108"/>
                        <a14:foregroundMark x1="33083" y1="12950" x2="33083" y2="12950"/>
                        <a14:foregroundMark x1="53383" y1="16906" x2="53383" y2="16906"/>
                        <a14:foregroundMark x1="66165" y1="24460" x2="66165" y2="24460"/>
                        <a14:foregroundMark x1="44361" y1="20504" x2="44361" y2="20504"/>
                        <a14:foregroundMark x1="48120" y1="18705" x2="48120" y2="18705"/>
                        <a14:foregroundMark x1="57895" y1="27338" x2="57895" y2="27338"/>
                        <a14:foregroundMark x1="54887" y1="93885" x2="54887" y2="9388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3246197"/>
            <a:ext cx="688521" cy="143916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A933CF7-CED2-468A-B340-41BE040B05B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8904" b="97603" l="8527" r="89147">
                        <a14:foregroundMark x1="54264" y1="17808" x2="54264" y2="17808"/>
                        <a14:foregroundMark x1="66667" y1="25685" x2="66667" y2="25685"/>
                        <a14:foregroundMark x1="66667" y1="97945" x2="66667" y2="97945"/>
                        <a14:foregroundMark x1="33333" y1="8904" x2="33333" y2="8904"/>
                        <a14:foregroundMark x1="35659" y1="15068" x2="35659" y2="15068"/>
                        <a14:foregroundMark x1="35659" y1="11986" x2="35659" y2="11986"/>
                        <a14:foregroundMark x1="58140" y1="19178" x2="58140" y2="19178"/>
                        <a14:foregroundMark x1="46512" y1="19863" x2="46512" y2="19863"/>
                        <a14:foregroundMark x1="72868" y1="25342" x2="72868" y2="25342"/>
                        <a14:foregroundMark x1="68992" y1="21575" x2="68992" y2="21575"/>
                        <a14:foregroundMark x1="52713" y1="17808" x2="52713" y2="17808"/>
                        <a14:foregroundMark x1="53488" y1="16096" x2="53488" y2="16096"/>
                        <a14:foregroundMark x1="33333" y1="9247" x2="33333" y2="9247"/>
                        <a14:foregroundMark x1="24031" y1="9247" x2="24031" y2="9247"/>
                        <a14:foregroundMark x1="36434" y1="34589" x2="36434" y2="34589"/>
                        <a14:foregroundMark x1="38760" y1="32192" x2="38760" y2="3219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4589" y="4971534"/>
            <a:ext cx="688521" cy="1558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7068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204716" y="234752"/>
            <a:ext cx="11715676" cy="10034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>
                <a:latin typeface="Comic Sans MS" panose="030F0702030302020204" pitchFamily="66" charset="0"/>
              </a:rPr>
              <a:t>WALT: </a:t>
            </a:r>
            <a:r>
              <a:rPr lang="en-US" dirty="0">
                <a:latin typeface="Comic Sans MS" panose="030F0702030302020204" pitchFamily="66" charset="0"/>
              </a:rPr>
              <a:t>Use an increasing range of modal forms. Give a sequence of instructions.</a:t>
            </a:r>
          </a:p>
          <a:p>
            <a:pPr marL="0" indent="0">
              <a:buNone/>
            </a:pPr>
            <a:endParaRPr lang="en-US" dirty="0">
              <a:latin typeface="Comic Sans MS" panose="030F0702030302020204" pitchFamily="66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52697" y="3526971"/>
            <a:ext cx="3435532" cy="2155372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b="1" dirty="0">
              <a:latin typeface="Comic Sans MS" panose="030F0702030302020204" pitchFamily="66" charset="0"/>
            </a:endParaRPr>
          </a:p>
          <a:p>
            <a:pPr algn="ctr"/>
            <a:r>
              <a:rPr lang="en-US" sz="2800" b="1" dirty="0">
                <a:latin typeface="Comic Sans MS" panose="030F0702030302020204" pitchFamily="66" charset="0"/>
              </a:rPr>
              <a:t>I can use “should”, “must” and “need to” give advice or instructions.</a:t>
            </a:r>
          </a:p>
          <a:p>
            <a:pPr algn="ctr"/>
            <a:r>
              <a:rPr lang="en-US" sz="2400" b="1" dirty="0">
                <a:latin typeface="Comic Sans MS" panose="030F0702030302020204" pitchFamily="66" charset="0"/>
              </a:rPr>
              <a:t> </a:t>
            </a:r>
          </a:p>
        </p:txBody>
      </p:sp>
      <p:sp>
        <p:nvSpPr>
          <p:cNvPr id="8" name="Rectangle 7"/>
          <p:cNvSpPr/>
          <p:nvPr/>
        </p:nvSpPr>
        <p:spPr>
          <a:xfrm>
            <a:off x="4480560" y="3526971"/>
            <a:ext cx="3396343" cy="2155372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  <a:latin typeface="Comic Sans MS" panose="030F0702030302020204" pitchFamily="66" charset="0"/>
              </a:rPr>
              <a:t>I can use “shouldn’t”, “mustn’t” and “don’t need” to give advice or instructions.</a:t>
            </a:r>
          </a:p>
          <a:p>
            <a:pPr algn="ctr"/>
            <a:endParaRPr lang="en-US" sz="2400" b="1" dirty="0">
              <a:solidFill>
                <a:schemeClr val="tx1"/>
              </a:solidFill>
              <a:latin typeface="Comic Sans MS" panose="030F0702030302020204" pitchFamily="66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8524049" y="3526971"/>
            <a:ext cx="3396343" cy="2155372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tx1"/>
                </a:solidFill>
                <a:latin typeface="Comic Sans MS" panose="030F0702030302020204" pitchFamily="66" charset="0"/>
              </a:rPr>
              <a:t>I can give reasons for my advice or instructions.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69234" y="3523282"/>
            <a:ext cx="32210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b="1" dirty="0">
              <a:latin typeface="Comic Sans MS" panose="030F0702030302020204" pitchFamily="66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37C770C-7C88-4141-985F-2BDAEADA3D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709" b="92718" l="9346" r="89720">
                        <a14:foregroundMark x1="44860" y1="92718" x2="44860" y2="9271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320662" y="1313232"/>
            <a:ext cx="1102890" cy="212332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D00FFCE-9211-47E7-B4DE-0FD88979052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7914" b="93885" l="9023" r="89474">
                        <a14:foregroundMark x1="31579" y1="8273" x2="31579" y2="8273"/>
                        <a14:foregroundMark x1="34586" y1="15108" x2="34586" y2="15108"/>
                        <a14:foregroundMark x1="33083" y1="12950" x2="33083" y2="12950"/>
                        <a14:foregroundMark x1="53383" y1="16906" x2="53383" y2="16906"/>
                        <a14:foregroundMark x1="66165" y1="24460" x2="66165" y2="24460"/>
                        <a14:foregroundMark x1="44361" y1="20504" x2="44361" y2="20504"/>
                        <a14:foregroundMark x1="48120" y1="18705" x2="48120" y2="18705"/>
                        <a14:foregroundMark x1="57895" y1="27338" x2="57895" y2="27338"/>
                        <a14:foregroundMark x1="54887" y1="93885" x2="54887" y2="9388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44555" y="1053553"/>
            <a:ext cx="1102890" cy="230529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5DCEA2C-5A5F-4B34-9ABE-55D487BCA60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8904" b="97603" l="8527" r="89147">
                        <a14:foregroundMark x1="54264" y1="17808" x2="54264" y2="17808"/>
                        <a14:foregroundMark x1="66667" y1="25685" x2="66667" y2="25685"/>
                        <a14:foregroundMark x1="66667" y1="97945" x2="66667" y2="97945"/>
                        <a14:foregroundMark x1="33333" y1="8904" x2="33333" y2="8904"/>
                        <a14:foregroundMark x1="35659" y1="15068" x2="35659" y2="15068"/>
                        <a14:foregroundMark x1="35659" y1="11986" x2="35659" y2="11986"/>
                        <a14:foregroundMark x1="58140" y1="19178" x2="58140" y2="19178"/>
                        <a14:foregroundMark x1="46512" y1="19863" x2="46512" y2="19863"/>
                        <a14:foregroundMark x1="72868" y1="25342" x2="72868" y2="25342"/>
                        <a14:foregroundMark x1="68992" y1="21575" x2="68992" y2="21575"/>
                        <a14:foregroundMark x1="52713" y1="17808" x2="52713" y2="17808"/>
                        <a14:foregroundMark x1="53488" y1="16096" x2="53488" y2="16096"/>
                        <a14:foregroundMark x1="33333" y1="9247" x2="33333" y2="9247"/>
                        <a14:foregroundMark x1="24031" y1="9247" x2="24031" y2="9247"/>
                        <a14:foregroundMark x1="36434" y1="34589" x2="36434" y2="34589"/>
                        <a14:foregroundMark x1="38760" y1="32192" x2="38760" y2="3219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93850" y="940088"/>
            <a:ext cx="1102890" cy="2496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19639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887639"/>
            <a:ext cx="10515600" cy="1325563"/>
          </a:xfrm>
        </p:spPr>
        <p:txBody>
          <a:bodyPr>
            <a:normAutofit/>
          </a:bodyPr>
          <a:lstStyle/>
          <a:p>
            <a:r>
              <a:rPr lang="en-US" b="1" dirty="0">
                <a:latin typeface="Comic Sans MS" panose="030F0702030302020204" pitchFamily="66" charset="0"/>
              </a:rPr>
              <a:t>Plenary</a:t>
            </a:r>
            <a:endParaRPr lang="en-US" dirty="0">
              <a:latin typeface="Comic Sans MS" panose="030F0702030302020204" pitchFamily="66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0286" y="2452913"/>
            <a:ext cx="11611428" cy="372404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3600" dirty="0">
                <a:latin typeface="Comic Sans MS" panose="030F0702030302020204" pitchFamily="66" charset="0"/>
              </a:rPr>
              <a:t>Share your sentences with your partner.</a:t>
            </a:r>
          </a:p>
          <a:p>
            <a:pPr marL="0" indent="0">
              <a:buNone/>
            </a:pPr>
            <a:r>
              <a:rPr lang="en-US" sz="3600" dirty="0">
                <a:latin typeface="Comic Sans MS" panose="030F0702030302020204" pitchFamily="66" charset="0"/>
              </a:rPr>
              <a:t>Can you spot their modal verbs?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1438"/>
            <a:ext cx="12192000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latin typeface="Comic Sans MS" panose="030F0702030302020204" pitchFamily="66" charset="0"/>
              </a:rPr>
              <a:t>WALT: </a:t>
            </a:r>
            <a:r>
              <a:rPr lang="en-US" sz="2400" dirty="0">
                <a:latin typeface="Comic Sans MS" panose="030F0702030302020204" pitchFamily="66" charset="0"/>
              </a:rPr>
              <a:t>Use an increasing range of modal forms. Give a sequence of instructions.</a:t>
            </a:r>
          </a:p>
          <a:p>
            <a:endParaRPr lang="en-US" sz="2800" dirty="0">
              <a:latin typeface="Comic Sans MS" panose="030F0702030302020204" pitchFamily="66" charset="0"/>
            </a:endParaRPr>
          </a:p>
          <a:p>
            <a:endParaRPr lang="en-US" sz="1400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23501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1132</TotalTime>
  <Words>499</Words>
  <Application>Microsoft Office PowerPoint</Application>
  <PresentationFormat>Widescreen</PresentationFormat>
  <Paragraphs>55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Comic Sans MS</vt:lpstr>
      <vt:lpstr>Office Theme</vt:lpstr>
      <vt:lpstr>English </vt:lpstr>
      <vt:lpstr>PowerPoint Presentation</vt:lpstr>
      <vt:lpstr>Retrieval Practice –   On your whiteboards, write as many prepositions as you can.  You have 30 seconds.  </vt:lpstr>
      <vt:lpstr>Starter – From the prepositions, which fits best?</vt:lpstr>
      <vt:lpstr>TTYP – What is a modal verb?</vt:lpstr>
      <vt:lpstr>PowerPoint Presentation</vt:lpstr>
      <vt:lpstr>Be careful when using mustn’t and don’t need.</vt:lpstr>
      <vt:lpstr>Write some advice or instructions for your partner in your notebooks.</vt:lpstr>
      <vt:lpstr>PowerPoint Presentation</vt:lpstr>
      <vt:lpstr>Plenary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English</dc:title>
  <dc:creator>Jonathan Michael Holliday (VSC-KTiH-MB)</dc:creator>
  <cp:lastModifiedBy>Colette</cp:lastModifiedBy>
  <cp:revision>15</cp:revision>
  <dcterms:created xsi:type="dcterms:W3CDTF">2024-09-17T06:39:22Z</dcterms:created>
  <dcterms:modified xsi:type="dcterms:W3CDTF">2025-09-23T15:08:05Z</dcterms:modified>
</cp:coreProperties>
</file>