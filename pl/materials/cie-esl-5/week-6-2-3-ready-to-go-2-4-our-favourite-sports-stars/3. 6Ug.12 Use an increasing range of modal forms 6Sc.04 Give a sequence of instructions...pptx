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30" d="100"/>
          <a:sy n="30" d="100"/>
        </p:scale>
        <p:origin x="1328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3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4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1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9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6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F66C-F995-42F6-8555-7C8CE149D69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3083C-46D0-47F2-9F7C-3A8FCDBA7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5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bc.co.uk/bitesize/articles/zps4pbk#znyxyw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990125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6Ug.12 </a:t>
            </a:r>
            <a:r>
              <a:rPr lang="en-US" sz="4400" dirty="0">
                <a:latin typeface="Comic Sans MS" panose="030F0702030302020204" pitchFamily="66" charset="0"/>
              </a:rPr>
              <a:t>Use an increasing range of modal forms.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6Sc.04</a:t>
            </a:r>
            <a:r>
              <a:rPr lang="en-US" sz="4400" dirty="0">
                <a:latin typeface="Comic Sans MS" panose="030F0702030302020204" pitchFamily="66" charset="0"/>
              </a:rPr>
              <a:t> Give a sequence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866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28475-F04A-4EAC-AAA7-AE7C54AC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11BF37-7230-4FD6-B3A4-41E4DC355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6D0D9E-6B85-469E-B5AB-4C1260E565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6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79" y="783771"/>
            <a:ext cx="11324870" cy="90455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 – </a:t>
            </a:r>
            <a:r>
              <a:rPr lang="en-US" sz="2400" dirty="0">
                <a:latin typeface="Comic Sans MS" panose="030F0702030302020204" pitchFamily="66" charset="0"/>
              </a:rPr>
              <a:t>Write the missing words on your whiteboard.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71438"/>
            <a:ext cx="124677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09" y="1419367"/>
            <a:ext cx="6587374" cy="5276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72283" y="3545975"/>
            <a:ext cx="50346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https://englishpracticetest.net/practice-listening-test-for-b1-with-answer-and-audioscript-test-01/</a:t>
            </a:r>
          </a:p>
        </p:txBody>
      </p:sp>
    </p:spTree>
    <p:extLst>
      <p:ext uri="{BB962C8B-B14F-4D97-AF65-F5344CB8AC3E}">
        <p14:creationId xmlns:p14="http://schemas.microsoft.com/office/powerpoint/2010/main" val="107485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Correct these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We need doing sports to keep fit.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should happy because you will make friends.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must very healthy.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3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</a:t>
            </a:r>
            <a:r>
              <a:rPr lang="en-US" dirty="0">
                <a:latin typeface="Comic Sans MS" panose="030F0702030302020204" pitchFamily="66" charset="0"/>
              </a:rPr>
              <a:t>– Correct these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2452913"/>
            <a:ext cx="11611428" cy="3724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We need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do </a:t>
            </a:r>
            <a:r>
              <a:rPr lang="en-US" sz="3600" dirty="0">
                <a:latin typeface="Comic Sans MS" panose="030F0702030302020204" pitchFamily="66" charset="0"/>
              </a:rPr>
              <a:t>sports to keep fit.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should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 </a:t>
            </a:r>
            <a:r>
              <a:rPr lang="en-US" sz="3600" dirty="0">
                <a:latin typeface="Comic Sans MS" panose="030F0702030302020204" pitchFamily="66" charset="0"/>
              </a:rPr>
              <a:t>happy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3600" dirty="0">
                <a:latin typeface="Comic Sans MS" panose="030F0702030302020204" pitchFamily="66" charset="0"/>
              </a:rPr>
              <a:t>because you will make friends.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You must 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</a:t>
            </a:r>
            <a:r>
              <a:rPr lang="en-US" sz="3600" dirty="0">
                <a:latin typeface="Comic Sans MS" panose="030F0702030302020204" pitchFamily="66" charset="0"/>
              </a:rPr>
              <a:t> very healthy.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3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68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What is the difference between </a:t>
            </a:r>
            <a:r>
              <a:rPr lang="en-US" sz="4000" b="1" dirty="0">
                <a:latin typeface="Comic Sans MS" panose="030F0702030302020204" pitchFamily="66" charset="0"/>
              </a:rPr>
              <a:t>advice </a:t>
            </a:r>
            <a:r>
              <a:rPr lang="en-US" sz="4000" dirty="0">
                <a:latin typeface="Comic Sans MS" panose="030F0702030302020204" pitchFamily="66" charset="0"/>
              </a:rPr>
              <a:t>and </a:t>
            </a:r>
            <a:r>
              <a:rPr lang="en-US" sz="4000" b="1" dirty="0">
                <a:latin typeface="Comic Sans MS" panose="030F0702030302020204" pitchFamily="66" charset="0"/>
              </a:rPr>
              <a:t>instructions</a:t>
            </a:r>
            <a:r>
              <a:rPr lang="en-US" sz="4000" dirty="0">
                <a:latin typeface="Comic Sans MS" panose="030F0702030302020204" pitchFamily="66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119437"/>
            <a:ext cx="10515600" cy="373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Advice</a:t>
            </a:r>
            <a:r>
              <a:rPr lang="en-US" sz="4000" dirty="0">
                <a:latin typeface="Comic Sans MS" panose="030F0702030302020204" pitchFamily="66" charset="0"/>
              </a:rPr>
              <a:t> is guidance or recommendations. 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Instructions</a:t>
            </a:r>
            <a:r>
              <a:rPr lang="en-US" sz="4000" dirty="0">
                <a:latin typeface="Comic Sans MS" panose="030F0702030302020204" pitchFamily="66" charset="0"/>
              </a:rPr>
              <a:t> are directions or orders.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35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543" y="1259568"/>
            <a:ext cx="10515600" cy="2499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When we give advice we use “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”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Example: </a:t>
            </a: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 do your homework the day you get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600" y="4339771"/>
            <a:ext cx="9811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You don’t </a:t>
            </a:r>
            <a:r>
              <a:rPr lang="en-US" sz="2800" b="1" dirty="0">
                <a:latin typeface="Comic Sans MS" panose="030F0702030302020204" pitchFamily="66" charset="0"/>
              </a:rPr>
              <a:t>have</a:t>
            </a:r>
            <a:r>
              <a:rPr lang="en-US" sz="2800" dirty="0">
                <a:latin typeface="Comic Sans MS" panose="030F0702030302020204" pitchFamily="66" charset="0"/>
              </a:rPr>
              <a:t> to do your homework the day you get it, but it would be a good idea because then its out the way and you wont forget about it.</a:t>
            </a:r>
          </a:p>
        </p:txBody>
      </p:sp>
    </p:spTree>
    <p:extLst>
      <p:ext uri="{BB962C8B-B14F-4D97-AF65-F5344CB8AC3E}">
        <p14:creationId xmlns:p14="http://schemas.microsoft.com/office/powerpoint/2010/main" val="75972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543" y="1259568"/>
            <a:ext cx="10515600" cy="2499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When we give instructions we use “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dirty="0">
                <a:latin typeface="Comic Sans MS" panose="030F0702030302020204" pitchFamily="66" charset="0"/>
              </a:rPr>
              <a:t>” or “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dirty="0">
                <a:latin typeface="Comic Sans MS" panose="030F0702030302020204" pitchFamily="66" charset="0"/>
              </a:rPr>
              <a:t>”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Example: </a:t>
            </a:r>
            <a:r>
              <a:rPr lang="en-US" dirty="0">
                <a:latin typeface="Comic Sans MS" panose="030F0702030302020204" pitchFamily="66" charset="0"/>
              </a:rPr>
              <a:t>You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dirty="0">
                <a:latin typeface="Comic Sans MS" panose="030F0702030302020204" pitchFamily="66" charset="0"/>
              </a:rPr>
              <a:t> do your homework before Friday.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        You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to</a:t>
            </a:r>
            <a:r>
              <a:rPr lang="en-US" dirty="0">
                <a:latin typeface="Comic Sans MS" panose="030F0702030302020204" pitchFamily="66" charset="0"/>
              </a:rPr>
              <a:t> do you homework before Friday.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0115" y="4702628"/>
            <a:ext cx="981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This is a rule. You </a:t>
            </a:r>
            <a:r>
              <a:rPr lang="en-US" sz="2800" b="1" dirty="0">
                <a:latin typeface="Comic Sans MS" panose="030F0702030302020204" pitchFamily="66" charset="0"/>
              </a:rPr>
              <a:t>have</a:t>
            </a:r>
            <a:r>
              <a:rPr lang="en-US" sz="2800" dirty="0">
                <a:latin typeface="Comic Sans MS" panose="030F0702030302020204" pitchFamily="66" charset="0"/>
              </a:rPr>
              <a:t> to do it.</a:t>
            </a:r>
          </a:p>
        </p:txBody>
      </p:sp>
    </p:spTree>
    <p:extLst>
      <p:ext uri="{BB962C8B-B14F-4D97-AF65-F5344CB8AC3E}">
        <p14:creationId xmlns:p14="http://schemas.microsoft.com/office/powerpoint/2010/main" val="347468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1D3658-4521-43E8-934F-7D12B999C6A0}"/>
              </a:ext>
            </a:extLst>
          </p:cNvPr>
          <p:cNvSpPr/>
          <p:nvPr/>
        </p:nvSpPr>
        <p:spPr>
          <a:xfrm>
            <a:off x="6953693" y="2317898"/>
            <a:ext cx="5016796" cy="2668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511" y="646614"/>
            <a:ext cx="981165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Modal Verbs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Modal verbs are verbs that indicate likelihood, ability, permission or obligation.</a:t>
            </a:r>
          </a:p>
          <a:p>
            <a:pPr fontAlgn="base"/>
            <a:endParaRPr lang="en-US" sz="2400" dirty="0">
              <a:latin typeface="Comic Sans MS" panose="030F0702030302020204" pitchFamily="66" charset="0"/>
            </a:endParaRP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can/could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may/might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will/would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shall/should</a:t>
            </a:r>
          </a:p>
          <a:p>
            <a:pPr fontAlgn="base"/>
            <a:r>
              <a:rPr lang="en-US" sz="2400" dirty="0">
                <a:latin typeface="Comic Sans MS" panose="030F0702030302020204" pitchFamily="66" charset="0"/>
              </a:rPr>
              <a:t>must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BEA2A-5D89-4F1F-9962-2CFA13E6D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67" y="5941008"/>
            <a:ext cx="10515600" cy="104516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https://www.bbc.co.uk/bitesize/articles/zps4pbk#znyxywx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43156-8A63-4774-A129-850D8BF16477}"/>
              </a:ext>
            </a:extLst>
          </p:cNvPr>
          <p:cNvSpPr txBox="1"/>
          <p:nvPr/>
        </p:nvSpPr>
        <p:spPr>
          <a:xfrm>
            <a:off x="7145079" y="2508981"/>
            <a:ext cx="46960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2400" dirty="0">
                <a:latin typeface="Comic Sans MS" panose="030F0702030302020204" pitchFamily="66" charset="0"/>
              </a:rPr>
              <a:t>The sea monster </a:t>
            </a:r>
            <a:r>
              <a:rPr lang="en-US" sz="2400" i="1" u="sng" dirty="0">
                <a:latin typeface="Comic Sans MS" panose="030F0702030302020204" pitchFamily="66" charset="0"/>
              </a:rPr>
              <a:t>should</a:t>
            </a:r>
            <a:r>
              <a:rPr lang="en-US" sz="2400" dirty="0">
                <a:latin typeface="Comic Sans MS" panose="030F0702030302020204" pitchFamily="66" charset="0"/>
              </a:rPr>
              <a:t> go away.</a:t>
            </a:r>
          </a:p>
          <a:p>
            <a:pPr algn="ctr" fontAlgn="base"/>
            <a:r>
              <a:rPr lang="en-US" sz="2400" dirty="0">
                <a:latin typeface="Comic Sans MS" panose="030F0702030302020204" pitchFamily="66" charset="0"/>
              </a:rPr>
              <a:t>In this sentence 'should' is the modal verb as it indicates the likelihood of the sea monster going away.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0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You can also use the negative form of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3200" dirty="0">
                <a:latin typeface="Comic Sans MS" panose="030F0702030302020204" pitchFamily="66" charset="0"/>
              </a:rPr>
              <a:t>,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2" y="2180769"/>
            <a:ext cx="11426371" cy="35789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</a:t>
            </a:r>
            <a:r>
              <a:rPr lang="en-US" sz="3200" dirty="0">
                <a:latin typeface="Comic Sans MS" panose="030F0702030302020204" pitchFamily="66" charset="0"/>
              </a:rPr>
              <a:t> leave your homework to the last minute.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3200" dirty="0">
                <a:latin typeface="Comic Sans MS" panose="030F0702030302020204" pitchFamily="66" charset="0"/>
              </a:rPr>
              <a:t> lie to your parents.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sz="3200" dirty="0">
                <a:latin typeface="Comic Sans MS" panose="030F0702030302020204" pitchFamily="66" charset="0"/>
              </a:rPr>
              <a:t>to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>
                <a:latin typeface="Comic Sans MS" panose="030F0702030302020204" pitchFamily="66" charset="0"/>
              </a:rPr>
              <a:t>do all of the optional activities.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1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Be careful when using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628" y="2587169"/>
            <a:ext cx="11426371" cy="3578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 </a:t>
            </a:r>
            <a:r>
              <a:rPr lang="en-US" dirty="0">
                <a:latin typeface="Comic Sans MS" panose="030F0702030302020204" pitchFamily="66" charset="0"/>
              </a:rPr>
              <a:t>is used to say you are not allowed to do something.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mustn’t run in the corridor.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dirty="0">
                <a:latin typeface="Comic Sans MS" panose="030F0702030302020204" pitchFamily="66" charset="0"/>
              </a:rPr>
              <a:t>is used when you don’t have to do something but you can if you want.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Example: You don’t need to bring post it notes to school.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09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5206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Give some advice or instructions to your partner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82121" y="2185806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Use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need</a:t>
            </a:r>
            <a:r>
              <a:rPr lang="en-US" sz="2400" dirty="0">
                <a:latin typeface="Comic Sans MS" panose="030F0702030302020204" pitchFamily="66" charset="0"/>
              </a:rPr>
              <a:t> to give a sequence of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need to brush your teeth twice a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120" y="3780298"/>
            <a:ext cx="105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Include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mustn’t</a:t>
            </a:r>
            <a:r>
              <a:rPr lang="en-US" sz="2400" dirty="0">
                <a:latin typeface="Comic Sans MS" panose="030F0702030302020204" pitchFamily="66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don’t need </a:t>
            </a:r>
            <a:r>
              <a:rPr lang="en-US" sz="2400" dirty="0">
                <a:latin typeface="Comic Sans MS" panose="030F0702030302020204" pitchFamily="66" charset="0"/>
              </a:rPr>
              <a:t>in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shouldn’t </a:t>
            </a:r>
            <a:r>
              <a:rPr lang="en-US" sz="2400" dirty="0">
                <a:latin typeface="Comic Sans MS" panose="030F0702030302020204" pitchFamily="66" charset="0"/>
              </a:rPr>
              <a:t>eat too much chocolate.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119" y="5283482"/>
            <a:ext cx="10509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Give reasons for your advice or instructions.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Example:</a:t>
            </a:r>
            <a:r>
              <a:rPr lang="en-US" sz="2400" dirty="0">
                <a:latin typeface="Comic Sans MS" panose="030F0702030302020204" pitchFamily="66" charset="0"/>
              </a:rPr>
              <a:t> You 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should </a:t>
            </a:r>
            <a:r>
              <a:rPr lang="en-US" sz="2400" dirty="0">
                <a:latin typeface="Comic Sans MS" panose="030F0702030302020204" pitchFamily="66" charset="0"/>
              </a:rPr>
              <a:t>exercise every day to make your body fit and strong..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577D4A-A761-4E90-A17B-69A6EEF06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470" y="1852565"/>
            <a:ext cx="688521" cy="132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3A94C-3813-43C8-A878-54113A668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46197"/>
            <a:ext cx="688521" cy="1439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933CF7-CED2-468A-B340-41BE040B0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89" y="4971534"/>
            <a:ext cx="688521" cy="15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Comic Sans MS" panose="030F0702030302020204" pitchFamily="66" charset="0"/>
            </a:endParaRP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use “should”, “must” and “need to” give advice or instructions.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give advice or instructions.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C770C-7C88-4141-985F-2BDAEADA3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00FFCE-9211-47E7-B4DE-0FD889790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DCEA2C-5A5F-4B34-9ABE-55D487BCA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6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Listen to the warm up instructions again.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754" y="3701143"/>
            <a:ext cx="10515600" cy="928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Which modal forms can you hear?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an increasing range of modal forms. Give a sequence of instructions.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51450" y="48445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809</Words>
  <Application>Microsoft Office PowerPoint</Application>
  <PresentationFormat>Widescreen</PresentationFormat>
  <Paragraphs>92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Write the missing words on your whiteboard.</vt:lpstr>
      <vt:lpstr>Starter – Correct these sentences</vt:lpstr>
      <vt:lpstr>Starter – Correct these sentences</vt:lpstr>
      <vt:lpstr>What is the difference between advice and instructions?</vt:lpstr>
      <vt:lpstr>PowerPoint Presentation</vt:lpstr>
      <vt:lpstr>PowerPoint Presentation</vt:lpstr>
      <vt:lpstr>PowerPoint Presentation</vt:lpstr>
      <vt:lpstr>You can also use the negative form of should, must and need.</vt:lpstr>
      <vt:lpstr>Be careful when using mustn’t and don’t need.</vt:lpstr>
      <vt:lpstr>Give some advice or instructions to your partner now.</vt:lpstr>
      <vt:lpstr>PowerPoint Presentation</vt:lpstr>
      <vt:lpstr>Plenary – Listen to the warm up instructions again.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12</cp:revision>
  <dcterms:created xsi:type="dcterms:W3CDTF">2024-09-17T06:39:22Z</dcterms:created>
  <dcterms:modified xsi:type="dcterms:W3CDTF">2025-09-17T01:13:26Z</dcterms:modified>
</cp:coreProperties>
</file>