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83" r:id="rId3"/>
    <p:sldId id="259" r:id="rId4"/>
    <p:sldId id="285" r:id="rId5"/>
    <p:sldId id="266" r:id="rId6"/>
    <p:sldId id="278" r:id="rId7"/>
    <p:sldId id="286" r:id="rId8"/>
    <p:sldId id="287" r:id="rId9"/>
    <p:sldId id="281" r:id="rId10"/>
    <p:sldId id="288" r:id="rId11"/>
    <p:sldId id="28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51" d="100"/>
          <a:sy n="51" d="100"/>
        </p:scale>
        <p:origin x="64"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074BD07C-10EC-49A3-9DAB-7A3BC513AAFC}"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EA41B1-8709-497F-A5A8-7AD07F1D414C}" type="slidenum">
              <a:rPr lang="en-US" smtClean="0"/>
              <a:t>‹#›</a:t>
            </a:fld>
            <a:endParaRPr lang="en-US"/>
          </a:p>
        </p:txBody>
      </p:sp>
    </p:spTree>
    <p:extLst>
      <p:ext uri="{BB962C8B-B14F-4D97-AF65-F5344CB8AC3E}">
        <p14:creationId xmlns:p14="http://schemas.microsoft.com/office/powerpoint/2010/main" val="36780281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74BD07C-10EC-49A3-9DAB-7A3BC513AAFC}"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EA41B1-8709-497F-A5A8-7AD07F1D414C}" type="slidenum">
              <a:rPr lang="en-US" smtClean="0"/>
              <a:t>‹#›</a:t>
            </a:fld>
            <a:endParaRPr lang="en-US"/>
          </a:p>
        </p:txBody>
      </p:sp>
    </p:spTree>
    <p:extLst>
      <p:ext uri="{BB962C8B-B14F-4D97-AF65-F5344CB8AC3E}">
        <p14:creationId xmlns:p14="http://schemas.microsoft.com/office/powerpoint/2010/main" val="26491022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74BD07C-10EC-49A3-9DAB-7A3BC513AAFC}"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EA41B1-8709-497F-A5A8-7AD07F1D414C}" type="slidenum">
              <a:rPr lang="en-US" smtClean="0"/>
              <a:t>‹#›</a:t>
            </a:fld>
            <a:endParaRPr lang="en-US"/>
          </a:p>
        </p:txBody>
      </p:sp>
    </p:spTree>
    <p:extLst>
      <p:ext uri="{BB962C8B-B14F-4D97-AF65-F5344CB8AC3E}">
        <p14:creationId xmlns:p14="http://schemas.microsoft.com/office/powerpoint/2010/main" val="2630500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74BD07C-10EC-49A3-9DAB-7A3BC513AAFC}"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EA41B1-8709-497F-A5A8-7AD07F1D414C}" type="slidenum">
              <a:rPr lang="en-US" smtClean="0"/>
              <a:t>‹#›</a:t>
            </a:fld>
            <a:endParaRPr lang="en-US"/>
          </a:p>
        </p:txBody>
      </p:sp>
    </p:spTree>
    <p:extLst>
      <p:ext uri="{BB962C8B-B14F-4D97-AF65-F5344CB8AC3E}">
        <p14:creationId xmlns:p14="http://schemas.microsoft.com/office/powerpoint/2010/main" val="1428420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74BD07C-10EC-49A3-9DAB-7A3BC513AAFC}" type="datetimeFigureOut">
              <a:rPr lang="en-US" smtClean="0"/>
              <a:t>9/22/2026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BEA41B1-8709-497F-A5A8-7AD07F1D414C}" type="slidenum">
              <a:rPr lang="en-US" smtClean="0"/>
              <a:t>‹#›</a:t>
            </a:fld>
            <a:endParaRPr lang="en-US"/>
          </a:p>
        </p:txBody>
      </p:sp>
    </p:spTree>
    <p:extLst>
      <p:ext uri="{BB962C8B-B14F-4D97-AF65-F5344CB8AC3E}">
        <p14:creationId xmlns:p14="http://schemas.microsoft.com/office/powerpoint/2010/main" val="9586792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74BD07C-10EC-49A3-9DAB-7A3BC513AAFC}" type="datetimeFigureOut">
              <a:rPr lang="en-US" smtClean="0"/>
              <a:t>9/22/2026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BEA41B1-8709-497F-A5A8-7AD07F1D414C}" type="slidenum">
              <a:rPr lang="en-US" smtClean="0"/>
              <a:t>‹#›</a:t>
            </a:fld>
            <a:endParaRPr lang="en-US"/>
          </a:p>
        </p:txBody>
      </p:sp>
    </p:spTree>
    <p:extLst>
      <p:ext uri="{BB962C8B-B14F-4D97-AF65-F5344CB8AC3E}">
        <p14:creationId xmlns:p14="http://schemas.microsoft.com/office/powerpoint/2010/main" val="9971429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4BD07C-10EC-49A3-9DAB-7A3BC513AAFC}" type="datetimeFigureOut">
              <a:rPr lang="en-US" smtClean="0"/>
              <a:t>9/22/2026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BEA41B1-8709-497F-A5A8-7AD07F1D414C}" type="slidenum">
              <a:rPr lang="en-US" smtClean="0"/>
              <a:t>‹#›</a:t>
            </a:fld>
            <a:endParaRPr lang="en-US"/>
          </a:p>
        </p:txBody>
      </p:sp>
    </p:spTree>
    <p:extLst>
      <p:ext uri="{BB962C8B-B14F-4D97-AF65-F5344CB8AC3E}">
        <p14:creationId xmlns:p14="http://schemas.microsoft.com/office/powerpoint/2010/main" val="23572981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74BD07C-10EC-49A3-9DAB-7A3BC513AAFC}"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EA41B1-8709-497F-A5A8-7AD07F1D414C}" type="slidenum">
              <a:rPr lang="en-US" smtClean="0"/>
              <a:t>‹#›</a:t>
            </a:fld>
            <a:endParaRPr lang="en-US"/>
          </a:p>
        </p:txBody>
      </p:sp>
    </p:spTree>
    <p:extLst>
      <p:ext uri="{BB962C8B-B14F-4D97-AF65-F5344CB8AC3E}">
        <p14:creationId xmlns:p14="http://schemas.microsoft.com/office/powerpoint/2010/main" val="15765074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74BD07C-10EC-49A3-9DAB-7A3BC513AAFC}"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EA41B1-8709-497F-A5A8-7AD07F1D414C}" type="slidenum">
              <a:rPr lang="en-US" smtClean="0"/>
              <a:t>‹#›</a:t>
            </a:fld>
            <a:endParaRPr lang="en-US"/>
          </a:p>
        </p:txBody>
      </p:sp>
    </p:spTree>
    <p:extLst>
      <p:ext uri="{BB962C8B-B14F-4D97-AF65-F5344CB8AC3E}">
        <p14:creationId xmlns:p14="http://schemas.microsoft.com/office/powerpoint/2010/main" val="6567077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74BD07C-10EC-49A3-9DAB-7A3BC513AAFC}"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EA41B1-8709-497F-A5A8-7AD07F1D414C}" type="slidenum">
              <a:rPr lang="en-US" smtClean="0"/>
              <a:t>‹#›</a:t>
            </a:fld>
            <a:endParaRPr lang="en-US"/>
          </a:p>
        </p:txBody>
      </p:sp>
    </p:spTree>
    <p:extLst>
      <p:ext uri="{BB962C8B-B14F-4D97-AF65-F5344CB8AC3E}">
        <p14:creationId xmlns:p14="http://schemas.microsoft.com/office/powerpoint/2010/main" val="29154849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74BD07C-10EC-49A3-9DAB-7A3BC513AAFC}"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EA41B1-8709-497F-A5A8-7AD07F1D414C}" type="slidenum">
              <a:rPr lang="en-US" smtClean="0"/>
              <a:t>‹#›</a:t>
            </a:fld>
            <a:endParaRPr lang="en-US"/>
          </a:p>
        </p:txBody>
      </p:sp>
    </p:spTree>
    <p:extLst>
      <p:ext uri="{BB962C8B-B14F-4D97-AF65-F5344CB8AC3E}">
        <p14:creationId xmlns:p14="http://schemas.microsoft.com/office/powerpoint/2010/main" val="1267704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4BD07C-10EC-49A3-9DAB-7A3BC513AAFC}" type="datetimeFigureOut">
              <a:rPr lang="en-US" smtClean="0"/>
              <a:t>9/22/2026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EA41B1-8709-497F-A5A8-7AD07F1D414C}" type="slidenum">
              <a:rPr lang="en-US" smtClean="0"/>
              <a:t>‹#›</a:t>
            </a:fld>
            <a:endParaRPr lang="en-US"/>
          </a:p>
        </p:txBody>
      </p:sp>
    </p:spTree>
    <p:extLst>
      <p:ext uri="{BB962C8B-B14F-4D97-AF65-F5344CB8AC3E}">
        <p14:creationId xmlns:p14="http://schemas.microsoft.com/office/powerpoint/2010/main" val="10727708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65230" y="-98475"/>
            <a:ext cx="5462954" cy="1667095"/>
          </a:xfrm>
        </p:spPr>
        <p:txBody>
          <a:bodyPr>
            <a:normAutofit/>
          </a:bodyPr>
          <a:lstStyle/>
          <a:p>
            <a:r>
              <a:rPr lang="en-US" sz="8800" dirty="0">
                <a:latin typeface="Comic Sans MS" panose="030F0702030302020204" pitchFamily="66" charset="0"/>
              </a:rPr>
              <a:t>English </a:t>
            </a:r>
          </a:p>
        </p:txBody>
      </p:sp>
      <p:sp>
        <p:nvSpPr>
          <p:cNvPr id="3" name="Subtitle 2"/>
          <p:cNvSpPr>
            <a:spLocks noGrp="1"/>
          </p:cNvSpPr>
          <p:nvPr>
            <p:ph type="subTitle" idx="1"/>
          </p:nvPr>
        </p:nvSpPr>
        <p:spPr>
          <a:xfrm>
            <a:off x="756109" y="2723652"/>
            <a:ext cx="10888525" cy="2762748"/>
          </a:xfrm>
        </p:spPr>
        <p:txBody>
          <a:bodyPr>
            <a:normAutofit lnSpcReduction="10000"/>
          </a:bodyPr>
          <a:lstStyle/>
          <a:p>
            <a:pPr algn="l"/>
            <a:endParaRPr lang="en-US" sz="4800" b="1" dirty="0">
              <a:latin typeface="Comic Sans MS" panose="030F0702030302020204" pitchFamily="66" charset="0"/>
            </a:endParaRPr>
          </a:p>
          <a:p>
            <a:pPr algn="l"/>
            <a:r>
              <a:rPr lang="en-US" sz="4800" b="1" dirty="0">
                <a:latin typeface="Comic Sans MS" panose="030F0702030302020204" pitchFamily="66" charset="0"/>
              </a:rPr>
              <a:t>WALT: </a:t>
            </a:r>
            <a:r>
              <a:rPr lang="en-US" sz="4800" dirty="0">
                <a:latin typeface="Comic Sans MS" panose="030F0702030302020204" pitchFamily="66" charset="0"/>
              </a:rPr>
              <a:t>Understand, with support most of the main points of short and extended texts.</a:t>
            </a:r>
          </a:p>
        </p:txBody>
      </p:sp>
      <p:sp>
        <p:nvSpPr>
          <p:cNvPr id="4" name="TextBox 3"/>
          <p:cNvSpPr txBox="1"/>
          <p:nvPr/>
        </p:nvSpPr>
        <p:spPr>
          <a:xfrm>
            <a:off x="9135292" y="552174"/>
            <a:ext cx="2756262" cy="400110"/>
          </a:xfrm>
          <a:prstGeom prst="rect">
            <a:avLst/>
          </a:prstGeom>
          <a:noFill/>
        </p:spPr>
        <p:txBody>
          <a:bodyPr wrap="square" rtlCol="0">
            <a:spAutoFit/>
          </a:bodyPr>
          <a:lstStyle/>
          <a:p>
            <a:r>
              <a:rPr lang="en-US" sz="2000" b="1" dirty="0">
                <a:solidFill>
                  <a:srgbClr val="FF0000"/>
                </a:solidFill>
                <a:latin typeface="Comic Sans MS" panose="030F0702030302020204" pitchFamily="66" charset="0"/>
              </a:rPr>
              <a:t>Unit 1 – My World</a:t>
            </a:r>
          </a:p>
        </p:txBody>
      </p:sp>
    </p:spTree>
    <p:extLst>
      <p:ext uri="{BB962C8B-B14F-4D97-AF65-F5344CB8AC3E}">
        <p14:creationId xmlns:p14="http://schemas.microsoft.com/office/powerpoint/2010/main" val="31180722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204716" y="234752"/>
            <a:ext cx="11987284" cy="10034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r>
              <a:rPr lang="en-US" sz="2400" b="1" dirty="0">
                <a:latin typeface="Comic Sans MS" panose="030F0702030302020204" pitchFamily="66" charset="0"/>
              </a:rPr>
              <a:t>WALT: </a:t>
            </a:r>
            <a:r>
              <a:rPr lang="en-US" sz="2400" dirty="0">
                <a:latin typeface="Comic Sans MS" panose="030F0702030302020204" pitchFamily="66" charset="0"/>
              </a:rPr>
              <a:t>Understand, with support most of the main points of short and extended texts.</a:t>
            </a:r>
          </a:p>
        </p:txBody>
      </p:sp>
      <p:sp>
        <p:nvSpPr>
          <p:cNvPr id="7" name="Rectangle 6"/>
          <p:cNvSpPr/>
          <p:nvPr/>
        </p:nvSpPr>
        <p:spPr>
          <a:xfrm>
            <a:off x="2730137" y="3711614"/>
            <a:ext cx="3435532" cy="215537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Comic Sans MS" panose="030F0702030302020204" pitchFamily="66" charset="0"/>
              </a:rPr>
              <a:t>With support, I can answer comprehension questions on a text.</a:t>
            </a:r>
          </a:p>
        </p:txBody>
      </p:sp>
      <p:sp>
        <p:nvSpPr>
          <p:cNvPr id="8" name="Rectangle 7"/>
          <p:cNvSpPr/>
          <p:nvPr/>
        </p:nvSpPr>
        <p:spPr>
          <a:xfrm>
            <a:off x="6858000" y="3711614"/>
            <a:ext cx="3396343" cy="2155372"/>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Comic Sans MS" panose="030F0702030302020204" pitchFamily="66" charset="0"/>
              </a:rPr>
              <a:t>Independently, I can answer comprehension questions on a text.</a:t>
            </a:r>
          </a:p>
        </p:txBody>
      </p:sp>
      <p:pic>
        <p:nvPicPr>
          <p:cNvPr id="10" name="Picture 9">
            <a:extLst>
              <a:ext uri="{FF2B5EF4-FFF2-40B4-BE49-F238E27FC236}">
                <a16:creationId xmlns:a16="http://schemas.microsoft.com/office/drawing/2014/main" id="{59103BA5-7B68-451C-A842-56D2DEA233D1}"/>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9709" b="92718" l="9346" r="89720">
                        <a14:foregroundMark x1="44860" y1="92718" x2="44860" y2="92718"/>
                      </a14:backgroundRemoval>
                    </a14:imgEffect>
                  </a14:imgLayer>
                </a14:imgProps>
              </a:ext>
            </a:extLst>
          </a:blip>
          <a:stretch>
            <a:fillRect/>
          </a:stretch>
        </p:blipFill>
        <p:spPr>
          <a:xfrm>
            <a:off x="3698102" y="1497875"/>
            <a:ext cx="1102890" cy="2123320"/>
          </a:xfrm>
          <a:prstGeom prst="rect">
            <a:avLst/>
          </a:prstGeom>
        </p:spPr>
      </p:pic>
      <p:pic>
        <p:nvPicPr>
          <p:cNvPr id="12" name="Picture 11">
            <a:extLst>
              <a:ext uri="{FF2B5EF4-FFF2-40B4-BE49-F238E27FC236}">
                <a16:creationId xmlns:a16="http://schemas.microsoft.com/office/drawing/2014/main" id="{F633238F-2C49-46C0-875C-8B97843002C6}"/>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7914" b="93885" l="9023" r="89474">
                        <a14:foregroundMark x1="31579" y1="8273" x2="31579" y2="8273"/>
                        <a14:foregroundMark x1="34586" y1="15108" x2="34586" y2="15108"/>
                        <a14:foregroundMark x1="33083" y1="12950" x2="33083" y2="12950"/>
                        <a14:foregroundMark x1="53383" y1="16906" x2="53383" y2="16906"/>
                        <a14:foregroundMark x1="66165" y1="24460" x2="66165" y2="24460"/>
                        <a14:foregroundMark x1="44361" y1="20504" x2="44361" y2="20504"/>
                        <a14:foregroundMark x1="48120" y1="18705" x2="48120" y2="18705"/>
                        <a14:foregroundMark x1="57895" y1="27338" x2="57895" y2="27338"/>
                        <a14:foregroundMark x1="54887" y1="93885" x2="54887" y2="93885"/>
                      </a14:backgroundRemoval>
                    </a14:imgEffect>
                  </a14:imgLayer>
                </a14:imgProps>
              </a:ext>
              <a:ext uri="{28A0092B-C50C-407E-A947-70E740481C1C}">
                <a14:useLocalDpi xmlns:a14="http://schemas.microsoft.com/office/drawing/2010/main" val="0"/>
              </a:ext>
            </a:extLst>
          </a:blip>
          <a:stretch>
            <a:fillRect/>
          </a:stretch>
        </p:blipFill>
        <p:spPr>
          <a:xfrm>
            <a:off x="7921995" y="1238196"/>
            <a:ext cx="1102890" cy="2305290"/>
          </a:xfrm>
          <a:prstGeom prst="rect">
            <a:avLst/>
          </a:prstGeom>
        </p:spPr>
      </p:pic>
    </p:spTree>
    <p:extLst>
      <p:ext uri="{BB962C8B-B14F-4D97-AF65-F5344CB8AC3E}">
        <p14:creationId xmlns:p14="http://schemas.microsoft.com/office/powerpoint/2010/main" val="3519208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4716" y="717770"/>
            <a:ext cx="11709780" cy="608468"/>
          </a:xfrm>
        </p:spPr>
        <p:txBody>
          <a:bodyPr>
            <a:normAutofit/>
          </a:bodyPr>
          <a:lstStyle/>
          <a:p>
            <a:r>
              <a:rPr lang="en-US" sz="2400" b="1" dirty="0">
                <a:latin typeface="Comic Sans MS" panose="030F0702030302020204" pitchFamily="66" charset="0"/>
              </a:rPr>
              <a:t>Retrieval Practice</a:t>
            </a:r>
            <a:endParaRPr lang="en-US" sz="2400" dirty="0">
              <a:latin typeface="Comic Sans MS" panose="030F0702030302020204" pitchFamily="66" charset="0"/>
            </a:endParaRPr>
          </a:p>
        </p:txBody>
      </p:sp>
      <p:sp>
        <p:nvSpPr>
          <p:cNvPr id="6" name="Subtitle 2">
            <a:extLst>
              <a:ext uri="{FF2B5EF4-FFF2-40B4-BE49-F238E27FC236}">
                <a16:creationId xmlns:a16="http://schemas.microsoft.com/office/drawing/2014/main" id="{F42074D1-E4AC-4DAD-9FC0-B5257B127517}"/>
              </a:ext>
            </a:extLst>
          </p:cNvPr>
          <p:cNvSpPr txBox="1">
            <a:spLocks/>
          </p:cNvSpPr>
          <p:nvPr/>
        </p:nvSpPr>
        <p:spPr>
          <a:xfrm>
            <a:off x="204716" y="234752"/>
            <a:ext cx="11987284" cy="10034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r>
              <a:rPr lang="en-US" sz="2000" b="1" dirty="0">
                <a:latin typeface="Comic Sans MS" panose="030F0702030302020204" pitchFamily="66" charset="0"/>
              </a:rPr>
              <a:t>WALT: </a:t>
            </a:r>
            <a:r>
              <a:rPr lang="en-US" sz="2000" dirty="0">
                <a:latin typeface="Comic Sans MS" panose="030F0702030302020204" pitchFamily="66" charset="0"/>
              </a:rPr>
              <a:t>Understand, with support most of the main points of short and extended texts.</a:t>
            </a:r>
          </a:p>
        </p:txBody>
      </p:sp>
      <p:pic>
        <p:nvPicPr>
          <p:cNvPr id="4" name="Picture 3">
            <a:extLst>
              <a:ext uri="{FF2B5EF4-FFF2-40B4-BE49-F238E27FC236}">
                <a16:creationId xmlns:a16="http://schemas.microsoft.com/office/drawing/2014/main" id="{45B3B450-7E21-4ABA-9A7A-A8489EF01987}"/>
              </a:ext>
            </a:extLst>
          </p:cNvPr>
          <p:cNvPicPr>
            <a:picLocks noChangeAspect="1"/>
          </p:cNvPicPr>
          <p:nvPr/>
        </p:nvPicPr>
        <p:blipFill>
          <a:blip r:embed="rId2"/>
          <a:stretch>
            <a:fillRect/>
          </a:stretch>
        </p:blipFill>
        <p:spPr>
          <a:xfrm>
            <a:off x="437878" y="2651800"/>
            <a:ext cx="11316243" cy="4095509"/>
          </a:xfrm>
          <a:prstGeom prst="rect">
            <a:avLst/>
          </a:prstGeom>
        </p:spPr>
      </p:pic>
      <p:sp>
        <p:nvSpPr>
          <p:cNvPr id="9" name="Title 1">
            <a:extLst>
              <a:ext uri="{FF2B5EF4-FFF2-40B4-BE49-F238E27FC236}">
                <a16:creationId xmlns:a16="http://schemas.microsoft.com/office/drawing/2014/main" id="{6800CC63-8A55-4EC4-9CC3-D786FA157E7C}"/>
              </a:ext>
            </a:extLst>
          </p:cNvPr>
          <p:cNvSpPr txBox="1">
            <a:spLocks/>
          </p:cNvSpPr>
          <p:nvPr/>
        </p:nvSpPr>
        <p:spPr>
          <a:xfrm>
            <a:off x="343468" y="1932496"/>
            <a:ext cx="11709780" cy="7095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latin typeface="Comic Sans MS" panose="030F0702030302020204" pitchFamily="66" charset="0"/>
              </a:rPr>
              <a:t>Fill in the sentences with the correct words.</a:t>
            </a:r>
            <a:endParaRPr lang="en-US" sz="2800" dirty="0">
              <a:latin typeface="Comic Sans MS" panose="030F0702030302020204" pitchFamily="66" charset="0"/>
            </a:endParaRPr>
          </a:p>
        </p:txBody>
      </p:sp>
      <p:sp>
        <p:nvSpPr>
          <p:cNvPr id="11" name="Title 1">
            <a:extLst>
              <a:ext uri="{FF2B5EF4-FFF2-40B4-BE49-F238E27FC236}">
                <a16:creationId xmlns:a16="http://schemas.microsoft.com/office/drawing/2014/main" id="{0886C983-664D-4321-A282-77F2ACDB0C3A}"/>
              </a:ext>
            </a:extLst>
          </p:cNvPr>
          <p:cNvSpPr txBox="1">
            <a:spLocks/>
          </p:cNvSpPr>
          <p:nvPr/>
        </p:nvSpPr>
        <p:spPr>
          <a:xfrm>
            <a:off x="5571845" y="528608"/>
            <a:ext cx="6758907" cy="154403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FF0000"/>
                </a:solidFill>
                <a:latin typeface="Comic Sans MS" panose="030F0702030302020204" pitchFamily="66" charset="0"/>
              </a:rPr>
              <a:t>any     got      many       much    plenty     shops     t-shirts</a:t>
            </a:r>
            <a:endParaRPr lang="en-US" sz="2800"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3225149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4716" y="717769"/>
            <a:ext cx="11709780" cy="2574071"/>
          </a:xfrm>
        </p:spPr>
        <p:txBody>
          <a:bodyPr>
            <a:normAutofit/>
          </a:bodyPr>
          <a:lstStyle/>
          <a:p>
            <a:r>
              <a:rPr lang="en-US" sz="3600" b="1" dirty="0">
                <a:latin typeface="Comic Sans MS" panose="030F0702030302020204" pitchFamily="66" charset="0"/>
              </a:rPr>
              <a:t>Starter</a:t>
            </a:r>
            <a:br>
              <a:rPr lang="en-US" sz="3600" b="1" dirty="0">
                <a:latin typeface="Comic Sans MS" panose="030F0702030302020204" pitchFamily="66" charset="0"/>
              </a:rPr>
            </a:br>
            <a:br>
              <a:rPr lang="en-US" sz="3600" b="1" dirty="0">
                <a:latin typeface="Comic Sans MS" panose="030F0702030302020204" pitchFamily="66" charset="0"/>
              </a:rPr>
            </a:br>
            <a:r>
              <a:rPr lang="en-US" sz="3600" b="1" dirty="0">
                <a:latin typeface="Comic Sans MS" panose="030F0702030302020204" pitchFamily="66" charset="0"/>
              </a:rPr>
              <a:t>What is a biography?</a:t>
            </a:r>
            <a:endParaRPr lang="en-US" sz="3600" dirty="0">
              <a:latin typeface="Comic Sans MS" panose="030F0702030302020204" pitchFamily="66" charset="0"/>
            </a:endParaRPr>
          </a:p>
        </p:txBody>
      </p:sp>
      <p:sp>
        <p:nvSpPr>
          <p:cNvPr id="6" name="Subtitle 2">
            <a:extLst>
              <a:ext uri="{FF2B5EF4-FFF2-40B4-BE49-F238E27FC236}">
                <a16:creationId xmlns:a16="http://schemas.microsoft.com/office/drawing/2014/main" id="{F42074D1-E4AC-4DAD-9FC0-B5257B127517}"/>
              </a:ext>
            </a:extLst>
          </p:cNvPr>
          <p:cNvSpPr txBox="1">
            <a:spLocks/>
          </p:cNvSpPr>
          <p:nvPr/>
        </p:nvSpPr>
        <p:spPr>
          <a:xfrm>
            <a:off x="204716" y="234752"/>
            <a:ext cx="11987284" cy="10034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r>
              <a:rPr lang="en-US" sz="2400" b="1" dirty="0">
                <a:latin typeface="Comic Sans MS" panose="030F0702030302020204" pitchFamily="66" charset="0"/>
              </a:rPr>
              <a:t>WALT: </a:t>
            </a:r>
            <a:r>
              <a:rPr lang="en-US" sz="2400" dirty="0">
                <a:latin typeface="Comic Sans MS" panose="030F0702030302020204" pitchFamily="66" charset="0"/>
              </a:rPr>
              <a:t>Understand, with support most of the main points of short and extended texts.</a:t>
            </a:r>
          </a:p>
        </p:txBody>
      </p:sp>
      <p:sp>
        <p:nvSpPr>
          <p:cNvPr id="7" name="Title 1">
            <a:extLst>
              <a:ext uri="{FF2B5EF4-FFF2-40B4-BE49-F238E27FC236}">
                <a16:creationId xmlns:a16="http://schemas.microsoft.com/office/drawing/2014/main" id="{5E29DB7D-1BB9-449F-9DC8-C988B1644DFF}"/>
              </a:ext>
            </a:extLst>
          </p:cNvPr>
          <p:cNvSpPr txBox="1">
            <a:spLocks/>
          </p:cNvSpPr>
          <p:nvPr/>
        </p:nvSpPr>
        <p:spPr>
          <a:xfrm>
            <a:off x="277504" y="3035853"/>
            <a:ext cx="11709780" cy="257407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mic Sans MS" panose="030F0702030302020204" pitchFamily="66" charset="0"/>
              </a:rPr>
              <a:t>A biography is a detailed account of a real person's life written by someone else.</a:t>
            </a:r>
            <a:endParaRPr lang="en-US" sz="7200" dirty="0">
              <a:latin typeface="Comic Sans MS" panose="030F0702030302020204" pitchFamily="66" charset="0"/>
            </a:endParaRPr>
          </a:p>
        </p:txBody>
      </p:sp>
    </p:spTree>
    <p:extLst>
      <p:ext uri="{BB962C8B-B14F-4D97-AF65-F5344CB8AC3E}">
        <p14:creationId xmlns:p14="http://schemas.microsoft.com/office/powerpoint/2010/main" val="976895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839" y="1469186"/>
            <a:ext cx="4386536" cy="1613299"/>
          </a:xfrm>
        </p:spPr>
        <p:txBody>
          <a:bodyPr>
            <a:normAutofit/>
          </a:bodyPr>
          <a:lstStyle/>
          <a:p>
            <a:r>
              <a:rPr lang="en-US" sz="4000" b="1" dirty="0">
                <a:latin typeface="Comic Sans MS" panose="030F0702030302020204" pitchFamily="66" charset="0"/>
              </a:rPr>
              <a:t>Read the text independently. </a:t>
            </a:r>
            <a:endParaRPr lang="en-US" sz="4000" dirty="0">
              <a:latin typeface="Comic Sans MS" panose="030F0702030302020204" pitchFamily="66" charset="0"/>
            </a:endParaRPr>
          </a:p>
        </p:txBody>
      </p:sp>
      <p:sp>
        <p:nvSpPr>
          <p:cNvPr id="8" name="Subtitle 2">
            <a:extLst>
              <a:ext uri="{FF2B5EF4-FFF2-40B4-BE49-F238E27FC236}">
                <a16:creationId xmlns:a16="http://schemas.microsoft.com/office/drawing/2014/main" id="{4C317079-CBBC-4E19-AD76-A45BC507E769}"/>
              </a:ext>
            </a:extLst>
          </p:cNvPr>
          <p:cNvSpPr txBox="1">
            <a:spLocks/>
          </p:cNvSpPr>
          <p:nvPr/>
        </p:nvSpPr>
        <p:spPr>
          <a:xfrm>
            <a:off x="204716" y="234752"/>
            <a:ext cx="11987284" cy="10034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r>
              <a:rPr lang="en-US" sz="2400" b="1" dirty="0">
                <a:latin typeface="Comic Sans MS" panose="030F0702030302020204" pitchFamily="66" charset="0"/>
              </a:rPr>
              <a:t>WALT: </a:t>
            </a:r>
            <a:r>
              <a:rPr lang="en-US" sz="2400" dirty="0">
                <a:latin typeface="Comic Sans MS" panose="030F0702030302020204" pitchFamily="66" charset="0"/>
              </a:rPr>
              <a:t>Understand, with support most of the main points of short and extended texts.</a:t>
            </a:r>
          </a:p>
        </p:txBody>
      </p:sp>
      <p:pic>
        <p:nvPicPr>
          <p:cNvPr id="4" name="Picture 3">
            <a:extLst>
              <a:ext uri="{FF2B5EF4-FFF2-40B4-BE49-F238E27FC236}">
                <a16:creationId xmlns:a16="http://schemas.microsoft.com/office/drawing/2014/main" id="{5F739741-50A2-4532-81A3-2C5C82587073}"/>
              </a:ext>
            </a:extLst>
          </p:cNvPr>
          <p:cNvPicPr>
            <a:picLocks noChangeAspect="1"/>
          </p:cNvPicPr>
          <p:nvPr/>
        </p:nvPicPr>
        <p:blipFill>
          <a:blip r:embed="rId2"/>
          <a:stretch>
            <a:fillRect/>
          </a:stretch>
        </p:blipFill>
        <p:spPr>
          <a:xfrm>
            <a:off x="4237202" y="804822"/>
            <a:ext cx="7390116" cy="5818426"/>
          </a:xfrm>
          <a:prstGeom prst="rect">
            <a:avLst/>
          </a:prstGeom>
        </p:spPr>
      </p:pic>
    </p:spTree>
    <p:extLst>
      <p:ext uri="{BB962C8B-B14F-4D97-AF65-F5344CB8AC3E}">
        <p14:creationId xmlns:p14="http://schemas.microsoft.com/office/powerpoint/2010/main" val="430859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4715" y="1346329"/>
            <a:ext cx="6378965" cy="4111195"/>
          </a:xfrm>
        </p:spPr>
        <p:txBody>
          <a:bodyPr>
            <a:normAutofit fontScale="90000"/>
          </a:bodyPr>
          <a:lstStyle/>
          <a:p>
            <a:r>
              <a:rPr lang="en-US" sz="4000" b="1" u="sng" dirty="0">
                <a:latin typeface="Comic Sans MS" panose="030F0702030302020204" pitchFamily="66" charset="0"/>
              </a:rPr>
              <a:t>I do</a:t>
            </a:r>
            <a:br>
              <a:rPr lang="en-US" sz="4000" b="1" u="sng" dirty="0">
                <a:latin typeface="Comic Sans MS" panose="030F0702030302020204" pitchFamily="66" charset="0"/>
              </a:rPr>
            </a:br>
            <a:br>
              <a:rPr lang="en-US" sz="4000" b="1" u="sng" dirty="0">
                <a:latin typeface="Comic Sans MS" panose="030F0702030302020204" pitchFamily="66" charset="0"/>
              </a:rPr>
            </a:br>
            <a:r>
              <a:rPr lang="en-US" sz="4000" b="1" dirty="0">
                <a:latin typeface="Comic Sans MS" panose="030F0702030302020204" pitchFamily="66" charset="0"/>
              </a:rPr>
              <a:t>Why is Simone Biles considered the most successful gymnast of all time?</a:t>
            </a:r>
            <a:br>
              <a:rPr lang="en-US" sz="4000" b="1" dirty="0">
                <a:latin typeface="Comic Sans MS" panose="030F0702030302020204" pitchFamily="66" charset="0"/>
              </a:rPr>
            </a:br>
            <a:br>
              <a:rPr lang="en-US" sz="4000" b="1" u="sng" dirty="0">
                <a:latin typeface="Comic Sans MS" panose="030F0702030302020204" pitchFamily="66" charset="0"/>
              </a:rPr>
            </a:br>
            <a:endParaRPr lang="en-US" sz="4000" u="sng" dirty="0">
              <a:latin typeface="Comic Sans MS" panose="030F0702030302020204" pitchFamily="66" charset="0"/>
            </a:endParaRPr>
          </a:p>
        </p:txBody>
      </p:sp>
      <p:sp>
        <p:nvSpPr>
          <p:cNvPr id="8" name="Subtitle 2">
            <a:extLst>
              <a:ext uri="{FF2B5EF4-FFF2-40B4-BE49-F238E27FC236}">
                <a16:creationId xmlns:a16="http://schemas.microsoft.com/office/drawing/2014/main" id="{4C317079-CBBC-4E19-AD76-A45BC507E769}"/>
              </a:ext>
            </a:extLst>
          </p:cNvPr>
          <p:cNvSpPr txBox="1">
            <a:spLocks/>
          </p:cNvSpPr>
          <p:nvPr/>
        </p:nvSpPr>
        <p:spPr>
          <a:xfrm>
            <a:off x="204716" y="234752"/>
            <a:ext cx="11987284" cy="10034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r>
              <a:rPr lang="en-US" sz="2400" b="1" dirty="0">
                <a:latin typeface="Comic Sans MS" panose="030F0702030302020204" pitchFamily="66" charset="0"/>
              </a:rPr>
              <a:t>WALT: </a:t>
            </a:r>
            <a:r>
              <a:rPr lang="en-US" sz="2400" dirty="0">
                <a:latin typeface="Comic Sans MS" panose="030F0702030302020204" pitchFamily="66" charset="0"/>
              </a:rPr>
              <a:t>Understand, with support most of the main points of short and extended texts.</a:t>
            </a:r>
          </a:p>
        </p:txBody>
      </p:sp>
      <p:pic>
        <p:nvPicPr>
          <p:cNvPr id="5" name="Picture 4">
            <a:extLst>
              <a:ext uri="{FF2B5EF4-FFF2-40B4-BE49-F238E27FC236}">
                <a16:creationId xmlns:a16="http://schemas.microsoft.com/office/drawing/2014/main" id="{C5C8696C-F0CD-413A-9B30-272893C15B0E}"/>
              </a:ext>
            </a:extLst>
          </p:cNvPr>
          <p:cNvPicPr>
            <a:picLocks noChangeAspect="1"/>
          </p:cNvPicPr>
          <p:nvPr/>
        </p:nvPicPr>
        <p:blipFill>
          <a:blip r:embed="rId2"/>
          <a:stretch>
            <a:fillRect/>
          </a:stretch>
        </p:blipFill>
        <p:spPr>
          <a:xfrm>
            <a:off x="6283263" y="723542"/>
            <a:ext cx="5546878" cy="4367198"/>
          </a:xfrm>
          <a:prstGeom prst="rect">
            <a:avLst/>
          </a:prstGeom>
        </p:spPr>
      </p:pic>
    </p:spTree>
    <p:extLst>
      <p:ext uri="{BB962C8B-B14F-4D97-AF65-F5344CB8AC3E}">
        <p14:creationId xmlns:p14="http://schemas.microsoft.com/office/powerpoint/2010/main" val="1676309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4715" y="1346329"/>
            <a:ext cx="6378965" cy="4111195"/>
          </a:xfrm>
        </p:spPr>
        <p:txBody>
          <a:bodyPr>
            <a:normAutofit/>
          </a:bodyPr>
          <a:lstStyle/>
          <a:p>
            <a:r>
              <a:rPr lang="en-US" sz="4000" b="1" u="sng" dirty="0">
                <a:latin typeface="Comic Sans MS" panose="030F0702030302020204" pitchFamily="66" charset="0"/>
              </a:rPr>
              <a:t>We do</a:t>
            </a:r>
            <a:br>
              <a:rPr lang="en-US" sz="4000" b="1" u="sng" dirty="0">
                <a:latin typeface="Comic Sans MS" panose="030F0702030302020204" pitchFamily="66" charset="0"/>
              </a:rPr>
            </a:br>
            <a:br>
              <a:rPr lang="en-US" sz="4000" b="1" u="sng" dirty="0">
                <a:latin typeface="Comic Sans MS" panose="030F0702030302020204" pitchFamily="66" charset="0"/>
              </a:rPr>
            </a:br>
            <a:r>
              <a:rPr lang="en-US" sz="4000" b="1" dirty="0">
                <a:latin typeface="Comic Sans MS" panose="030F0702030302020204" pitchFamily="66" charset="0"/>
              </a:rPr>
              <a:t>How did Simone Biles’s life change when she was 6 years old?</a:t>
            </a:r>
            <a:br>
              <a:rPr lang="en-US" sz="4000" b="1" dirty="0">
                <a:latin typeface="Comic Sans MS" panose="030F0702030302020204" pitchFamily="66" charset="0"/>
              </a:rPr>
            </a:br>
            <a:br>
              <a:rPr lang="en-US" sz="4000" b="1" u="sng" dirty="0">
                <a:latin typeface="Comic Sans MS" panose="030F0702030302020204" pitchFamily="66" charset="0"/>
              </a:rPr>
            </a:br>
            <a:endParaRPr lang="en-US" sz="4000" u="sng" dirty="0">
              <a:latin typeface="Comic Sans MS" panose="030F0702030302020204" pitchFamily="66" charset="0"/>
            </a:endParaRPr>
          </a:p>
        </p:txBody>
      </p:sp>
      <p:sp>
        <p:nvSpPr>
          <p:cNvPr id="8" name="Subtitle 2">
            <a:extLst>
              <a:ext uri="{FF2B5EF4-FFF2-40B4-BE49-F238E27FC236}">
                <a16:creationId xmlns:a16="http://schemas.microsoft.com/office/drawing/2014/main" id="{4C317079-CBBC-4E19-AD76-A45BC507E769}"/>
              </a:ext>
            </a:extLst>
          </p:cNvPr>
          <p:cNvSpPr txBox="1">
            <a:spLocks/>
          </p:cNvSpPr>
          <p:nvPr/>
        </p:nvSpPr>
        <p:spPr>
          <a:xfrm>
            <a:off x="204716" y="234752"/>
            <a:ext cx="11987284" cy="10034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r>
              <a:rPr lang="en-US" sz="2400" b="1" dirty="0">
                <a:latin typeface="Comic Sans MS" panose="030F0702030302020204" pitchFamily="66" charset="0"/>
              </a:rPr>
              <a:t>WALT: </a:t>
            </a:r>
            <a:r>
              <a:rPr lang="en-US" sz="2400" dirty="0">
                <a:latin typeface="Comic Sans MS" panose="030F0702030302020204" pitchFamily="66" charset="0"/>
              </a:rPr>
              <a:t>Understand, with support most of the main points of short and extended texts.</a:t>
            </a:r>
          </a:p>
        </p:txBody>
      </p:sp>
      <p:pic>
        <p:nvPicPr>
          <p:cNvPr id="5" name="Picture 4">
            <a:extLst>
              <a:ext uri="{FF2B5EF4-FFF2-40B4-BE49-F238E27FC236}">
                <a16:creationId xmlns:a16="http://schemas.microsoft.com/office/drawing/2014/main" id="{C5C8696C-F0CD-413A-9B30-272893C15B0E}"/>
              </a:ext>
            </a:extLst>
          </p:cNvPr>
          <p:cNvPicPr>
            <a:picLocks noChangeAspect="1"/>
          </p:cNvPicPr>
          <p:nvPr/>
        </p:nvPicPr>
        <p:blipFill>
          <a:blip r:embed="rId2"/>
          <a:stretch>
            <a:fillRect/>
          </a:stretch>
        </p:blipFill>
        <p:spPr>
          <a:xfrm>
            <a:off x="6283263" y="723542"/>
            <a:ext cx="5546878" cy="4367198"/>
          </a:xfrm>
          <a:prstGeom prst="rect">
            <a:avLst/>
          </a:prstGeom>
        </p:spPr>
      </p:pic>
    </p:spTree>
    <p:extLst>
      <p:ext uri="{BB962C8B-B14F-4D97-AF65-F5344CB8AC3E}">
        <p14:creationId xmlns:p14="http://schemas.microsoft.com/office/powerpoint/2010/main" val="1284260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4715" y="1346329"/>
            <a:ext cx="5801449" cy="4111195"/>
          </a:xfrm>
        </p:spPr>
        <p:txBody>
          <a:bodyPr>
            <a:normAutofit fontScale="90000"/>
          </a:bodyPr>
          <a:lstStyle/>
          <a:p>
            <a:r>
              <a:rPr lang="en-US" sz="4000" b="1" u="sng" dirty="0">
                <a:latin typeface="Comic Sans MS" panose="030F0702030302020204" pitchFamily="66" charset="0"/>
              </a:rPr>
              <a:t>You do</a:t>
            </a:r>
            <a:br>
              <a:rPr lang="en-US" sz="4000" b="1" u="sng" dirty="0">
                <a:latin typeface="Comic Sans MS" panose="030F0702030302020204" pitchFamily="66" charset="0"/>
              </a:rPr>
            </a:br>
            <a:br>
              <a:rPr lang="en-US" sz="4000" b="1" dirty="0">
                <a:latin typeface="Comic Sans MS" panose="030F0702030302020204" pitchFamily="66" charset="0"/>
              </a:rPr>
            </a:br>
            <a:r>
              <a:rPr lang="en-US" sz="4000" b="1" dirty="0">
                <a:latin typeface="Comic Sans MS" panose="030F0702030302020204" pitchFamily="66" charset="0"/>
              </a:rPr>
              <a:t>What word has been used to describe a delay or an obstacle faced?</a:t>
            </a:r>
            <a:br>
              <a:rPr lang="en-US" sz="4000" b="1" dirty="0">
                <a:latin typeface="Comic Sans MS" panose="030F0702030302020204" pitchFamily="66" charset="0"/>
              </a:rPr>
            </a:br>
            <a:br>
              <a:rPr lang="en-US" sz="4000" b="1" u="sng" dirty="0">
                <a:latin typeface="Comic Sans MS" panose="030F0702030302020204" pitchFamily="66" charset="0"/>
              </a:rPr>
            </a:br>
            <a:endParaRPr lang="en-US" sz="4000" u="sng" dirty="0">
              <a:latin typeface="Comic Sans MS" panose="030F0702030302020204" pitchFamily="66" charset="0"/>
            </a:endParaRPr>
          </a:p>
        </p:txBody>
      </p:sp>
      <p:sp>
        <p:nvSpPr>
          <p:cNvPr id="8" name="Subtitle 2">
            <a:extLst>
              <a:ext uri="{FF2B5EF4-FFF2-40B4-BE49-F238E27FC236}">
                <a16:creationId xmlns:a16="http://schemas.microsoft.com/office/drawing/2014/main" id="{4C317079-CBBC-4E19-AD76-A45BC507E769}"/>
              </a:ext>
            </a:extLst>
          </p:cNvPr>
          <p:cNvSpPr txBox="1">
            <a:spLocks/>
          </p:cNvSpPr>
          <p:nvPr/>
        </p:nvSpPr>
        <p:spPr>
          <a:xfrm>
            <a:off x="204716" y="234752"/>
            <a:ext cx="11987284" cy="10034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r>
              <a:rPr lang="en-US" sz="2400" b="1" dirty="0">
                <a:latin typeface="Comic Sans MS" panose="030F0702030302020204" pitchFamily="66" charset="0"/>
              </a:rPr>
              <a:t>WALT: </a:t>
            </a:r>
            <a:r>
              <a:rPr lang="en-US" sz="2400" dirty="0">
                <a:latin typeface="Comic Sans MS" panose="030F0702030302020204" pitchFamily="66" charset="0"/>
              </a:rPr>
              <a:t>Understand, with support most of the main points of short and extended texts.</a:t>
            </a:r>
          </a:p>
        </p:txBody>
      </p:sp>
      <p:pic>
        <p:nvPicPr>
          <p:cNvPr id="5" name="Picture 4">
            <a:extLst>
              <a:ext uri="{FF2B5EF4-FFF2-40B4-BE49-F238E27FC236}">
                <a16:creationId xmlns:a16="http://schemas.microsoft.com/office/drawing/2014/main" id="{C5C8696C-F0CD-413A-9B30-272893C15B0E}"/>
              </a:ext>
            </a:extLst>
          </p:cNvPr>
          <p:cNvPicPr>
            <a:picLocks noChangeAspect="1"/>
          </p:cNvPicPr>
          <p:nvPr/>
        </p:nvPicPr>
        <p:blipFill>
          <a:blip r:embed="rId2"/>
          <a:stretch>
            <a:fillRect/>
          </a:stretch>
        </p:blipFill>
        <p:spPr>
          <a:xfrm>
            <a:off x="6283263" y="723542"/>
            <a:ext cx="5546878" cy="4367198"/>
          </a:xfrm>
          <a:prstGeom prst="rect">
            <a:avLst/>
          </a:prstGeom>
        </p:spPr>
      </p:pic>
    </p:spTree>
    <p:extLst>
      <p:ext uri="{BB962C8B-B14F-4D97-AF65-F5344CB8AC3E}">
        <p14:creationId xmlns:p14="http://schemas.microsoft.com/office/powerpoint/2010/main" val="2683430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4716" y="3601048"/>
            <a:ext cx="11730611" cy="2032138"/>
          </a:xfrm>
        </p:spPr>
        <p:txBody>
          <a:bodyPr>
            <a:normAutofit fontScale="90000"/>
          </a:bodyPr>
          <a:lstStyle/>
          <a:p>
            <a:pPr lvl="0"/>
            <a:r>
              <a:rPr lang="en-US" sz="3200" b="1" u="sng" dirty="0">
                <a:latin typeface="Comic Sans MS" panose="030F0702030302020204" pitchFamily="66" charset="0"/>
              </a:rPr>
              <a:t>Your task</a:t>
            </a:r>
            <a:br>
              <a:rPr lang="en-US" sz="3200" b="1" u="sng" dirty="0">
                <a:latin typeface="Comic Sans MS" panose="030F0702030302020204" pitchFamily="66" charset="0"/>
              </a:rPr>
            </a:br>
            <a:br>
              <a:rPr lang="en-US" sz="3200" b="1" u="sng" dirty="0">
                <a:latin typeface="Comic Sans MS" panose="030F0702030302020204" pitchFamily="66" charset="0"/>
              </a:rPr>
            </a:br>
            <a:r>
              <a:rPr lang="en-US" sz="2700" b="1" dirty="0">
                <a:latin typeface="Comic Sans MS" panose="030F0702030302020204" pitchFamily="66" charset="0"/>
              </a:rPr>
              <a:t>Where was Simone Biles born, and in what year?</a:t>
            </a:r>
            <a:br>
              <a:rPr lang="en-US" sz="2700" b="1" dirty="0">
                <a:latin typeface="Comic Sans MS" panose="030F0702030302020204" pitchFamily="66" charset="0"/>
              </a:rPr>
            </a:br>
            <a:r>
              <a:rPr lang="en-US" sz="2700" i="1" dirty="0">
                <a:latin typeface="Comic Sans MS" panose="030F0702030302020204" pitchFamily="66" charset="0"/>
              </a:rPr>
              <a:t>  </a:t>
            </a:r>
            <a:br>
              <a:rPr lang="en-US" sz="2700" dirty="0">
                <a:latin typeface="Comic Sans MS" panose="030F0702030302020204" pitchFamily="66" charset="0"/>
              </a:rPr>
            </a:br>
            <a:r>
              <a:rPr lang="en-US" sz="2700" b="1" dirty="0">
                <a:latin typeface="Comic Sans MS" panose="030F0702030302020204" pitchFamily="66" charset="0"/>
              </a:rPr>
              <a:t>Who adopted Simone and her sister Adria when they were young?</a:t>
            </a:r>
            <a:br>
              <a:rPr lang="en-US" sz="2700" b="1" dirty="0">
                <a:latin typeface="Comic Sans MS" panose="030F0702030302020204" pitchFamily="66" charset="0"/>
              </a:rPr>
            </a:br>
            <a:r>
              <a:rPr lang="en-US" sz="2700" b="1" dirty="0">
                <a:latin typeface="Comic Sans MS" panose="030F0702030302020204" pitchFamily="66" charset="0"/>
              </a:rPr>
              <a:t> </a:t>
            </a:r>
            <a:r>
              <a:rPr lang="en-US" sz="2700" i="1" dirty="0">
                <a:latin typeface="Comic Sans MS" panose="030F0702030302020204" pitchFamily="66" charset="0"/>
              </a:rPr>
              <a:t> </a:t>
            </a:r>
            <a:br>
              <a:rPr lang="en-US" sz="2700" dirty="0">
                <a:latin typeface="Comic Sans MS" panose="030F0702030302020204" pitchFamily="66" charset="0"/>
              </a:rPr>
            </a:br>
            <a:r>
              <a:rPr lang="en-US" sz="2700" b="1" dirty="0">
                <a:latin typeface="Comic Sans MS" panose="030F0702030302020204" pitchFamily="66" charset="0"/>
              </a:rPr>
              <a:t>How old was Simone when a coach first discovered her natural talent, and where was she? </a:t>
            </a:r>
            <a:br>
              <a:rPr lang="en-US" sz="2700" b="1" dirty="0">
                <a:latin typeface="Comic Sans MS" panose="030F0702030302020204" pitchFamily="66" charset="0"/>
              </a:rPr>
            </a:br>
            <a:br>
              <a:rPr lang="en-US" sz="2700" dirty="0">
                <a:latin typeface="Comic Sans MS" panose="030F0702030302020204" pitchFamily="66" charset="0"/>
              </a:rPr>
            </a:br>
            <a:r>
              <a:rPr lang="en-US" sz="2700" b="1" dirty="0">
                <a:latin typeface="Comic Sans MS" panose="030F0702030302020204" pitchFamily="66" charset="0"/>
              </a:rPr>
              <a:t>How many total medals did Simone win at her first Olympic Games in Rio, and what type were they? </a:t>
            </a:r>
            <a:br>
              <a:rPr lang="en-US" sz="2700" b="1" dirty="0">
                <a:latin typeface="Comic Sans MS" panose="030F0702030302020204" pitchFamily="66" charset="0"/>
              </a:rPr>
            </a:br>
            <a:r>
              <a:rPr lang="en-US" sz="2700" i="1" dirty="0">
                <a:latin typeface="Comic Sans MS" panose="030F0702030302020204" pitchFamily="66" charset="0"/>
              </a:rPr>
              <a:t> </a:t>
            </a:r>
            <a:br>
              <a:rPr lang="en-US" sz="2700" dirty="0">
                <a:latin typeface="Comic Sans MS" panose="030F0702030302020204" pitchFamily="66" charset="0"/>
              </a:rPr>
            </a:br>
            <a:r>
              <a:rPr lang="en-US" sz="2700" b="1" dirty="0">
                <a:latin typeface="Comic Sans MS" panose="030F0702030302020204" pitchFamily="66" charset="0"/>
              </a:rPr>
              <a:t>In third grade, classmates teased Simone about her muscly legs. Why was she proud instead of getting upset? </a:t>
            </a:r>
            <a:br>
              <a:rPr lang="en-US" sz="2700" b="1" dirty="0">
                <a:latin typeface="Comic Sans MS" panose="030F0702030302020204" pitchFamily="66" charset="0"/>
              </a:rPr>
            </a:br>
            <a:br>
              <a:rPr lang="en-US" sz="2700" dirty="0">
                <a:latin typeface="Comic Sans MS" panose="030F0702030302020204" pitchFamily="66" charset="0"/>
              </a:rPr>
            </a:br>
            <a:r>
              <a:rPr lang="en-US" sz="2700" b="1" dirty="0">
                <a:latin typeface="Comic Sans MS" panose="030F0702030302020204" pitchFamily="66" charset="0"/>
              </a:rPr>
              <a:t>What major setback did Simone face in 2011, and how did she respond to it? </a:t>
            </a:r>
            <a:r>
              <a:rPr lang="en-US" sz="2700" i="1" dirty="0">
                <a:latin typeface="Comic Sans MS" panose="030F0702030302020204" pitchFamily="66" charset="0"/>
              </a:rPr>
              <a:t> </a:t>
            </a:r>
            <a:br>
              <a:rPr lang="en-US" dirty="0"/>
            </a:br>
            <a:br>
              <a:rPr lang="en-US" sz="4000" b="1" u="sng" dirty="0">
                <a:latin typeface="Comic Sans MS" panose="030F0702030302020204" pitchFamily="66" charset="0"/>
              </a:rPr>
            </a:br>
            <a:br>
              <a:rPr lang="en-US" sz="4000" b="1" dirty="0">
                <a:latin typeface="Comic Sans MS" panose="030F0702030302020204" pitchFamily="66" charset="0"/>
              </a:rPr>
            </a:br>
            <a:br>
              <a:rPr lang="en-US" sz="4000" b="1" u="sng" dirty="0">
                <a:latin typeface="Comic Sans MS" panose="030F0702030302020204" pitchFamily="66" charset="0"/>
              </a:rPr>
            </a:br>
            <a:endParaRPr lang="en-US" sz="4000" u="sng" dirty="0">
              <a:latin typeface="Comic Sans MS" panose="030F0702030302020204" pitchFamily="66" charset="0"/>
            </a:endParaRPr>
          </a:p>
        </p:txBody>
      </p:sp>
      <p:sp>
        <p:nvSpPr>
          <p:cNvPr id="8" name="Subtitle 2">
            <a:extLst>
              <a:ext uri="{FF2B5EF4-FFF2-40B4-BE49-F238E27FC236}">
                <a16:creationId xmlns:a16="http://schemas.microsoft.com/office/drawing/2014/main" id="{4C317079-CBBC-4E19-AD76-A45BC507E769}"/>
              </a:ext>
            </a:extLst>
          </p:cNvPr>
          <p:cNvSpPr txBox="1">
            <a:spLocks/>
          </p:cNvSpPr>
          <p:nvPr/>
        </p:nvSpPr>
        <p:spPr>
          <a:xfrm>
            <a:off x="204716" y="234752"/>
            <a:ext cx="11987284" cy="10034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r>
              <a:rPr lang="en-US" sz="2000" b="1" dirty="0">
                <a:latin typeface="Comic Sans MS" panose="030F0702030302020204" pitchFamily="66" charset="0"/>
              </a:rPr>
              <a:t>WALT: </a:t>
            </a:r>
            <a:r>
              <a:rPr lang="en-US" sz="2000" dirty="0">
                <a:latin typeface="Comic Sans MS" panose="030F0702030302020204" pitchFamily="66" charset="0"/>
              </a:rPr>
              <a:t>Understand, with support most of the main points of short and extended texts.</a:t>
            </a:r>
          </a:p>
        </p:txBody>
      </p:sp>
    </p:spTree>
    <p:extLst>
      <p:ext uri="{BB962C8B-B14F-4D97-AF65-F5344CB8AC3E}">
        <p14:creationId xmlns:p14="http://schemas.microsoft.com/office/powerpoint/2010/main" val="2333469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4716" y="3601048"/>
            <a:ext cx="11730611" cy="2032138"/>
          </a:xfrm>
        </p:spPr>
        <p:txBody>
          <a:bodyPr>
            <a:normAutofit fontScale="90000"/>
          </a:bodyPr>
          <a:lstStyle/>
          <a:p>
            <a:pPr lvl="0"/>
            <a:r>
              <a:rPr lang="en-US" sz="3200" b="1" u="sng" dirty="0">
                <a:latin typeface="Comic Sans MS" panose="030F0702030302020204" pitchFamily="66" charset="0"/>
              </a:rPr>
              <a:t>Your task</a:t>
            </a:r>
            <a:br>
              <a:rPr lang="en-US" sz="3200" b="1" u="sng" dirty="0">
                <a:latin typeface="Comic Sans MS" panose="030F0702030302020204" pitchFamily="66" charset="0"/>
              </a:rPr>
            </a:br>
            <a:br>
              <a:rPr lang="en-US" sz="3200" b="1" u="sng" dirty="0">
                <a:latin typeface="Comic Sans MS" panose="030F0702030302020204" pitchFamily="66" charset="0"/>
              </a:rPr>
            </a:br>
            <a:r>
              <a:rPr lang="en-US" sz="2700" b="1" dirty="0">
                <a:latin typeface="Comic Sans MS" panose="030F0702030302020204" pitchFamily="66" charset="0"/>
              </a:rPr>
              <a:t>Simone Biles was born in…</a:t>
            </a:r>
            <a:br>
              <a:rPr lang="en-US" sz="2700" b="1" dirty="0">
                <a:latin typeface="Comic Sans MS" panose="030F0702030302020204" pitchFamily="66" charset="0"/>
              </a:rPr>
            </a:br>
            <a:br>
              <a:rPr lang="en-US" sz="2700" dirty="0">
                <a:latin typeface="Comic Sans MS" panose="030F0702030302020204" pitchFamily="66" charset="0"/>
              </a:rPr>
            </a:br>
            <a:r>
              <a:rPr lang="en-US" sz="2700" b="1" dirty="0">
                <a:latin typeface="Comic Sans MS" panose="030F0702030302020204" pitchFamily="66" charset="0"/>
              </a:rPr>
              <a:t>Simone and her sister Adria were adopted by their…</a:t>
            </a:r>
            <a:br>
              <a:rPr lang="en-US" sz="2700" b="1" dirty="0">
                <a:latin typeface="Comic Sans MS" panose="030F0702030302020204" pitchFamily="66" charset="0"/>
              </a:rPr>
            </a:br>
            <a:r>
              <a:rPr lang="en-US" sz="2700" b="1" dirty="0">
                <a:latin typeface="Comic Sans MS" panose="030F0702030302020204" pitchFamily="66" charset="0"/>
              </a:rPr>
              <a:t> </a:t>
            </a:r>
            <a:r>
              <a:rPr lang="en-US" sz="2700" i="1" dirty="0">
                <a:latin typeface="Comic Sans MS" panose="030F0702030302020204" pitchFamily="66" charset="0"/>
              </a:rPr>
              <a:t> </a:t>
            </a:r>
            <a:br>
              <a:rPr lang="en-US" sz="2700" dirty="0">
                <a:latin typeface="Comic Sans MS" panose="030F0702030302020204" pitchFamily="66" charset="0"/>
              </a:rPr>
            </a:br>
            <a:r>
              <a:rPr lang="en-US" sz="2700" b="1" dirty="0">
                <a:latin typeface="Comic Sans MS" panose="030F0702030302020204" pitchFamily="66" charset="0"/>
              </a:rPr>
              <a:t>Simone was _______ years old when a coach first discovered her natural talent and she was at…</a:t>
            </a:r>
            <a:br>
              <a:rPr lang="en-US" sz="2700" b="1" dirty="0">
                <a:latin typeface="Comic Sans MS" panose="030F0702030302020204" pitchFamily="66" charset="0"/>
              </a:rPr>
            </a:br>
            <a:br>
              <a:rPr lang="en-US" sz="2700" b="1" dirty="0">
                <a:latin typeface="Comic Sans MS" panose="030F0702030302020204" pitchFamily="66" charset="0"/>
              </a:rPr>
            </a:br>
            <a:r>
              <a:rPr lang="en-US" sz="2700" b="1" dirty="0">
                <a:latin typeface="Comic Sans MS" panose="030F0702030302020204" pitchFamily="66" charset="0"/>
              </a:rPr>
              <a:t>Simone won ________ medals at her first Olympic Games in Rio</a:t>
            </a:r>
            <a:br>
              <a:rPr lang="en-US" sz="2700" b="1" dirty="0">
                <a:latin typeface="Comic Sans MS" panose="030F0702030302020204" pitchFamily="66" charset="0"/>
              </a:rPr>
            </a:br>
            <a:r>
              <a:rPr lang="en-US" sz="2700" i="1" dirty="0">
                <a:latin typeface="Comic Sans MS" panose="030F0702030302020204" pitchFamily="66" charset="0"/>
              </a:rPr>
              <a:t> </a:t>
            </a:r>
            <a:br>
              <a:rPr lang="en-US" sz="2700" dirty="0">
                <a:latin typeface="Comic Sans MS" panose="030F0702030302020204" pitchFamily="66" charset="0"/>
              </a:rPr>
            </a:br>
            <a:r>
              <a:rPr lang="en-US" sz="2700" b="1" dirty="0">
                <a:latin typeface="Comic Sans MS" panose="030F0702030302020204" pitchFamily="66" charset="0"/>
              </a:rPr>
              <a:t>In third grade, classmates teased Simone about her muscly legs. She was proud of her muscly legs because… </a:t>
            </a:r>
            <a:br>
              <a:rPr lang="en-US" sz="2700" b="1" dirty="0">
                <a:latin typeface="Comic Sans MS" panose="030F0702030302020204" pitchFamily="66" charset="0"/>
              </a:rPr>
            </a:br>
            <a:br>
              <a:rPr lang="en-US" sz="2700" b="1" dirty="0">
                <a:latin typeface="Comic Sans MS" panose="030F0702030302020204" pitchFamily="66" charset="0"/>
              </a:rPr>
            </a:br>
            <a:br>
              <a:rPr lang="en-US" sz="2700" dirty="0">
                <a:latin typeface="Comic Sans MS" panose="030F0702030302020204" pitchFamily="66" charset="0"/>
              </a:rPr>
            </a:br>
            <a:r>
              <a:rPr lang="en-US" sz="2700" b="1" dirty="0">
                <a:latin typeface="Comic Sans MS" panose="030F0702030302020204" pitchFamily="66" charset="0"/>
              </a:rPr>
              <a:t>In 2011, Simone faced a major setback of…  She responded by…</a:t>
            </a:r>
            <a:br>
              <a:rPr lang="en-US" dirty="0"/>
            </a:br>
            <a:br>
              <a:rPr lang="en-US" sz="4000" b="1" u="sng" dirty="0">
                <a:latin typeface="Comic Sans MS" panose="030F0702030302020204" pitchFamily="66" charset="0"/>
              </a:rPr>
            </a:br>
            <a:br>
              <a:rPr lang="en-US" sz="4000" b="1" dirty="0">
                <a:latin typeface="Comic Sans MS" panose="030F0702030302020204" pitchFamily="66" charset="0"/>
              </a:rPr>
            </a:br>
            <a:br>
              <a:rPr lang="en-US" sz="4000" b="1" u="sng" dirty="0">
                <a:latin typeface="Comic Sans MS" panose="030F0702030302020204" pitchFamily="66" charset="0"/>
              </a:rPr>
            </a:br>
            <a:endParaRPr lang="en-US" sz="4000" u="sng" dirty="0">
              <a:latin typeface="Comic Sans MS" panose="030F0702030302020204" pitchFamily="66" charset="0"/>
            </a:endParaRPr>
          </a:p>
        </p:txBody>
      </p:sp>
      <p:sp>
        <p:nvSpPr>
          <p:cNvPr id="8" name="Subtitle 2">
            <a:extLst>
              <a:ext uri="{FF2B5EF4-FFF2-40B4-BE49-F238E27FC236}">
                <a16:creationId xmlns:a16="http://schemas.microsoft.com/office/drawing/2014/main" id="{4C317079-CBBC-4E19-AD76-A45BC507E769}"/>
              </a:ext>
            </a:extLst>
          </p:cNvPr>
          <p:cNvSpPr txBox="1">
            <a:spLocks/>
          </p:cNvSpPr>
          <p:nvPr/>
        </p:nvSpPr>
        <p:spPr>
          <a:xfrm>
            <a:off x="204716" y="234752"/>
            <a:ext cx="11987284" cy="10034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r>
              <a:rPr lang="en-US" sz="2000" b="1" dirty="0">
                <a:latin typeface="Comic Sans MS" panose="030F0702030302020204" pitchFamily="66" charset="0"/>
              </a:rPr>
              <a:t>WALT: </a:t>
            </a:r>
            <a:r>
              <a:rPr lang="en-US" sz="2000" dirty="0">
                <a:latin typeface="Comic Sans MS" panose="030F0702030302020204" pitchFamily="66" charset="0"/>
              </a:rPr>
              <a:t>Understand, with support most of the main points of short and extended texts.</a:t>
            </a:r>
          </a:p>
        </p:txBody>
      </p:sp>
    </p:spTree>
    <p:extLst>
      <p:ext uri="{BB962C8B-B14F-4D97-AF65-F5344CB8AC3E}">
        <p14:creationId xmlns:p14="http://schemas.microsoft.com/office/powerpoint/2010/main" val="712887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204716" y="234752"/>
            <a:ext cx="11987284" cy="10034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r>
              <a:rPr lang="en-US" sz="2400" b="1" dirty="0">
                <a:latin typeface="Comic Sans MS" panose="030F0702030302020204" pitchFamily="66" charset="0"/>
              </a:rPr>
              <a:t>WALT: </a:t>
            </a:r>
            <a:r>
              <a:rPr lang="en-US" sz="2400" dirty="0">
                <a:latin typeface="Comic Sans MS" panose="030F0702030302020204" pitchFamily="66" charset="0"/>
              </a:rPr>
              <a:t>Understand, with support most of the main points of short and extended texts.</a:t>
            </a:r>
          </a:p>
        </p:txBody>
      </p:sp>
      <p:sp>
        <p:nvSpPr>
          <p:cNvPr id="7" name="Rectangle 6"/>
          <p:cNvSpPr/>
          <p:nvPr/>
        </p:nvSpPr>
        <p:spPr>
          <a:xfrm>
            <a:off x="2730137" y="3711614"/>
            <a:ext cx="3435532" cy="215537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Comic Sans MS" panose="030F0702030302020204" pitchFamily="66" charset="0"/>
              </a:rPr>
              <a:t>With support, I can answer comprehension questions on a text.</a:t>
            </a:r>
          </a:p>
        </p:txBody>
      </p:sp>
      <p:sp>
        <p:nvSpPr>
          <p:cNvPr id="8" name="Rectangle 7"/>
          <p:cNvSpPr/>
          <p:nvPr/>
        </p:nvSpPr>
        <p:spPr>
          <a:xfrm>
            <a:off x="6858000" y="3711614"/>
            <a:ext cx="3396343" cy="2155372"/>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Comic Sans MS" panose="030F0702030302020204" pitchFamily="66" charset="0"/>
              </a:rPr>
              <a:t>Independently, I can answer comprehension questions on a text.</a:t>
            </a:r>
          </a:p>
        </p:txBody>
      </p:sp>
      <p:pic>
        <p:nvPicPr>
          <p:cNvPr id="10" name="Picture 9">
            <a:extLst>
              <a:ext uri="{FF2B5EF4-FFF2-40B4-BE49-F238E27FC236}">
                <a16:creationId xmlns:a16="http://schemas.microsoft.com/office/drawing/2014/main" id="{59103BA5-7B68-451C-A842-56D2DEA233D1}"/>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9709" b="92718" l="9346" r="89720">
                        <a14:foregroundMark x1="44860" y1="92718" x2="44860" y2="92718"/>
                      </a14:backgroundRemoval>
                    </a14:imgEffect>
                  </a14:imgLayer>
                </a14:imgProps>
              </a:ext>
            </a:extLst>
          </a:blip>
          <a:stretch>
            <a:fillRect/>
          </a:stretch>
        </p:blipFill>
        <p:spPr>
          <a:xfrm>
            <a:off x="3698102" y="1497875"/>
            <a:ext cx="1102890" cy="2123320"/>
          </a:xfrm>
          <a:prstGeom prst="rect">
            <a:avLst/>
          </a:prstGeom>
        </p:spPr>
      </p:pic>
      <p:pic>
        <p:nvPicPr>
          <p:cNvPr id="12" name="Picture 11">
            <a:extLst>
              <a:ext uri="{FF2B5EF4-FFF2-40B4-BE49-F238E27FC236}">
                <a16:creationId xmlns:a16="http://schemas.microsoft.com/office/drawing/2014/main" id="{F633238F-2C49-46C0-875C-8B97843002C6}"/>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7914" b="93885" l="9023" r="89474">
                        <a14:foregroundMark x1="31579" y1="8273" x2="31579" y2="8273"/>
                        <a14:foregroundMark x1="34586" y1="15108" x2="34586" y2="15108"/>
                        <a14:foregroundMark x1="33083" y1="12950" x2="33083" y2="12950"/>
                        <a14:foregroundMark x1="53383" y1="16906" x2="53383" y2="16906"/>
                        <a14:foregroundMark x1="66165" y1="24460" x2="66165" y2="24460"/>
                        <a14:foregroundMark x1="44361" y1="20504" x2="44361" y2="20504"/>
                        <a14:foregroundMark x1="48120" y1="18705" x2="48120" y2="18705"/>
                        <a14:foregroundMark x1="57895" y1="27338" x2="57895" y2="27338"/>
                        <a14:foregroundMark x1="54887" y1="93885" x2="54887" y2="93885"/>
                      </a14:backgroundRemoval>
                    </a14:imgEffect>
                  </a14:imgLayer>
                </a14:imgProps>
              </a:ext>
              <a:ext uri="{28A0092B-C50C-407E-A947-70E740481C1C}">
                <a14:useLocalDpi xmlns:a14="http://schemas.microsoft.com/office/drawing/2010/main" val="0"/>
              </a:ext>
            </a:extLst>
          </a:blip>
          <a:stretch>
            <a:fillRect/>
          </a:stretch>
        </p:blipFill>
        <p:spPr>
          <a:xfrm>
            <a:off x="7921995" y="1238196"/>
            <a:ext cx="1102890" cy="2305290"/>
          </a:xfrm>
          <a:prstGeom prst="rect">
            <a:avLst/>
          </a:prstGeom>
        </p:spPr>
      </p:pic>
    </p:spTree>
    <p:extLst>
      <p:ext uri="{BB962C8B-B14F-4D97-AF65-F5344CB8AC3E}">
        <p14:creationId xmlns:p14="http://schemas.microsoft.com/office/powerpoint/2010/main" val="40737883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3368</TotalTime>
  <Words>566</Words>
  <Application>Microsoft Office PowerPoint</Application>
  <PresentationFormat>Widescreen</PresentationFormat>
  <Paragraphs>29</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Comic Sans MS</vt:lpstr>
      <vt:lpstr>Office Theme</vt:lpstr>
      <vt:lpstr>English </vt:lpstr>
      <vt:lpstr>PowerPoint Presentation</vt:lpstr>
      <vt:lpstr>Retrieval Practice</vt:lpstr>
      <vt:lpstr>Starter  What is a biography?</vt:lpstr>
      <vt:lpstr>Read the text independently. </vt:lpstr>
      <vt:lpstr>I do  Why is Simone Biles considered the most successful gymnast of all time?  </vt:lpstr>
      <vt:lpstr>We do  How did Simone Biles’s life change when she was 6 years old?  </vt:lpstr>
      <vt:lpstr>You do  What word has been used to describe a delay or an obstacle faced?  </vt:lpstr>
      <vt:lpstr>Your task  Where was Simone Biles born, and in what year?    Who adopted Simone and her sister Adria when they were young?    How old was Simone when a coach first discovered her natural talent, and where was she?   How many total medals did Simone win at her first Olympic Games in Rio, and what type were they?    In third grade, classmates teased Simone about her muscly legs. Why was she proud instead of getting upset?   What major setback did Simone face in 2011, and how did she respond to it?      </vt:lpstr>
      <vt:lpstr>Your task  Simone Biles was born in…  Simone and her sister Adria were adopted by their…    Simone was _______ years old when a coach first discovered her natural talent and she was at…  Simone won ________ medals at her first Olympic Games in Rio   In third grade, classmates teased Simone about her muscly legs. She was proud of her muscly legs because…    In 2011, Simone faced a major setback of…  She responded by…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English</dc:title>
  <dc:creator>Jonathan Michael Holliday (VSC-KTiH-MB)</dc:creator>
  <cp:lastModifiedBy>Colette Aisling Meade (VSC-KTiH-MB)</cp:lastModifiedBy>
  <cp:revision>47</cp:revision>
  <dcterms:created xsi:type="dcterms:W3CDTF">2024-08-19T03:31:33Z</dcterms:created>
  <dcterms:modified xsi:type="dcterms:W3CDTF">2026-09-22T05:08:50Z</dcterms:modified>
</cp:coreProperties>
</file>